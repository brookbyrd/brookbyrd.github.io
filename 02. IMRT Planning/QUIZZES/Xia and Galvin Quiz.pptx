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1" r:id="rId5"/>
    <p:sldId id="264" r:id="rId6"/>
    <p:sldId id="263" r:id="rId7"/>
    <p:sldId id="265" r:id="rId8"/>
    <p:sldId id="266" r:id="rId9"/>
    <p:sldId id="258" r:id="rId10"/>
    <p:sldId id="259"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varScale="1">
        <p:scale>
          <a:sx n="116" d="100"/>
          <a:sy n="116" d="100"/>
        </p:scale>
        <p:origin x="138"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656BC5D-9CFC-4593-BD73-61E082B0EED4}" type="datetimeFigureOut">
              <a:rPr lang="en-US" smtClean="0"/>
              <a:t>11/21/2019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FA2F95-6B45-458C-9BEF-8936D3025709}" type="slidenum">
              <a:rPr lang="en-US" smtClean="0"/>
              <a:t>‹#›</a:t>
            </a:fld>
            <a:endParaRPr lang="en-US"/>
          </a:p>
        </p:txBody>
      </p:sp>
    </p:spTree>
    <p:extLst>
      <p:ext uri="{BB962C8B-B14F-4D97-AF65-F5344CB8AC3E}">
        <p14:creationId xmlns:p14="http://schemas.microsoft.com/office/powerpoint/2010/main" val="3276827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56BC5D-9CFC-4593-BD73-61E082B0EED4}" type="datetimeFigureOut">
              <a:rPr lang="en-US" smtClean="0"/>
              <a:t>11/21/2019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FA2F95-6B45-458C-9BEF-8936D3025709}" type="slidenum">
              <a:rPr lang="en-US" smtClean="0"/>
              <a:t>‹#›</a:t>
            </a:fld>
            <a:endParaRPr lang="en-US"/>
          </a:p>
        </p:txBody>
      </p:sp>
    </p:spTree>
    <p:extLst>
      <p:ext uri="{BB962C8B-B14F-4D97-AF65-F5344CB8AC3E}">
        <p14:creationId xmlns:p14="http://schemas.microsoft.com/office/powerpoint/2010/main" val="604120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656BC5D-9CFC-4593-BD73-61E082B0EED4}" type="datetimeFigureOut">
              <a:rPr lang="en-US" smtClean="0"/>
              <a:t>11/21/2019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FA2F95-6B45-458C-9BEF-8936D3025709}" type="slidenum">
              <a:rPr lang="en-US" smtClean="0"/>
              <a:t>‹#›</a:t>
            </a:fld>
            <a:endParaRPr lang="en-US"/>
          </a:p>
        </p:txBody>
      </p:sp>
    </p:spTree>
    <p:extLst>
      <p:ext uri="{BB962C8B-B14F-4D97-AF65-F5344CB8AC3E}">
        <p14:creationId xmlns:p14="http://schemas.microsoft.com/office/powerpoint/2010/main" val="887776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656BC5D-9CFC-4593-BD73-61E082B0EED4}" type="datetimeFigureOut">
              <a:rPr lang="en-US" smtClean="0"/>
              <a:t>11/21/2019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FA2F95-6B45-458C-9BEF-8936D3025709}" type="slidenum">
              <a:rPr lang="en-US" smtClean="0"/>
              <a:t>‹#›</a:t>
            </a:fld>
            <a:endParaRPr lang="en-US"/>
          </a:p>
        </p:txBody>
      </p:sp>
    </p:spTree>
    <p:extLst>
      <p:ext uri="{BB962C8B-B14F-4D97-AF65-F5344CB8AC3E}">
        <p14:creationId xmlns:p14="http://schemas.microsoft.com/office/powerpoint/2010/main" val="2070914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656BC5D-9CFC-4593-BD73-61E082B0EED4}" type="datetimeFigureOut">
              <a:rPr lang="en-US" smtClean="0"/>
              <a:t>11/21/2019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FA2F95-6B45-458C-9BEF-8936D3025709}" type="slidenum">
              <a:rPr lang="en-US" smtClean="0"/>
              <a:t>‹#›</a:t>
            </a:fld>
            <a:endParaRPr lang="en-US"/>
          </a:p>
        </p:txBody>
      </p:sp>
    </p:spTree>
    <p:extLst>
      <p:ext uri="{BB962C8B-B14F-4D97-AF65-F5344CB8AC3E}">
        <p14:creationId xmlns:p14="http://schemas.microsoft.com/office/powerpoint/2010/main" val="473144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656BC5D-9CFC-4593-BD73-61E082B0EED4}" type="datetimeFigureOut">
              <a:rPr lang="en-US" smtClean="0"/>
              <a:t>11/21/2019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FA2F95-6B45-458C-9BEF-8936D3025709}" type="slidenum">
              <a:rPr lang="en-US" smtClean="0"/>
              <a:t>‹#›</a:t>
            </a:fld>
            <a:endParaRPr lang="en-US"/>
          </a:p>
        </p:txBody>
      </p:sp>
    </p:spTree>
    <p:extLst>
      <p:ext uri="{BB962C8B-B14F-4D97-AF65-F5344CB8AC3E}">
        <p14:creationId xmlns:p14="http://schemas.microsoft.com/office/powerpoint/2010/main" val="2336261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56BC5D-9CFC-4593-BD73-61E082B0EED4}" type="datetimeFigureOut">
              <a:rPr lang="en-US" smtClean="0"/>
              <a:t>11/21/2019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FA2F95-6B45-458C-9BEF-8936D3025709}" type="slidenum">
              <a:rPr lang="en-US" smtClean="0"/>
              <a:t>‹#›</a:t>
            </a:fld>
            <a:endParaRPr lang="en-US"/>
          </a:p>
        </p:txBody>
      </p:sp>
    </p:spTree>
    <p:extLst>
      <p:ext uri="{BB962C8B-B14F-4D97-AF65-F5344CB8AC3E}">
        <p14:creationId xmlns:p14="http://schemas.microsoft.com/office/powerpoint/2010/main" val="3567157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656BC5D-9CFC-4593-BD73-61E082B0EED4}" type="datetimeFigureOut">
              <a:rPr lang="en-US" smtClean="0"/>
              <a:t>11/21/2019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FA2F95-6B45-458C-9BEF-8936D3025709}" type="slidenum">
              <a:rPr lang="en-US" smtClean="0"/>
              <a:t>‹#›</a:t>
            </a:fld>
            <a:endParaRPr lang="en-US"/>
          </a:p>
        </p:txBody>
      </p:sp>
    </p:spTree>
    <p:extLst>
      <p:ext uri="{BB962C8B-B14F-4D97-AF65-F5344CB8AC3E}">
        <p14:creationId xmlns:p14="http://schemas.microsoft.com/office/powerpoint/2010/main" val="2068197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656BC5D-9CFC-4593-BD73-61E082B0EED4}" type="datetimeFigureOut">
              <a:rPr lang="en-US" smtClean="0"/>
              <a:t>11/21/2019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FA2F95-6B45-458C-9BEF-8936D3025709}" type="slidenum">
              <a:rPr lang="en-US" smtClean="0"/>
              <a:t>‹#›</a:t>
            </a:fld>
            <a:endParaRPr lang="en-US"/>
          </a:p>
        </p:txBody>
      </p:sp>
    </p:spTree>
    <p:extLst>
      <p:ext uri="{BB962C8B-B14F-4D97-AF65-F5344CB8AC3E}">
        <p14:creationId xmlns:p14="http://schemas.microsoft.com/office/powerpoint/2010/main" val="881088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56BC5D-9CFC-4593-BD73-61E082B0EED4}" type="datetimeFigureOut">
              <a:rPr lang="en-US" smtClean="0"/>
              <a:t>11/21/2019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FA2F95-6B45-458C-9BEF-8936D3025709}" type="slidenum">
              <a:rPr lang="en-US" smtClean="0"/>
              <a:t>‹#›</a:t>
            </a:fld>
            <a:endParaRPr lang="en-US"/>
          </a:p>
        </p:txBody>
      </p:sp>
    </p:spTree>
    <p:extLst>
      <p:ext uri="{BB962C8B-B14F-4D97-AF65-F5344CB8AC3E}">
        <p14:creationId xmlns:p14="http://schemas.microsoft.com/office/powerpoint/2010/main" val="3732104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56BC5D-9CFC-4593-BD73-61E082B0EED4}" type="datetimeFigureOut">
              <a:rPr lang="en-US" smtClean="0"/>
              <a:t>11/21/2019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FA2F95-6B45-458C-9BEF-8936D3025709}" type="slidenum">
              <a:rPr lang="en-US" smtClean="0"/>
              <a:t>‹#›</a:t>
            </a:fld>
            <a:endParaRPr lang="en-US"/>
          </a:p>
        </p:txBody>
      </p:sp>
    </p:spTree>
    <p:extLst>
      <p:ext uri="{BB962C8B-B14F-4D97-AF65-F5344CB8AC3E}">
        <p14:creationId xmlns:p14="http://schemas.microsoft.com/office/powerpoint/2010/main" val="1866984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56BC5D-9CFC-4593-BD73-61E082B0EED4}" type="datetimeFigureOut">
              <a:rPr lang="en-US" smtClean="0"/>
              <a:t>11/21/2019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FA2F95-6B45-458C-9BEF-8936D3025709}" type="slidenum">
              <a:rPr lang="en-US" smtClean="0"/>
              <a:t>‹#›</a:t>
            </a:fld>
            <a:endParaRPr lang="en-US"/>
          </a:p>
        </p:txBody>
      </p:sp>
    </p:spTree>
    <p:extLst>
      <p:ext uri="{BB962C8B-B14F-4D97-AF65-F5344CB8AC3E}">
        <p14:creationId xmlns:p14="http://schemas.microsoft.com/office/powerpoint/2010/main" val="7731065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Xia and Galvin Quiz</a:t>
            </a:r>
            <a:endParaRPr lang="en-US" dirty="0"/>
          </a:p>
        </p:txBody>
      </p:sp>
      <p:sp>
        <p:nvSpPr>
          <p:cNvPr id="3" name="Subtitle 2"/>
          <p:cNvSpPr>
            <a:spLocks noGrp="1"/>
          </p:cNvSpPr>
          <p:nvPr>
            <p:ph type="subTitle" idx="1"/>
          </p:nvPr>
        </p:nvSpPr>
        <p:spPr/>
        <p:txBody>
          <a:bodyPr/>
          <a:lstStyle/>
          <a:p>
            <a:r>
              <a:rPr lang="en-US" dirty="0" smtClean="0"/>
              <a:t>11/21/19</a:t>
            </a:r>
            <a:endParaRPr lang="en-US" dirty="0"/>
          </a:p>
        </p:txBody>
      </p:sp>
    </p:spTree>
    <p:extLst>
      <p:ext uri="{BB962C8B-B14F-4D97-AF65-F5344CB8AC3E}">
        <p14:creationId xmlns:p14="http://schemas.microsoft.com/office/powerpoint/2010/main" val="3125074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Q1</a:t>
            </a:r>
            <a:endParaRPr lang="en-US" dirty="0"/>
          </a:p>
        </p:txBody>
      </p:sp>
      <p:sp>
        <p:nvSpPr>
          <p:cNvPr id="3" name="Content Placeholder 2"/>
          <p:cNvSpPr>
            <a:spLocks noGrp="1"/>
          </p:cNvSpPr>
          <p:nvPr>
            <p:ph idx="1"/>
          </p:nvPr>
        </p:nvSpPr>
        <p:spPr>
          <a:xfrm>
            <a:off x="838200" y="1466335"/>
            <a:ext cx="3824416" cy="4710628"/>
          </a:xfrm>
        </p:spPr>
        <p:txBody>
          <a:bodyPr>
            <a:normAutofit fontScale="92500" lnSpcReduction="10000"/>
          </a:bodyPr>
          <a:lstStyle/>
          <a:p>
            <a:r>
              <a:rPr lang="en-US" dirty="0" smtClean="0"/>
              <a:t>Explain the three types of leaf motion and which vendor has each.</a:t>
            </a:r>
          </a:p>
          <a:p>
            <a:r>
              <a:rPr lang="en-US" dirty="0" smtClean="0">
                <a:solidFill>
                  <a:schemeClr val="bg1"/>
                </a:solidFill>
              </a:rPr>
              <a:t>A) </a:t>
            </a:r>
            <a:r>
              <a:rPr lang="en-US" dirty="0" err="1" smtClean="0">
                <a:solidFill>
                  <a:schemeClr val="bg1"/>
                </a:solidFill>
              </a:rPr>
              <a:t>varian</a:t>
            </a:r>
            <a:endParaRPr lang="en-US" dirty="0" smtClean="0">
              <a:solidFill>
                <a:schemeClr val="bg1"/>
              </a:solidFill>
            </a:endParaRPr>
          </a:p>
          <a:p>
            <a:r>
              <a:rPr lang="en-US" dirty="0" smtClean="0">
                <a:solidFill>
                  <a:schemeClr val="bg1"/>
                </a:solidFill>
              </a:rPr>
              <a:t>B) </a:t>
            </a:r>
            <a:r>
              <a:rPr lang="en-US" dirty="0" err="1" smtClean="0">
                <a:solidFill>
                  <a:schemeClr val="bg1"/>
                </a:solidFill>
              </a:rPr>
              <a:t>siemens</a:t>
            </a:r>
            <a:r>
              <a:rPr lang="en-US" dirty="0" smtClean="0">
                <a:solidFill>
                  <a:schemeClr val="bg1"/>
                </a:solidFill>
              </a:rPr>
              <a:t> </a:t>
            </a:r>
          </a:p>
          <a:p>
            <a:r>
              <a:rPr lang="en-US" dirty="0" smtClean="0">
                <a:solidFill>
                  <a:schemeClr val="bg1"/>
                </a:solidFill>
              </a:rPr>
              <a:t>C) </a:t>
            </a:r>
            <a:r>
              <a:rPr lang="en-US" dirty="0" err="1" smtClean="0">
                <a:solidFill>
                  <a:schemeClr val="bg1"/>
                </a:solidFill>
              </a:rPr>
              <a:t>elek</a:t>
            </a:r>
            <a:endParaRPr lang="en-US" dirty="0" smtClean="0">
              <a:solidFill>
                <a:schemeClr val="bg1"/>
              </a:solidFill>
            </a:endParaRPr>
          </a:p>
          <a:p>
            <a:r>
              <a:rPr lang="en-US" dirty="0" smtClean="0"/>
              <a:t>Explain single vs double focused; which vendor uses which design?</a:t>
            </a:r>
          </a:p>
          <a:p>
            <a:r>
              <a:rPr lang="en-US" dirty="0" smtClean="0"/>
              <a:t>What TG report could you reference for more information?</a:t>
            </a:r>
            <a:endParaRPr lang="en-US" dirty="0"/>
          </a:p>
        </p:txBody>
      </p:sp>
      <p:pic>
        <p:nvPicPr>
          <p:cNvPr id="4" name="Picture 3"/>
          <p:cNvPicPr>
            <a:picLocks noChangeAspect="1"/>
          </p:cNvPicPr>
          <p:nvPr/>
        </p:nvPicPr>
        <p:blipFill rotWithShape="1">
          <a:blip r:embed="rId2"/>
          <a:srcRect t="5312"/>
          <a:stretch/>
        </p:blipFill>
        <p:spPr>
          <a:xfrm>
            <a:off x="5867400" y="365125"/>
            <a:ext cx="5486400" cy="3373137"/>
          </a:xfrm>
          <a:prstGeom prst="rect">
            <a:avLst/>
          </a:prstGeom>
        </p:spPr>
      </p:pic>
      <p:sp>
        <p:nvSpPr>
          <p:cNvPr id="5" name="Rectangle 4"/>
          <p:cNvSpPr/>
          <p:nvPr/>
        </p:nvSpPr>
        <p:spPr>
          <a:xfrm>
            <a:off x="6205151" y="3039762"/>
            <a:ext cx="5148649" cy="5272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45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Q1 - answer</a:t>
            </a:r>
            <a:endParaRPr lang="en-US" dirty="0"/>
          </a:p>
        </p:txBody>
      </p:sp>
      <p:sp>
        <p:nvSpPr>
          <p:cNvPr id="5" name="Rectangle 4"/>
          <p:cNvSpPr/>
          <p:nvPr/>
        </p:nvSpPr>
        <p:spPr>
          <a:xfrm>
            <a:off x="6205151" y="3039762"/>
            <a:ext cx="5148649" cy="5272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p:cNvSpPr>
            <a:spLocks noGrp="1"/>
          </p:cNvSpPr>
          <p:nvPr>
            <p:ph idx="1"/>
          </p:nvPr>
        </p:nvSpPr>
        <p:spPr/>
        <p:txBody>
          <a:bodyPr/>
          <a:lstStyle/>
          <a:p>
            <a:endParaRPr lang="en-US" dirty="0"/>
          </a:p>
        </p:txBody>
      </p:sp>
      <p:pic>
        <p:nvPicPr>
          <p:cNvPr id="7" name="Picture 6"/>
          <p:cNvPicPr>
            <a:picLocks noChangeAspect="1"/>
          </p:cNvPicPr>
          <p:nvPr/>
        </p:nvPicPr>
        <p:blipFill>
          <a:blip r:embed="rId2"/>
          <a:stretch>
            <a:fillRect/>
          </a:stretch>
        </p:blipFill>
        <p:spPr>
          <a:xfrm>
            <a:off x="2120985" y="1749275"/>
            <a:ext cx="7796392" cy="4504038"/>
          </a:xfrm>
          <a:prstGeom prst="rect">
            <a:avLst/>
          </a:prstGeom>
        </p:spPr>
      </p:pic>
    </p:spTree>
    <p:extLst>
      <p:ext uri="{BB962C8B-B14F-4D97-AF65-F5344CB8AC3E}">
        <p14:creationId xmlns:p14="http://schemas.microsoft.com/office/powerpoint/2010/main" val="1097272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Q2</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244490" y="504013"/>
            <a:ext cx="8291703" cy="6218778"/>
          </a:xfrm>
          <a:prstGeom prst="rect">
            <a:avLst/>
          </a:prstGeom>
        </p:spPr>
      </p:pic>
      <p:sp>
        <p:nvSpPr>
          <p:cNvPr id="5" name="Rectangle 4"/>
          <p:cNvSpPr/>
          <p:nvPr/>
        </p:nvSpPr>
        <p:spPr>
          <a:xfrm>
            <a:off x="2784389" y="2578443"/>
            <a:ext cx="7389341" cy="34516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5244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p:txBody>
          <a:bodyPr/>
          <a:lstStyle/>
          <a:p>
            <a:r>
              <a:rPr lang="en-US" altLang="en-US" dirty="0" smtClean="0"/>
              <a:t>Q2</a:t>
            </a:r>
            <a:endParaRPr lang="en-US" altLang="en-US" dirty="0" smtClean="0"/>
          </a:p>
        </p:txBody>
      </p:sp>
      <p:sp>
        <p:nvSpPr>
          <p:cNvPr id="94211" name="Content Placeholder 2"/>
          <p:cNvSpPr>
            <a:spLocks noGrp="1"/>
          </p:cNvSpPr>
          <p:nvPr>
            <p:ph idx="1"/>
          </p:nvPr>
        </p:nvSpPr>
        <p:spPr/>
        <p:txBody>
          <a:bodyPr/>
          <a:lstStyle/>
          <a:p>
            <a:endParaRPr lang="en-US" altLang="en-US" smtClean="0"/>
          </a:p>
        </p:txBody>
      </p:sp>
      <p:pic>
        <p:nvPicPr>
          <p:cNvPr id="942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798" y="674909"/>
            <a:ext cx="9597080" cy="5997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2931338" y="2119057"/>
            <a:ext cx="7514237" cy="4486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574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Q2</a:t>
            </a:r>
            <a:endParaRPr lang="en-US" dirty="0"/>
          </a:p>
        </p:txBody>
      </p:sp>
      <p:sp>
        <p:nvSpPr>
          <p:cNvPr id="3" name="Content Placeholder 2"/>
          <p:cNvSpPr>
            <a:spLocks noGrp="1"/>
          </p:cNvSpPr>
          <p:nvPr>
            <p:ph idx="1"/>
          </p:nvPr>
        </p:nvSpPr>
        <p:spPr/>
        <p:txBody>
          <a:bodyPr/>
          <a:lstStyle/>
          <a:p>
            <a:endParaRPr lang="en-US"/>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4184" y="690563"/>
            <a:ext cx="877887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2478257" y="2331308"/>
            <a:ext cx="6954067" cy="37138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2939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p:txBody>
          <a:bodyPr/>
          <a:lstStyle/>
          <a:p>
            <a:r>
              <a:rPr lang="en-US" altLang="en-US" dirty="0" smtClean="0"/>
              <a:t>Q2</a:t>
            </a:r>
            <a:endParaRPr lang="en-US" altLang="en-US" dirty="0" smtClean="0"/>
          </a:p>
        </p:txBody>
      </p:sp>
      <p:sp>
        <p:nvSpPr>
          <p:cNvPr id="95235" name="Content Placeholder 2"/>
          <p:cNvSpPr>
            <a:spLocks noGrp="1"/>
          </p:cNvSpPr>
          <p:nvPr>
            <p:ph idx="1"/>
          </p:nvPr>
        </p:nvSpPr>
        <p:spPr/>
        <p:txBody>
          <a:bodyPr/>
          <a:lstStyle/>
          <a:p>
            <a:endParaRPr lang="en-US" altLang="en-US" smtClean="0"/>
          </a:p>
        </p:txBody>
      </p:sp>
      <p:pic>
        <p:nvPicPr>
          <p:cNvPr id="952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0351" y="680424"/>
            <a:ext cx="9203724" cy="575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2857197" y="1690688"/>
            <a:ext cx="4210867" cy="4486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7068064" y="4917989"/>
            <a:ext cx="782595" cy="296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928917" y="4673984"/>
            <a:ext cx="782595" cy="4087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954528" y="5010170"/>
            <a:ext cx="1219202" cy="4087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8012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p:txBody>
          <a:bodyPr/>
          <a:lstStyle/>
          <a:p>
            <a:r>
              <a:rPr lang="en-US" altLang="en-US" dirty="0" smtClean="0"/>
              <a:t>Q2 - answer</a:t>
            </a:r>
            <a:endParaRPr lang="en-US" altLang="en-US" dirty="0" smtClean="0"/>
          </a:p>
        </p:txBody>
      </p:sp>
      <p:sp>
        <p:nvSpPr>
          <p:cNvPr id="95235" name="Content Placeholder 2"/>
          <p:cNvSpPr>
            <a:spLocks noGrp="1"/>
          </p:cNvSpPr>
          <p:nvPr>
            <p:ph idx="1"/>
          </p:nvPr>
        </p:nvSpPr>
        <p:spPr/>
        <p:txBody>
          <a:bodyPr/>
          <a:lstStyle/>
          <a:p>
            <a:endParaRPr lang="en-US" altLang="en-US" smtClean="0"/>
          </a:p>
        </p:txBody>
      </p:sp>
      <p:pic>
        <p:nvPicPr>
          <p:cNvPr id="2" name="Picture 1"/>
          <p:cNvPicPr>
            <a:picLocks noChangeAspect="1"/>
          </p:cNvPicPr>
          <p:nvPr/>
        </p:nvPicPr>
        <p:blipFill>
          <a:blip r:embed="rId2"/>
          <a:stretch>
            <a:fillRect/>
          </a:stretch>
        </p:blipFill>
        <p:spPr>
          <a:xfrm>
            <a:off x="1081087" y="1894830"/>
            <a:ext cx="10029825" cy="3990975"/>
          </a:xfrm>
          <a:prstGeom prst="rect">
            <a:avLst/>
          </a:prstGeom>
        </p:spPr>
      </p:pic>
    </p:spTree>
    <p:extLst>
      <p:ext uri="{BB962C8B-B14F-4D97-AF65-F5344CB8AC3E}">
        <p14:creationId xmlns:p14="http://schemas.microsoft.com/office/powerpoint/2010/main" val="3223441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Q3</a:t>
            </a:r>
            <a:endParaRPr lang="en-US" dirty="0"/>
          </a:p>
        </p:txBody>
      </p:sp>
      <p:sp>
        <p:nvSpPr>
          <p:cNvPr id="3" name="Content Placeholder 2"/>
          <p:cNvSpPr>
            <a:spLocks noGrp="1"/>
          </p:cNvSpPr>
          <p:nvPr>
            <p:ph idx="1"/>
          </p:nvPr>
        </p:nvSpPr>
        <p:spPr>
          <a:xfrm>
            <a:off x="838200" y="1825625"/>
            <a:ext cx="4549346" cy="4351338"/>
          </a:xfrm>
        </p:spPr>
        <p:txBody>
          <a:bodyPr/>
          <a:lstStyle/>
          <a:p>
            <a:r>
              <a:rPr lang="en-US" dirty="0" smtClean="0"/>
              <a:t>Fill in the boxes and explain the difference between the methods.</a:t>
            </a:r>
          </a:p>
          <a:p>
            <a:endParaRPr lang="en-US" dirty="0"/>
          </a:p>
          <a:p>
            <a:r>
              <a:rPr lang="en-US" dirty="0" smtClean="0"/>
              <a:t>Which method(s) do you use in your clinic?</a:t>
            </a:r>
          </a:p>
          <a:p>
            <a:r>
              <a:rPr lang="en-US" dirty="0" smtClean="0"/>
              <a:t>How does this effect what optimization is used?</a:t>
            </a:r>
            <a:endParaRPr lang="en-US" dirty="0"/>
          </a:p>
        </p:txBody>
      </p:sp>
      <p:pic>
        <p:nvPicPr>
          <p:cNvPr id="4" name="Picture 3"/>
          <p:cNvPicPr>
            <a:picLocks noChangeAspect="1"/>
          </p:cNvPicPr>
          <p:nvPr/>
        </p:nvPicPr>
        <p:blipFill>
          <a:blip r:embed="rId2"/>
          <a:stretch>
            <a:fillRect/>
          </a:stretch>
        </p:blipFill>
        <p:spPr>
          <a:xfrm>
            <a:off x="5807933" y="1165542"/>
            <a:ext cx="6384067" cy="2539554"/>
          </a:xfrm>
          <a:prstGeom prst="rect">
            <a:avLst/>
          </a:prstGeom>
        </p:spPr>
      </p:pic>
      <p:sp>
        <p:nvSpPr>
          <p:cNvPr id="5" name="Rectangle 4"/>
          <p:cNvSpPr/>
          <p:nvPr/>
        </p:nvSpPr>
        <p:spPr>
          <a:xfrm>
            <a:off x="6870357" y="1540476"/>
            <a:ext cx="1161535" cy="285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9708293" y="1540475"/>
            <a:ext cx="1161535" cy="285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6396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Q4</a:t>
            </a:r>
            <a:endParaRPr lang="en-US" dirty="0"/>
          </a:p>
        </p:txBody>
      </p:sp>
      <p:sp>
        <p:nvSpPr>
          <p:cNvPr id="3" name="Content Placeholder 2"/>
          <p:cNvSpPr>
            <a:spLocks noGrp="1"/>
          </p:cNvSpPr>
          <p:nvPr>
            <p:ph idx="1"/>
          </p:nvPr>
        </p:nvSpPr>
        <p:spPr/>
        <p:txBody>
          <a:bodyPr/>
          <a:lstStyle/>
          <a:p>
            <a:r>
              <a:rPr lang="en-US" dirty="0"/>
              <a:t>Your clinic is only treating with 3D conformal technique now. You are planning to start IMRT program in your clinic. Explain what the physicist needs to consider when implementing the program in your clinic? </a:t>
            </a:r>
          </a:p>
          <a:p>
            <a:endParaRPr lang="en-US" dirty="0"/>
          </a:p>
        </p:txBody>
      </p:sp>
    </p:spTree>
    <p:extLst>
      <p:ext uri="{BB962C8B-B14F-4D97-AF65-F5344CB8AC3E}">
        <p14:creationId xmlns:p14="http://schemas.microsoft.com/office/powerpoint/2010/main" val="1369609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Q5</a:t>
            </a:r>
            <a:endParaRPr lang="en-US" dirty="0"/>
          </a:p>
        </p:txBody>
      </p:sp>
      <p:sp>
        <p:nvSpPr>
          <p:cNvPr id="3" name="Content Placeholder 2"/>
          <p:cNvSpPr>
            <a:spLocks noGrp="1"/>
          </p:cNvSpPr>
          <p:nvPr>
            <p:ph idx="1"/>
          </p:nvPr>
        </p:nvSpPr>
        <p:spPr/>
        <p:txBody>
          <a:bodyPr/>
          <a:lstStyle/>
          <a:p>
            <a:r>
              <a:rPr lang="en-US" dirty="0" smtClean="0"/>
              <a:t>Explain the problem </a:t>
            </a:r>
            <a:r>
              <a:rPr lang="en-US" dirty="0"/>
              <a:t>of </a:t>
            </a:r>
            <a:r>
              <a:rPr lang="en-US" dirty="0" smtClean="0"/>
              <a:t>“dose dumping”</a:t>
            </a:r>
          </a:p>
          <a:p>
            <a:r>
              <a:rPr lang="en-US" dirty="0" smtClean="0"/>
              <a:t>What strategies can be implemented to reduce this problem?</a:t>
            </a:r>
            <a:endParaRPr lang="en-US" dirty="0"/>
          </a:p>
        </p:txBody>
      </p:sp>
    </p:spTree>
    <p:extLst>
      <p:ext uri="{BB962C8B-B14F-4D97-AF65-F5344CB8AC3E}">
        <p14:creationId xmlns:p14="http://schemas.microsoft.com/office/powerpoint/2010/main" val="3059450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149</Words>
  <Application>Microsoft Office PowerPoint</Application>
  <PresentationFormat>Widescreen</PresentationFormat>
  <Paragraphs>25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Xia and Galvin Quiz</vt:lpstr>
      <vt:lpstr>Q1</vt:lpstr>
      <vt:lpstr>Q1 - answer</vt:lpstr>
      <vt:lpstr>Q2</vt:lpstr>
      <vt:lpstr>Q2</vt:lpstr>
      <vt:lpstr>Q2</vt:lpstr>
      <vt:lpstr>Q2</vt:lpstr>
      <vt:lpstr>Q2 - answer</vt:lpstr>
      <vt:lpstr>Q3</vt:lpstr>
      <vt:lpstr>Q4</vt:lpstr>
      <vt:lpstr>Q5</vt:lpstr>
    </vt:vector>
  </TitlesOfParts>
  <Company>Penn Medicine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Xia and Galvin Quiz</dc:title>
  <dc:creator>O'Reilly, Shannon</dc:creator>
  <cp:lastModifiedBy>O'Reilly, Shannon</cp:lastModifiedBy>
  <cp:revision>8</cp:revision>
  <dcterms:created xsi:type="dcterms:W3CDTF">2019-11-21T17:28:10Z</dcterms:created>
  <dcterms:modified xsi:type="dcterms:W3CDTF">2019-11-21T18:08:11Z</dcterms:modified>
</cp:coreProperties>
</file>