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6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5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3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4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8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0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4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4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5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1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0803F-C35C-4440-9619-7E17AD671CF2}" type="datetimeFigureOut">
              <a:rPr lang="en-US" smtClean="0"/>
              <a:t>12/23/2019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41FB9-6379-4C4F-8D29-B8A653AF3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53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18" y="657475"/>
            <a:ext cx="5600700" cy="5286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93832" y="657475"/>
            <a:ext cx="458002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What is the image on the left depicting?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What other configurations do you think would be tested as part of this QA?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What phantom(s) would you use?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What dosimeter(s) would you use?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What are some limitations of this testing?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27607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2926"/>
            <a:ext cx="10515600" cy="5824037"/>
          </a:xfrm>
        </p:spPr>
        <p:txBody>
          <a:bodyPr/>
          <a:lstStyle/>
          <a:p>
            <a:r>
              <a:rPr lang="en-US" dirty="0" smtClean="0"/>
              <a:t>What is superposition convolution? Give an example of an algorithm that uses it and describe how it is applied.</a:t>
            </a:r>
          </a:p>
          <a:p>
            <a:r>
              <a:rPr lang="en-US" dirty="0" smtClean="0"/>
              <a:t>How is </a:t>
            </a:r>
            <a:r>
              <a:rPr lang="en-US" dirty="0" err="1" smtClean="0"/>
              <a:t>Acuros</a:t>
            </a:r>
            <a:r>
              <a:rPr lang="en-US" dirty="0" smtClean="0"/>
              <a:t> XB different?</a:t>
            </a:r>
          </a:p>
          <a:p>
            <a:r>
              <a:rPr lang="en-US" dirty="0" smtClean="0"/>
              <a:t>In what situations do you think there is likely to be a potentially significant difference in results between </a:t>
            </a:r>
            <a:r>
              <a:rPr lang="en-US" dirty="0" err="1" smtClean="0"/>
              <a:t>Acuros</a:t>
            </a:r>
            <a:r>
              <a:rPr lang="en-US" dirty="0" smtClean="0"/>
              <a:t> XB and the algorithm you described in the first part?</a:t>
            </a:r>
          </a:p>
          <a:p>
            <a:r>
              <a:rPr lang="en-US" dirty="0" smtClean="0"/>
              <a:t>Qualitatively, what will that difference be?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3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3032"/>
            <a:ext cx="10515600" cy="5783931"/>
          </a:xfrm>
        </p:spPr>
        <p:txBody>
          <a:bodyPr/>
          <a:lstStyle/>
          <a:p>
            <a:r>
              <a:rPr lang="en-US" dirty="0" smtClean="0"/>
              <a:t>How would you recommend a patient be </a:t>
            </a:r>
            <a:r>
              <a:rPr lang="en-US" dirty="0" err="1" smtClean="0"/>
              <a:t>simmed</a:t>
            </a:r>
            <a:r>
              <a:rPr lang="en-US" dirty="0" smtClean="0"/>
              <a:t> for treatment of bladder cancer?</a:t>
            </a:r>
          </a:p>
          <a:p>
            <a:r>
              <a:rPr lang="en-US" dirty="0" smtClean="0"/>
              <a:t>What prescription dose do you expect?</a:t>
            </a:r>
          </a:p>
          <a:p>
            <a:r>
              <a:rPr lang="en-US" dirty="0" smtClean="0"/>
              <a:t>What are some OARs you would be concerned about during planning and what constraints would you use?</a:t>
            </a:r>
          </a:p>
          <a:p>
            <a:r>
              <a:rPr lang="en-US" dirty="0" smtClean="0"/>
              <a:t>How would you expect this patient to be aligned on the machine?</a:t>
            </a:r>
          </a:p>
          <a:p>
            <a:r>
              <a:rPr lang="en-US" dirty="0" smtClean="0"/>
              <a:t>Your MD wants you to mathematically calculate some suggested margins for these types of cases. How would you go about doing that?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83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3032"/>
            <a:ext cx="10515600" cy="5783931"/>
          </a:xfrm>
        </p:spPr>
        <p:txBody>
          <a:bodyPr/>
          <a:lstStyle/>
          <a:p>
            <a:r>
              <a:rPr lang="en-US" dirty="0" smtClean="0"/>
              <a:t>Draw a schematic of an MLC leaf and MLC bank.</a:t>
            </a:r>
          </a:p>
          <a:p>
            <a:endParaRPr lang="en-US" dirty="0" smtClean="0"/>
          </a:p>
          <a:p>
            <a:r>
              <a:rPr lang="en-US" sz="2800" dirty="0" smtClean="0"/>
              <a:t>Indicate the MLC model you have drawn, and describe in detail the design of the MLC.</a:t>
            </a:r>
          </a:p>
          <a:p>
            <a:endParaRPr lang="en-US" sz="2800" dirty="0" smtClean="0"/>
          </a:p>
          <a:p>
            <a:r>
              <a:rPr lang="en-US" dirty="0" smtClean="0"/>
              <a:t>What is the purpose of the rounded leaf end on some MLC models?</a:t>
            </a:r>
          </a:p>
          <a:p>
            <a:endParaRPr lang="en-US" sz="2800" dirty="0" smtClean="0"/>
          </a:p>
          <a:p>
            <a:r>
              <a:rPr lang="en-US" dirty="0" smtClean="0"/>
              <a:t>Describe the three types of MLC leakage and how these are accounted for in the treatment planning system.</a:t>
            </a:r>
          </a:p>
          <a:p>
            <a:endParaRPr lang="en-US" sz="2800" dirty="0" smtClean="0"/>
          </a:p>
          <a:p>
            <a:r>
              <a:rPr lang="en-US" dirty="0" smtClean="0"/>
              <a:t>Briefly </a:t>
            </a:r>
            <a:r>
              <a:rPr lang="en-US" smtClean="0"/>
              <a:t>describe the DLG and </a:t>
            </a:r>
            <a:r>
              <a:rPr lang="en-US" dirty="0" smtClean="0"/>
              <a:t>how it is measured.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380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3032"/>
            <a:ext cx="10515600" cy="5783931"/>
          </a:xfrm>
        </p:spPr>
        <p:txBody>
          <a:bodyPr/>
          <a:lstStyle/>
          <a:p>
            <a:r>
              <a:rPr lang="en-US" dirty="0" smtClean="0"/>
              <a:t>Name several sites that are commonly treated with SBRT.</a:t>
            </a:r>
          </a:p>
          <a:p>
            <a:endParaRPr lang="en-US" dirty="0" smtClean="0"/>
          </a:p>
          <a:p>
            <a:r>
              <a:rPr lang="en-US" dirty="0" smtClean="0"/>
              <a:t>For one of these sites, describe how SBRT differs from standard IMRT in regards to:</a:t>
            </a:r>
          </a:p>
          <a:p>
            <a:pPr lvl="1"/>
            <a:r>
              <a:rPr lang="en-US" sz="2800" dirty="0" smtClean="0"/>
              <a:t>Simulation</a:t>
            </a:r>
          </a:p>
          <a:p>
            <a:pPr lvl="1"/>
            <a:r>
              <a:rPr lang="en-US" sz="2800" dirty="0" smtClean="0"/>
              <a:t>Prescription</a:t>
            </a:r>
            <a:endParaRPr lang="en-US" sz="2800" dirty="0" smtClean="0"/>
          </a:p>
          <a:p>
            <a:pPr lvl="1"/>
            <a:r>
              <a:rPr lang="en-US" sz="2800" dirty="0" smtClean="0"/>
              <a:t>Contouring</a:t>
            </a:r>
          </a:p>
          <a:p>
            <a:pPr lvl="1"/>
            <a:r>
              <a:rPr lang="en-US" sz="2800" dirty="0" smtClean="0"/>
              <a:t>Treatment Planning</a:t>
            </a:r>
          </a:p>
          <a:p>
            <a:pPr lvl="1"/>
            <a:r>
              <a:rPr lang="en-US" sz="2800" dirty="0" smtClean="0"/>
              <a:t>Physics checks</a:t>
            </a:r>
          </a:p>
          <a:p>
            <a:pPr lvl="1"/>
            <a:r>
              <a:rPr lang="en-US" sz="2800" dirty="0" smtClean="0"/>
              <a:t>Treatment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1362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3032"/>
            <a:ext cx="10515600" cy="5783931"/>
          </a:xfrm>
        </p:spPr>
        <p:txBody>
          <a:bodyPr/>
          <a:lstStyle/>
          <a:p>
            <a:r>
              <a:rPr lang="en-US" dirty="0" smtClean="0"/>
              <a:t>Briefly describe Gamma analysis and its uses in IMRT QA.</a:t>
            </a:r>
          </a:p>
          <a:p>
            <a:endParaRPr lang="en-US" dirty="0"/>
          </a:p>
          <a:p>
            <a:r>
              <a:rPr lang="en-US" dirty="0" smtClean="0"/>
              <a:t>What are recommended tolerance and action limits for gamma analysis, including related parameters?</a:t>
            </a:r>
          </a:p>
          <a:p>
            <a:endParaRPr lang="en-US" dirty="0" smtClean="0"/>
          </a:p>
          <a:p>
            <a:r>
              <a:rPr lang="en-US" dirty="0" smtClean="0"/>
              <a:t>Describe </a:t>
            </a:r>
            <a:r>
              <a:rPr lang="en-US" i="1" dirty="0" smtClean="0"/>
              <a:t>True Composite </a:t>
            </a:r>
            <a:r>
              <a:rPr lang="en-US" dirty="0" smtClean="0"/>
              <a:t>and </a:t>
            </a:r>
            <a:r>
              <a:rPr lang="en-US" i="1" dirty="0" smtClean="0"/>
              <a:t>Perpendicular field-by-field </a:t>
            </a:r>
            <a:r>
              <a:rPr lang="en-US" dirty="0" smtClean="0"/>
              <a:t>IMRT QA methods. Name a device used to measure each.</a:t>
            </a:r>
          </a:p>
          <a:p>
            <a:endParaRPr lang="en-US" sz="2800" dirty="0"/>
          </a:p>
          <a:p>
            <a:r>
              <a:rPr lang="en-US" dirty="0" smtClean="0"/>
              <a:t>An SBRT plan fails institutional tolerances for IMRT QA when delivered to the </a:t>
            </a:r>
            <a:r>
              <a:rPr lang="en-US" dirty="0" err="1" smtClean="0"/>
              <a:t>ArcCheck</a:t>
            </a:r>
            <a:r>
              <a:rPr lang="en-US" dirty="0" smtClean="0"/>
              <a:t>. How do you proceed?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86210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358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Bollinger, Douglas</dc:creator>
  <cp:lastModifiedBy>Koger, Brandon</cp:lastModifiedBy>
  <cp:revision>11</cp:revision>
  <dcterms:created xsi:type="dcterms:W3CDTF">2019-12-16T17:35:01Z</dcterms:created>
  <dcterms:modified xsi:type="dcterms:W3CDTF">2019-12-23T17:13:11Z</dcterms:modified>
</cp:coreProperties>
</file>