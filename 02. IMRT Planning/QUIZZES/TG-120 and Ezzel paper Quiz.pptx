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83910" autoAdjust="0"/>
  </p:normalViewPr>
  <p:slideViewPr>
    <p:cSldViewPr snapToGrid="0">
      <p:cViewPr varScale="1">
        <p:scale>
          <a:sx n="107" d="100"/>
          <a:sy n="107" d="100"/>
        </p:scale>
        <p:origin x="4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E8690D-3F6C-40C7-A035-28340BBE326F}" type="datetimeFigureOut">
              <a:rPr lang="en-US" smtClean="0"/>
              <a:t>10/31/2019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5C4832-8AB4-4F25-9ECD-0890D1F92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52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Flash</a:t>
            </a:r>
          </a:p>
          <a:p>
            <a:r>
              <a:rPr lang="en-US" dirty="0" smtClean="0"/>
              <a:t>Target in air or skin</a:t>
            </a:r>
            <a:r>
              <a:rPr lang="en-US" baseline="0" dirty="0" smtClean="0"/>
              <a:t> surface</a:t>
            </a:r>
          </a:p>
          <a:p>
            <a:r>
              <a:rPr lang="en-US" baseline="0" dirty="0" smtClean="0"/>
              <a:t>MU </a:t>
            </a:r>
            <a:r>
              <a:rPr lang="en-US" baseline="0" dirty="0" err="1" smtClean="0"/>
              <a:t>calcs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5C4832-8AB4-4F25-9ECD-0890D1F9270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98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1B850-751D-4427-A044-06B0EE9CE9F9}" type="datetimeFigureOut">
              <a:rPr lang="en-US" smtClean="0"/>
              <a:t>10/31/2019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52011-D168-4D97-BE95-B17A29F10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839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1B850-751D-4427-A044-06B0EE9CE9F9}" type="datetimeFigureOut">
              <a:rPr lang="en-US" smtClean="0"/>
              <a:t>10/31/2019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52011-D168-4D97-BE95-B17A29F10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41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1B850-751D-4427-A044-06B0EE9CE9F9}" type="datetimeFigureOut">
              <a:rPr lang="en-US" smtClean="0"/>
              <a:t>10/31/2019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52011-D168-4D97-BE95-B17A29F10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469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1B850-751D-4427-A044-06B0EE9CE9F9}" type="datetimeFigureOut">
              <a:rPr lang="en-US" smtClean="0"/>
              <a:t>10/31/2019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52011-D168-4D97-BE95-B17A29F10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344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1B850-751D-4427-A044-06B0EE9CE9F9}" type="datetimeFigureOut">
              <a:rPr lang="en-US" smtClean="0"/>
              <a:t>10/31/2019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52011-D168-4D97-BE95-B17A29F10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562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1B850-751D-4427-A044-06B0EE9CE9F9}" type="datetimeFigureOut">
              <a:rPr lang="en-US" smtClean="0"/>
              <a:t>10/31/2019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52011-D168-4D97-BE95-B17A29F10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029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1B850-751D-4427-A044-06B0EE9CE9F9}" type="datetimeFigureOut">
              <a:rPr lang="en-US" smtClean="0"/>
              <a:t>10/31/2019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52011-D168-4D97-BE95-B17A29F10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59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1B850-751D-4427-A044-06B0EE9CE9F9}" type="datetimeFigureOut">
              <a:rPr lang="en-US" smtClean="0"/>
              <a:t>10/31/2019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52011-D168-4D97-BE95-B17A29F10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89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1B850-751D-4427-A044-06B0EE9CE9F9}" type="datetimeFigureOut">
              <a:rPr lang="en-US" smtClean="0"/>
              <a:t>10/31/2019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52011-D168-4D97-BE95-B17A29F10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5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1B850-751D-4427-A044-06B0EE9CE9F9}" type="datetimeFigureOut">
              <a:rPr lang="en-US" smtClean="0"/>
              <a:t>10/31/2019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52011-D168-4D97-BE95-B17A29F10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220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1B850-751D-4427-A044-06B0EE9CE9F9}" type="datetimeFigureOut">
              <a:rPr lang="en-US" smtClean="0"/>
              <a:t>10/31/2019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52011-D168-4D97-BE95-B17A29F10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48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1B850-751D-4427-A044-06B0EE9CE9F9}" type="datetimeFigureOut">
              <a:rPr lang="en-US" smtClean="0"/>
              <a:t>10/31/2019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52011-D168-4D97-BE95-B17A29F10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19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TG-120 and </a:t>
            </a:r>
            <a:r>
              <a:rPr lang="en-US" dirty="0" err="1" smtClean="0"/>
              <a:t>Ezzel</a:t>
            </a:r>
            <a:r>
              <a:rPr lang="en-US" dirty="0" smtClean="0"/>
              <a:t> paper Quiz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10/31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843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TG-120 lists a number of detectors that can be used for IMRT QA.</a:t>
            </a:r>
          </a:p>
          <a:p>
            <a:pPr lvl="1"/>
            <a:r>
              <a:rPr lang="en-US" dirty="0" smtClean="0"/>
              <a:t>List the detectors for 1D measurement</a:t>
            </a:r>
          </a:p>
          <a:p>
            <a:pPr lvl="1"/>
            <a:r>
              <a:rPr lang="en-US" dirty="0" smtClean="0"/>
              <a:t>Provide pros and cons of each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189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TG-120 lists a number of detectors that can be used for IMRT QA.</a:t>
            </a:r>
          </a:p>
          <a:p>
            <a:pPr lvl="1"/>
            <a:r>
              <a:rPr lang="en-US" dirty="0" smtClean="0"/>
              <a:t>List the detectors for 2D measurement</a:t>
            </a:r>
          </a:p>
          <a:p>
            <a:pPr lvl="1"/>
            <a:r>
              <a:rPr lang="en-US" dirty="0" smtClean="0"/>
              <a:t>Provide pros and cons of each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694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208373" cy="435133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What is being tested here?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 evaluated dose distribution in quadrant 2 has been scaled such that the dose varies by 6% at the field edges 1.2% cm−1 dose gradient. The evaluated dose distribution in quadrant 3 has been shifted by 1.2 mm for each cm of off-axis distance to mimic spatial discrepancies between dose distributions.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334" y="15760"/>
            <a:ext cx="4947466" cy="68422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704173" y="365125"/>
            <a:ext cx="494271" cy="17033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9704173" y="1502656"/>
            <a:ext cx="494271" cy="17033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032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being tested here?</a:t>
            </a:r>
          </a:p>
          <a:p>
            <a:r>
              <a:rPr lang="en-US" dirty="0" smtClean="0"/>
              <a:t>What other tests are performed for </a:t>
            </a:r>
            <a:br>
              <a:rPr lang="en-US" dirty="0" smtClean="0"/>
            </a:br>
            <a:r>
              <a:rPr lang="en-US" dirty="0" smtClean="0"/>
              <a:t>this type of equipment?</a:t>
            </a:r>
          </a:p>
          <a:p>
            <a:r>
              <a:rPr lang="en-US" dirty="0" smtClean="0"/>
              <a:t>How often should you test this equipment?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4434" y="365125"/>
            <a:ext cx="3414841" cy="5956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207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Explain the differences </a:t>
            </a:r>
            <a:r>
              <a:rPr lang="en-US" b="1" dirty="0"/>
              <a:t>between IMRT and </a:t>
            </a:r>
            <a:r>
              <a:rPr lang="en-US" b="1" dirty="0" smtClean="0"/>
              <a:t>conventional treatment planning for:</a:t>
            </a:r>
          </a:p>
          <a:p>
            <a:pPr lvl="1"/>
            <a:r>
              <a:rPr lang="en-US" b="1" dirty="0"/>
              <a:t>D</a:t>
            </a:r>
            <a:r>
              <a:rPr lang="en-US" b="1" dirty="0" smtClean="0"/>
              <a:t>ose </a:t>
            </a:r>
            <a:r>
              <a:rPr lang="en-US" b="1" dirty="0"/>
              <a:t>calculations </a:t>
            </a:r>
            <a:r>
              <a:rPr lang="en-US" b="1" dirty="0" smtClean="0"/>
              <a:t>and beam modeling</a:t>
            </a:r>
          </a:p>
          <a:p>
            <a:pPr lvl="1"/>
            <a:r>
              <a:rPr lang="en-US" b="1" dirty="0"/>
              <a:t>Planning </a:t>
            </a:r>
            <a:r>
              <a:rPr lang="en-US" b="1" dirty="0" smtClean="0"/>
              <a:t>algorithms and planning “issues” (e.g. contours)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899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Explain process of clinical implementation of IMRT</a:t>
            </a:r>
          </a:p>
          <a:p>
            <a:pPr lvl="1"/>
            <a:r>
              <a:rPr lang="en-US" b="1" dirty="0" smtClean="0">
                <a:solidFill>
                  <a:schemeClr val="bg1"/>
                </a:solidFill>
              </a:rPr>
              <a:t>Shielding</a:t>
            </a:r>
          </a:p>
          <a:p>
            <a:pPr lvl="1"/>
            <a:r>
              <a:rPr lang="en-US" b="1" dirty="0" smtClean="0">
                <a:solidFill>
                  <a:schemeClr val="bg1"/>
                </a:solidFill>
              </a:rPr>
              <a:t>Space planning</a:t>
            </a:r>
          </a:p>
          <a:p>
            <a:pPr lvl="1"/>
            <a:r>
              <a:rPr lang="en-US" b="1" dirty="0" smtClean="0">
                <a:solidFill>
                  <a:schemeClr val="bg1"/>
                </a:solidFill>
              </a:rPr>
              <a:t>Equipment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Time and personnel </a:t>
            </a:r>
            <a:r>
              <a:rPr lang="en-US" b="1" dirty="0" smtClean="0">
                <a:solidFill>
                  <a:schemeClr val="bg1"/>
                </a:solidFill>
              </a:rPr>
              <a:t>requirements</a:t>
            </a:r>
          </a:p>
          <a:p>
            <a:pPr lvl="1"/>
            <a:r>
              <a:rPr lang="en-US" b="1" dirty="0" smtClean="0">
                <a:solidFill>
                  <a:schemeClr val="bg1"/>
                </a:solidFill>
              </a:rPr>
              <a:t>Immobilization</a:t>
            </a:r>
          </a:p>
          <a:p>
            <a:pPr lvl="1"/>
            <a:r>
              <a:rPr lang="en-US" b="1" dirty="0" smtClean="0">
                <a:solidFill>
                  <a:schemeClr val="bg1"/>
                </a:solidFill>
              </a:rPr>
              <a:t>Imaging Requirements</a:t>
            </a:r>
          </a:p>
          <a:p>
            <a:pPr lvl="1"/>
            <a:r>
              <a:rPr lang="en-US" b="1" dirty="0" smtClean="0">
                <a:solidFill>
                  <a:schemeClr val="bg1"/>
                </a:solidFill>
              </a:rPr>
              <a:t>Training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557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196</Words>
  <Application>Microsoft Office PowerPoint</Application>
  <PresentationFormat>Widescreen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TG-120 and Ezzel paper Quiz</vt:lpstr>
      <vt:lpstr>Q1</vt:lpstr>
      <vt:lpstr>Q2</vt:lpstr>
      <vt:lpstr>Q3</vt:lpstr>
      <vt:lpstr>Q4</vt:lpstr>
      <vt:lpstr>Q5</vt:lpstr>
      <vt:lpstr>Q6</vt:lpstr>
    </vt:vector>
  </TitlesOfParts>
  <Company>Penn Medicine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TG-120 and Ezzel paper Quiz</dc:title>
  <dc:creator>O'Reilly, Shannon</dc:creator>
  <cp:lastModifiedBy>O'Reilly, Shannon</cp:lastModifiedBy>
  <cp:revision>3</cp:revision>
  <dcterms:created xsi:type="dcterms:W3CDTF">2019-10-31T13:04:56Z</dcterms:created>
  <dcterms:modified xsi:type="dcterms:W3CDTF">2019-10-31T13:18:19Z</dcterms:modified>
</cp:coreProperties>
</file>