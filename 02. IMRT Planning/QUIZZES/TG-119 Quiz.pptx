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5971" autoAdjust="0"/>
  </p:normalViewPr>
  <p:slideViewPr>
    <p:cSldViewPr snapToGrid="0">
      <p:cViewPr varScale="1">
        <p:scale>
          <a:sx n="92" d="100"/>
          <a:sy n="92" d="100"/>
        </p:scale>
        <p:origin x="10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E720A-8381-4613-AF92-3C3CEC32464B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3B5E-CE02-4616-BE48-AE1A23E20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6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E720A-8381-4613-AF92-3C3CEC32464B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3B5E-CE02-4616-BE48-AE1A23E20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725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E720A-8381-4613-AF92-3C3CEC32464B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3B5E-CE02-4616-BE48-AE1A23E20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53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E720A-8381-4613-AF92-3C3CEC32464B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3B5E-CE02-4616-BE48-AE1A23E20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44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E720A-8381-4613-AF92-3C3CEC32464B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3B5E-CE02-4616-BE48-AE1A23E20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E720A-8381-4613-AF92-3C3CEC32464B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3B5E-CE02-4616-BE48-AE1A23E20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3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E720A-8381-4613-AF92-3C3CEC32464B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3B5E-CE02-4616-BE48-AE1A23E20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56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E720A-8381-4613-AF92-3C3CEC32464B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3B5E-CE02-4616-BE48-AE1A23E20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46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E720A-8381-4613-AF92-3C3CEC32464B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3B5E-CE02-4616-BE48-AE1A23E20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347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E720A-8381-4613-AF92-3C3CEC32464B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3B5E-CE02-4616-BE48-AE1A23E20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97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E720A-8381-4613-AF92-3C3CEC32464B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3B5E-CE02-4616-BE48-AE1A23E20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13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E720A-8381-4613-AF92-3C3CEC32464B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D3B5E-CE02-4616-BE48-AE1A23E20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3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TG-119 Quiz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1</a:t>
            </a:r>
          </a:p>
        </p:txBody>
      </p:sp>
    </p:spTree>
    <p:extLst>
      <p:ext uri="{BB962C8B-B14F-4D97-AF65-F5344CB8AC3E}">
        <p14:creationId xmlns:p14="http://schemas.microsoft.com/office/powerpoint/2010/main" val="283209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1049"/>
            <a:ext cx="10515600" cy="468591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What is the purpose of TG-119?</a:t>
            </a:r>
          </a:p>
          <a:p>
            <a:endParaRPr lang="en-US" dirty="0"/>
          </a:p>
          <a:p>
            <a:r>
              <a:rPr lang="en-US" dirty="0"/>
              <a:t>What type of detectors do they recommend using?</a:t>
            </a:r>
          </a:p>
          <a:p>
            <a:r>
              <a:rPr lang="en-US" dirty="0">
                <a:solidFill>
                  <a:schemeClr val="bg1"/>
                </a:solidFill>
              </a:rPr>
              <a:t>typically would be smaller than a Farmer-type chamber, such as a 0.125 cm3 scanning chamber.</a:t>
            </a:r>
          </a:p>
          <a:p>
            <a:r>
              <a:rPr lang="en-US" dirty="0">
                <a:solidFill>
                  <a:schemeClr val="bg1"/>
                </a:solidFill>
              </a:rPr>
              <a:t>Film</a:t>
            </a:r>
          </a:p>
          <a:p>
            <a:r>
              <a:rPr lang="en-US" dirty="0">
                <a:solidFill>
                  <a:schemeClr val="bg1"/>
                </a:solidFill>
              </a:rPr>
              <a:t>Per field: film, detector array, EPID</a:t>
            </a:r>
          </a:p>
          <a:p>
            <a:r>
              <a:rPr lang="en-US" dirty="0"/>
              <a:t>How to they take into account daily output changes?</a:t>
            </a:r>
          </a:p>
          <a:p>
            <a:r>
              <a:rPr lang="en-US" dirty="0">
                <a:solidFill>
                  <a:schemeClr val="bg1"/>
                </a:solidFill>
              </a:rPr>
              <a:t>first irradiating the phantom with parallel-opposed 10x10 fields arranged </a:t>
            </a:r>
            <a:r>
              <a:rPr lang="en-US" dirty="0" err="1">
                <a:solidFill>
                  <a:schemeClr val="bg1"/>
                </a:solidFill>
              </a:rPr>
              <a:t>isocentrically</a:t>
            </a:r>
            <a:r>
              <a:rPr lang="en-US" dirty="0">
                <a:solidFill>
                  <a:schemeClr val="bg1"/>
                </a:solidFill>
              </a:rPr>
              <a:t> and establishing the ratio of reading to planned dose in that geometry.</a:t>
            </a:r>
          </a:p>
        </p:txBody>
      </p:sp>
    </p:spTree>
    <p:extLst>
      <p:ext uri="{BB962C8B-B14F-4D97-AF65-F5344CB8AC3E}">
        <p14:creationId xmlns:p14="http://schemas.microsoft.com/office/powerpoint/2010/main" val="3773280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 and describe the two preliminary tests?</a:t>
            </a:r>
          </a:p>
          <a:p>
            <a:r>
              <a:rPr lang="en-US" dirty="0">
                <a:solidFill>
                  <a:schemeClr val="bg1"/>
                </a:solidFill>
              </a:rPr>
              <a:t>AP/PA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10x10, 200 </a:t>
            </a:r>
            <a:r>
              <a:rPr lang="en-US" dirty="0" err="1">
                <a:solidFill>
                  <a:schemeClr val="bg1"/>
                </a:solidFill>
              </a:rPr>
              <a:t>cGy</a:t>
            </a:r>
            <a:r>
              <a:rPr lang="en-US" dirty="0">
                <a:solidFill>
                  <a:schemeClr val="bg1"/>
                </a:solidFill>
              </a:rPr>
              <a:t> @ </a:t>
            </a:r>
            <a:r>
              <a:rPr lang="en-US" dirty="0" err="1">
                <a:solidFill>
                  <a:schemeClr val="bg1"/>
                </a:solidFill>
              </a:rPr>
              <a:t>iso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Used as ratio for subsequent tests</a:t>
            </a:r>
          </a:p>
          <a:p>
            <a:r>
              <a:rPr lang="en-US" dirty="0">
                <a:solidFill>
                  <a:schemeClr val="bg1"/>
                </a:solidFill>
              </a:rPr>
              <a:t>Bands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5 bands, AP/PA fields, 3 cm wide doses from 40 to 200 </a:t>
            </a:r>
            <a:r>
              <a:rPr lang="en-US" dirty="0" err="1">
                <a:solidFill>
                  <a:schemeClr val="bg1"/>
                </a:solidFill>
              </a:rPr>
              <a:t>cGy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570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this test – name, beam arrangement.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Multi-target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7 fields, 50 degrees apart</a:t>
            </a:r>
          </a:p>
          <a:p>
            <a:pPr marL="230188" lvl="1" indent="-230188"/>
            <a:r>
              <a:rPr lang="en-US" sz="2800" dirty="0"/>
              <a:t>Explain the dose distribution.</a:t>
            </a:r>
          </a:p>
          <a:p>
            <a:r>
              <a:rPr lang="en-US" dirty="0">
                <a:solidFill>
                  <a:schemeClr val="bg1"/>
                </a:solidFill>
              </a:rPr>
              <a:t>They are to receive different doses, with the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central target to receive the largest dose per fraction. The superior </a:t>
            </a:r>
            <a:r>
              <a:rPr lang="en-US" dirty="0" err="1">
                <a:solidFill>
                  <a:schemeClr val="bg1"/>
                </a:solidFill>
              </a:rPr>
              <a:t>targ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/>
              <a:t>What dose criteria are used?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D99, D10to receive 50% of that and the inferior 25%.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843" y="195027"/>
            <a:ext cx="3918309" cy="36413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740346" y="1129100"/>
            <a:ext cx="560173" cy="2678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740346" y="2865009"/>
            <a:ext cx="469557" cy="18299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644150" y="1659302"/>
            <a:ext cx="518120" cy="2014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10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this test – name, beam </a:t>
            </a:r>
            <a:br>
              <a:rPr lang="en-US" dirty="0"/>
            </a:br>
            <a:r>
              <a:rPr lang="en-US" dirty="0"/>
              <a:t>arrangement.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Mock prostate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seven fields at 50° intervals</a:t>
            </a:r>
          </a:p>
          <a:p>
            <a:r>
              <a:rPr lang="en-US" dirty="0"/>
              <a:t>What dose criteria are used?</a:t>
            </a:r>
          </a:p>
          <a:p>
            <a:r>
              <a:rPr lang="en-US" dirty="0">
                <a:solidFill>
                  <a:schemeClr val="bg1"/>
                </a:solidFill>
              </a:rPr>
              <a:t>Prostate – D95, D5</a:t>
            </a:r>
          </a:p>
          <a:p>
            <a:r>
              <a:rPr lang="en-US" dirty="0">
                <a:solidFill>
                  <a:schemeClr val="bg1"/>
                </a:solidFill>
              </a:rPr>
              <a:t>Rectum – D30, D10</a:t>
            </a:r>
          </a:p>
          <a:p>
            <a:r>
              <a:rPr lang="en-US" dirty="0">
                <a:solidFill>
                  <a:schemeClr val="bg1"/>
                </a:solidFill>
              </a:rPr>
              <a:t>Bladder – D30, D10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021" y="243940"/>
            <a:ext cx="4282904" cy="235870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76735" y="749643"/>
            <a:ext cx="387179" cy="197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463349" y="1810049"/>
            <a:ext cx="387179" cy="197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989924" y="1810049"/>
            <a:ext cx="387179" cy="197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989923" y="1017457"/>
            <a:ext cx="387179" cy="197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367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this test – name, beam </a:t>
            </a:r>
            <a:br>
              <a:rPr lang="en-US" dirty="0"/>
            </a:br>
            <a:r>
              <a:rPr lang="en-US" dirty="0"/>
              <a:t>arrangement.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Mock head/neck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9 fields at 40° intervals</a:t>
            </a:r>
          </a:p>
          <a:p>
            <a:r>
              <a:rPr lang="en-US" dirty="0"/>
              <a:t>What dose criteria are used?</a:t>
            </a:r>
          </a:p>
          <a:p>
            <a:r>
              <a:rPr lang="en-US" dirty="0">
                <a:solidFill>
                  <a:schemeClr val="bg1"/>
                </a:solidFill>
              </a:rPr>
              <a:t>PTV D90, D99, D20</a:t>
            </a:r>
          </a:p>
          <a:p>
            <a:r>
              <a:rPr lang="en-US" dirty="0">
                <a:solidFill>
                  <a:schemeClr val="bg1"/>
                </a:solidFill>
              </a:rPr>
              <a:t>Cord Max</a:t>
            </a:r>
          </a:p>
          <a:p>
            <a:r>
              <a:rPr lang="en-US" dirty="0">
                <a:solidFill>
                  <a:schemeClr val="bg1"/>
                </a:solidFill>
              </a:rPr>
              <a:t>Parotid D50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477" y="365125"/>
            <a:ext cx="6210300" cy="32670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14984" y="1532238"/>
            <a:ext cx="840259" cy="25730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273230" y="3080608"/>
            <a:ext cx="387179" cy="197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294725" y="1511021"/>
            <a:ext cx="768691" cy="2157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3231" y="665162"/>
            <a:ext cx="387179" cy="1977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Explain this test – name, beam </a:t>
            </a:r>
            <a:br>
              <a:rPr lang="en-US" dirty="0"/>
            </a:br>
            <a:r>
              <a:rPr lang="en-US" dirty="0"/>
              <a:t>arrangement.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C-shape, hard easy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9 fields at 40° intervals</a:t>
            </a:r>
          </a:p>
          <a:p>
            <a:r>
              <a:rPr lang="en-US" dirty="0"/>
              <a:t>Why are there two versions?</a:t>
            </a:r>
          </a:p>
          <a:p>
            <a:r>
              <a:rPr lang="en-US" dirty="0">
                <a:solidFill>
                  <a:schemeClr val="bg1"/>
                </a:solidFill>
              </a:rPr>
              <a:t>latter goal is probably not achievable and tests a system that is being pushed very hard.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dirty="0"/>
              <a:t>What dose criteria are used?</a:t>
            </a:r>
          </a:p>
          <a:p>
            <a:r>
              <a:rPr lang="en-US" dirty="0">
                <a:solidFill>
                  <a:schemeClr val="bg1"/>
                </a:solidFill>
              </a:rPr>
              <a:t>Easy – central core is to be kept to 50% of the target dose.</a:t>
            </a:r>
          </a:p>
          <a:p>
            <a:r>
              <a:rPr lang="en-US" dirty="0">
                <a:solidFill>
                  <a:schemeClr val="bg1"/>
                </a:solidFill>
              </a:rPr>
              <a:t>Hard - the central core is to be kept to 20% of the target dose.</a:t>
            </a:r>
          </a:p>
          <a:p>
            <a:r>
              <a:rPr lang="en-US" dirty="0">
                <a:solidFill>
                  <a:schemeClr val="bg1"/>
                </a:solidFill>
              </a:rPr>
              <a:t>PTV: D95, D10, Core: D10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125" y="111125"/>
            <a:ext cx="45529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63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Q7 cont.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Explain the confidence limit and how it applies to pass rates?</a:t>
            </a:r>
          </a:p>
          <a:p>
            <a:pPr marL="360" indent="0" algn="just">
              <a:lnSpc>
                <a:spcPct val="80000"/>
              </a:lnSpc>
              <a:buClr>
                <a:srgbClr val="800000"/>
              </a:buClr>
              <a:buNone/>
            </a:pPr>
            <a:r>
              <a:rPr lang="en-US" sz="1800" spc="-1" dirty="0">
                <a:uFill>
                  <a:solidFill>
                    <a:srgbClr val="FFFFFF"/>
                  </a:solidFill>
                </a:uFill>
                <a:latin typeface="+mj-lt"/>
              </a:rPr>
              <a:t>the sum of the absolute value of the average difference and the standard deviation of the differences multiplied by a factor of 1.96 </a:t>
            </a:r>
            <a:endParaRPr lang="en-US" sz="1800" b="1" spc="-1" dirty="0">
              <a:uFill>
                <a:solidFill>
                  <a:srgbClr val="FFFFFF"/>
                </a:solidFill>
              </a:uFill>
              <a:latin typeface="+mj-lt"/>
            </a:endParaRPr>
          </a:p>
          <a:p>
            <a:pPr marL="128520" indent="0" algn="just">
              <a:buNone/>
            </a:pPr>
            <a:r>
              <a:rPr lang="en-US" sz="1800" b="1" spc="-1" dirty="0">
                <a:uFill>
                  <a:solidFill>
                    <a:srgbClr val="FFFFFF"/>
                  </a:solidFill>
                </a:uFill>
                <a:latin typeface="+mj-lt"/>
              </a:rPr>
              <a:t>CL= |mean deviation| + 1.96 SD </a:t>
            </a:r>
          </a:p>
          <a:p>
            <a:pPr marL="360" indent="0" algn="just">
              <a:lnSpc>
                <a:spcPct val="80000"/>
              </a:lnSpc>
              <a:buClr>
                <a:srgbClr val="800000"/>
              </a:buClr>
              <a:buNone/>
            </a:pPr>
            <a:r>
              <a:rPr lang="en-US" sz="1800" spc="-1" dirty="0">
                <a:uFill>
                  <a:solidFill>
                    <a:srgbClr val="FFFFFF"/>
                  </a:solidFill>
                </a:uFill>
                <a:latin typeface="+mj-lt"/>
              </a:rPr>
              <a:t>It is to be expected that 95% of the measured points will fall within the confidence limit.</a:t>
            </a:r>
            <a:r>
              <a:rPr lang="en-US" sz="1800" b="1" spc="-1" dirty="0">
                <a:uFill>
                  <a:solidFill>
                    <a:srgbClr val="FFFFFF"/>
                  </a:solidFill>
                </a:uFill>
                <a:latin typeface="+mj-lt"/>
              </a:rPr>
              <a:t> </a:t>
            </a:r>
          </a:p>
          <a:p>
            <a:pPr marL="360" indent="0" algn="just">
              <a:lnSpc>
                <a:spcPct val="80000"/>
              </a:lnSpc>
              <a:buClr>
                <a:srgbClr val="800000"/>
              </a:buClr>
              <a:buNone/>
            </a:pPr>
            <a:r>
              <a:rPr lang="en-US" sz="1800" dirty="0">
                <a:latin typeface="+mj-lt"/>
              </a:rPr>
              <a:t>average percentage of points passing the criteria was quite high: the overall average was 97.9% with a standard deviation of the average of 2.5%. This corresponds to a confidence limit of 7.0%, which means that the percentage of points passing  criteria should exceed 93% approximately 95% of the time.</a:t>
            </a:r>
          </a:p>
          <a:p>
            <a:pPr marL="360" indent="0" algn="just">
              <a:lnSpc>
                <a:spcPct val="80000"/>
              </a:lnSpc>
              <a:buClr>
                <a:srgbClr val="800000"/>
              </a:buClr>
              <a:buNone/>
            </a:pPr>
            <a:r>
              <a:rPr lang="en-US" sz="1800" dirty="0">
                <a:latin typeface="+mj-lt"/>
              </a:rPr>
              <a:t>Should create local confidence limits based on tests, should not exceed TG-119 results</a:t>
            </a:r>
            <a:endParaRPr lang="en-US" dirty="0"/>
          </a:p>
          <a:p>
            <a:r>
              <a:rPr lang="en-US" dirty="0"/>
              <a:t>What about VMAT?</a:t>
            </a:r>
          </a:p>
        </p:txBody>
      </p:sp>
    </p:spTree>
    <p:extLst>
      <p:ext uri="{BB962C8B-B14F-4D97-AF65-F5344CB8AC3E}">
        <p14:creationId xmlns:p14="http://schemas.microsoft.com/office/powerpoint/2010/main" val="3952111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016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What about VMAT?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86" y="1792718"/>
            <a:ext cx="9896709" cy="477382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3741" y="1886465"/>
            <a:ext cx="10066637" cy="468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41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Question: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two Penn Physicists are authors on TG-119?</a:t>
            </a:r>
          </a:p>
        </p:txBody>
      </p:sp>
    </p:spTree>
    <p:extLst>
      <p:ext uri="{BB962C8B-B14F-4D97-AF65-F5344CB8AC3E}">
        <p14:creationId xmlns:p14="http://schemas.microsoft.com/office/powerpoint/2010/main" val="3078163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514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TG-119 Quiz</vt:lpstr>
      <vt:lpstr>Q1</vt:lpstr>
      <vt:lpstr>Q2</vt:lpstr>
      <vt:lpstr>Q3</vt:lpstr>
      <vt:lpstr>Q4</vt:lpstr>
      <vt:lpstr>Q5</vt:lpstr>
      <vt:lpstr>Q6</vt:lpstr>
      <vt:lpstr>Q7 cont. </vt:lpstr>
      <vt:lpstr>Q7</vt:lpstr>
      <vt:lpstr>Bonus Question: </vt:lpstr>
    </vt:vector>
  </TitlesOfParts>
  <Company>Penn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TG-119 Quiz</dc:title>
  <dc:creator>O'Reilly, Shannon</dc:creator>
  <cp:lastModifiedBy>Reyes Guevara, Elvia O</cp:lastModifiedBy>
  <cp:revision>16</cp:revision>
  <dcterms:created xsi:type="dcterms:W3CDTF">2019-10-17T13:17:12Z</dcterms:created>
  <dcterms:modified xsi:type="dcterms:W3CDTF">2024-11-21T14:29:31Z</dcterms:modified>
</cp:coreProperties>
</file>