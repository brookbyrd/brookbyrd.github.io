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66" r:id="rId5"/>
    <p:sldId id="257" r:id="rId6"/>
    <p:sldId id="259" r:id="rId7"/>
    <p:sldId id="263" r:id="rId8"/>
    <p:sldId id="260" r:id="rId9"/>
    <p:sldId id="264" r:id="rId10"/>
    <p:sldId id="261" r:id="rId11"/>
    <p:sldId id="269" r:id="rId12"/>
    <p:sldId id="265" r:id="rId13"/>
    <p:sldId id="262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2F738-68C2-4DFD-996E-C99176D1D8FA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E495C-5465-4F98-AE81-85D19F5C3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3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97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6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23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30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66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81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E495C-5465-4F98-AE81-85D19F5C31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8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4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6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4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2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9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7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8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6F080-C218-45FD-B982-273C2B9F1713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EF1E0-E677-49CE-BB96-257221D62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5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R1 Basic Planning Knowledge Factor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Yushi Chang</a:t>
            </a:r>
          </a:p>
          <a:p>
            <a:r>
              <a:rPr lang="en-US" dirty="0" smtClean="0"/>
              <a:t>09/30/2021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8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Radiation Physics	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Photon interactions</a:t>
            </a:r>
          </a:p>
          <a:p>
            <a:r>
              <a:rPr lang="en-US" dirty="0" smtClean="0"/>
              <a:t>Radiation equilibrium and charged particle equilibrium</a:t>
            </a:r>
          </a:p>
          <a:p>
            <a:r>
              <a:rPr lang="en-US" dirty="0" smtClean="0"/>
              <a:t>Cavity theory</a:t>
            </a:r>
          </a:p>
          <a:p>
            <a:r>
              <a:rPr lang="en-US" dirty="0" smtClean="0"/>
              <a:t>Detectors and dosimeters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5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661"/>
            <a:ext cx="10515600" cy="4788239"/>
          </a:xfrm>
        </p:spPr>
        <p:txBody>
          <a:bodyPr/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Collimator scatter factor/ in-air output ratio: ratio of output in air for a given field to that for a reference field at SAD.</a:t>
            </a:r>
          </a:p>
          <a:p>
            <a:r>
              <a:rPr lang="en-US" dirty="0" smtClean="0"/>
              <a:t>How to measure it, especially for small field size and high energy beam?</a:t>
            </a:r>
          </a:p>
          <a:p>
            <a:pPr lvl="1"/>
            <a:r>
              <a:rPr lang="en-US" dirty="0" smtClean="0"/>
              <a:t>Ion chamber with buildup cap fully covered by the field without penumbra (at least 1cm between the field edge and buildup cap)</a:t>
            </a:r>
          </a:p>
          <a:p>
            <a:pPr lvl="1"/>
            <a:r>
              <a:rPr lang="en-US" dirty="0" smtClean="0"/>
              <a:t>For small field size/high energy beam, use </a:t>
            </a:r>
            <a:r>
              <a:rPr lang="en-US" dirty="0" err="1" smtClean="0"/>
              <a:t>miniphantom</a:t>
            </a:r>
            <a:r>
              <a:rPr lang="en-US" dirty="0" smtClean="0"/>
              <a:t> or measure at distances larger than SAD and apply ISL. </a:t>
            </a:r>
          </a:p>
          <a:p>
            <a:r>
              <a:rPr lang="en-US" dirty="0" smtClean="0"/>
              <a:t>What is collimator inter-change effect and how does it affect </a:t>
            </a:r>
            <a:r>
              <a:rPr lang="en-US" dirty="0" err="1" smtClean="0"/>
              <a:t>Sc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Sc</a:t>
            </a:r>
            <a:r>
              <a:rPr lang="en-US" dirty="0" smtClean="0"/>
              <a:t> of 2*10 cm field would be different from that of 10*2 cm field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86" y="4322096"/>
            <a:ext cx="1186227" cy="199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661"/>
            <a:ext cx="10515600" cy="4788239"/>
          </a:xfrm>
        </p:spPr>
        <p:txBody>
          <a:bodyPr/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Phantom scatter factor: ratio of dose rate for a given field at a reference depth to that at the same point and depth for a reference field in phantom</a:t>
            </a:r>
          </a:p>
          <a:p>
            <a:r>
              <a:rPr lang="en-US" dirty="0" smtClean="0"/>
              <a:t>How to measure it, especially for small field size and high energy beam?</a:t>
            </a:r>
          </a:p>
          <a:p>
            <a:pPr lvl="1"/>
            <a:r>
              <a:rPr lang="en-US" dirty="0" smtClean="0"/>
              <a:t>Ion chamber with buildup cap fully covered by the field without penumbra (at least 1cm between the field edge and buildup cap)</a:t>
            </a:r>
          </a:p>
          <a:p>
            <a:pPr lvl="1"/>
            <a:r>
              <a:rPr lang="en-US" dirty="0" smtClean="0"/>
              <a:t>For small field size/high energy beam, use </a:t>
            </a:r>
            <a:r>
              <a:rPr lang="en-US" dirty="0" err="1" smtClean="0"/>
              <a:t>miniphantom</a:t>
            </a:r>
            <a:r>
              <a:rPr lang="en-US" dirty="0" smtClean="0"/>
              <a:t> or measure at distances larger than SAD and apply ISL. </a:t>
            </a:r>
          </a:p>
        </p:txBody>
      </p:sp>
    </p:spTree>
    <p:extLst>
      <p:ext uri="{BB962C8B-B14F-4D97-AF65-F5344CB8AC3E}">
        <p14:creationId xmlns:p14="http://schemas.microsoft.com/office/powerpoint/2010/main" val="371513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PDD</a:t>
            </a:r>
          </a:p>
          <a:p>
            <a:pPr lvl="1"/>
            <a:r>
              <a:rPr lang="en-US" dirty="0" smtClean="0"/>
              <a:t>Quotient of absorbed dose at depth </a:t>
            </a:r>
            <a:r>
              <a:rPr lang="en-US" i="1" dirty="0" smtClean="0"/>
              <a:t>d</a:t>
            </a:r>
            <a:r>
              <a:rPr lang="en-US" dirty="0" smtClean="0"/>
              <a:t> to that at a reference depth </a:t>
            </a:r>
            <a:r>
              <a:rPr lang="en-US" i="1" dirty="0" smtClean="0"/>
              <a:t>d</a:t>
            </a:r>
            <a:r>
              <a:rPr lang="en-US" i="1" baseline="-25000" dirty="0" smtClean="0"/>
              <a:t>0</a:t>
            </a:r>
            <a:r>
              <a:rPr lang="en-US" dirty="0" smtClean="0"/>
              <a:t> along the central axis, which should determined for a small field size (3*3 cm2) to minimize electron contamination. </a:t>
            </a:r>
          </a:p>
          <a:p>
            <a:r>
              <a:rPr lang="en-US" dirty="0" smtClean="0"/>
              <a:t>Factors affecting PDD</a:t>
            </a:r>
          </a:p>
          <a:p>
            <a:pPr lvl="1"/>
            <a:r>
              <a:rPr lang="en-US" dirty="0" smtClean="0"/>
              <a:t>Beam quality (energy)</a:t>
            </a:r>
          </a:p>
          <a:p>
            <a:pPr lvl="1"/>
            <a:r>
              <a:rPr lang="en-US" dirty="0" smtClean="0"/>
              <a:t>Depth </a:t>
            </a:r>
          </a:p>
          <a:p>
            <a:pPr lvl="1"/>
            <a:r>
              <a:rPr lang="en-US" dirty="0" smtClean="0"/>
              <a:t>Field size and shape</a:t>
            </a:r>
          </a:p>
          <a:p>
            <a:pPr lvl="1"/>
            <a:r>
              <a:rPr lang="en-US" dirty="0" smtClean="0"/>
              <a:t>SSD</a:t>
            </a:r>
          </a:p>
          <a:p>
            <a:pPr lvl="1"/>
            <a:r>
              <a:rPr lang="en-US" dirty="0" smtClean="0"/>
              <a:t>Beam collimation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78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" y="1529233"/>
            <a:ext cx="5710518" cy="30515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62" y="320494"/>
            <a:ext cx="10515600" cy="1325563"/>
          </a:xfrm>
        </p:spPr>
        <p:txBody>
          <a:bodyPr/>
          <a:lstStyle/>
          <a:p>
            <a:r>
              <a:rPr lang="en-US" dirty="0" smtClean="0"/>
              <a:t>PDD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8408" y="4897315"/>
            <a:ext cx="26657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SSD=100; Field size=10*10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Energy of each curve?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dmax</a:t>
            </a:r>
            <a:r>
              <a:rPr lang="en-US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Entrance dose?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Dose at 10 cm?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54" y="1494069"/>
            <a:ext cx="5724946" cy="3086722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2910254" y="1784838"/>
            <a:ext cx="17584" cy="2507703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66393" y="4897315"/>
            <a:ext cx="44899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Physics reason for build-up?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Combination of electrons depositing energy and photon attenuation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Another angle- transient equilibrium between KERMA and dose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86" y="4726033"/>
            <a:ext cx="2423414" cy="20566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86124" y="5912977"/>
            <a:ext cx="1745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How to estimate the depth of buildup region?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9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PDD	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1" t="43079" r="23498" b="1"/>
          <a:stretch/>
        </p:blipFill>
        <p:spPr>
          <a:xfrm>
            <a:off x="838200" y="1619458"/>
            <a:ext cx="4514992" cy="2861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4652219"/>
            <a:ext cx="105512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a sufficiently small field, what factor determines the PDD?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Attenuation of primary radiation</a:t>
            </a:r>
          </a:p>
          <a:p>
            <a:r>
              <a:rPr lang="en-US" dirty="0" smtClean="0"/>
              <a:t>As field size increases, what factor contributes to the PDD curve?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Scatter photons</a:t>
            </a:r>
          </a:p>
          <a:p>
            <a:r>
              <a:rPr lang="en-US" dirty="0" smtClean="0"/>
              <a:t>How does the field size dependence of PDD change with energy?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decreases with energy, because the scatter cross section decreases with increase in energy and higher-energy photons are scattered more prominently forward</a:t>
            </a:r>
          </a:p>
          <a:p>
            <a:endParaRPr lang="en-US" dirty="0"/>
          </a:p>
        </p:txBody>
      </p:sp>
      <p:pic>
        <p:nvPicPr>
          <p:cNvPr id="11" name="Content Placeholder 5"/>
          <p:cNvPicPr>
            <a:picLocks noChangeAspect="1"/>
          </p:cNvPicPr>
          <p:nvPr/>
        </p:nvPicPr>
        <p:blipFill rotWithShape="1">
          <a:blip r:embed="rId3"/>
          <a:srcRect l="77025" t="43079" r="4351" b="1"/>
          <a:stretch/>
        </p:blipFill>
        <p:spPr>
          <a:xfrm>
            <a:off x="5292307" y="1690688"/>
            <a:ext cx="940778" cy="2449025"/>
          </a:xfrm>
          <a:prstGeom prst="rect">
            <a:avLst/>
          </a:prstGeom>
        </p:spPr>
      </p:pic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492" y="1503144"/>
            <a:ext cx="3819738" cy="309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3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PDD	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53226" y="5098522"/>
            <a:ext cx="10551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is y axis?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does this figure indicate?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PDD increases with SSD as a result of inverse squire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is </a:t>
            </a:r>
            <a:r>
              <a:rPr lang="en-US" dirty="0" err="1" smtClean="0"/>
              <a:t>Mayneord</a:t>
            </a:r>
            <a:r>
              <a:rPr lang="en-US" dirty="0" smtClean="0"/>
              <a:t> factor? What’s it based on and what’s not considering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5127"/>
          <a:stretch/>
        </p:blipFill>
        <p:spPr>
          <a:xfrm>
            <a:off x="1037492" y="1456348"/>
            <a:ext cx="3868615" cy="35935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4608" y="1468227"/>
            <a:ext cx="4064172" cy="35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7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TAR</a:t>
            </a:r>
          </a:p>
          <a:p>
            <a:r>
              <a:rPr lang="en-US" dirty="0" smtClean="0"/>
              <a:t>Why is TAR SSD independent?</a:t>
            </a:r>
          </a:p>
          <a:p>
            <a:pPr lvl="1"/>
            <a:r>
              <a:rPr lang="en-US" dirty="0" smtClean="0"/>
              <a:t>Inverse square factor is cancelled out, attenuation only depends on depth, scatter is not obvious</a:t>
            </a:r>
          </a:p>
          <a:p>
            <a:r>
              <a:rPr lang="en-US" dirty="0" smtClean="0"/>
              <a:t>Variation with energy, depth and field size</a:t>
            </a:r>
          </a:p>
          <a:p>
            <a:pPr lvl="1"/>
            <a:r>
              <a:rPr lang="en-US" dirty="0" smtClean="0"/>
              <a:t>Pretty much like PDD</a:t>
            </a:r>
          </a:p>
          <a:p>
            <a:r>
              <a:rPr lang="en-US" dirty="0" smtClean="0"/>
              <a:t>What is backscatter factor?</a:t>
            </a:r>
          </a:p>
          <a:p>
            <a:pPr lvl="1"/>
            <a:r>
              <a:rPr lang="en-US" dirty="0" smtClean="0"/>
              <a:t>TAR at </a:t>
            </a:r>
            <a:r>
              <a:rPr lang="en-US" dirty="0" err="1" smtClean="0"/>
              <a:t>dmax</a:t>
            </a:r>
            <a:r>
              <a:rPr lang="en-US" dirty="0" smtClean="0"/>
              <a:t> 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66" y="632620"/>
            <a:ext cx="5174943" cy="2116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23" y="5315893"/>
            <a:ext cx="1581000" cy="7893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672" y="4616388"/>
            <a:ext cx="2714537" cy="1993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496" y="4616388"/>
            <a:ext cx="27146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7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 and PDD	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03177" y="1549195"/>
            <a:ext cx="5181600" cy="2458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626" y="2538595"/>
            <a:ext cx="4268701" cy="6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1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TPR/TMR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252"/>
            <a:ext cx="4988872" cy="431772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Definition</a:t>
            </a:r>
          </a:p>
          <a:p>
            <a:r>
              <a:rPr lang="en-US" dirty="0" smtClean="0"/>
              <a:t>How does </a:t>
            </a:r>
            <a:r>
              <a:rPr lang="en-US" dirty="0" err="1" smtClean="0"/>
              <a:t>dmax</a:t>
            </a:r>
            <a:r>
              <a:rPr lang="en-US" dirty="0" smtClean="0"/>
              <a:t> change with field size and SSD?</a:t>
            </a:r>
          </a:p>
          <a:p>
            <a:pPr lvl="1"/>
            <a:r>
              <a:rPr lang="en-US" dirty="0" err="1" smtClean="0"/>
              <a:t>dmax</a:t>
            </a:r>
            <a:r>
              <a:rPr lang="en-US" dirty="0" smtClean="0"/>
              <a:t> decreases with field size and increases with SSD, because electron contamination increases with field size and decreases with SSD</a:t>
            </a:r>
          </a:p>
          <a:p>
            <a:r>
              <a:rPr lang="en-US" dirty="0" smtClean="0"/>
              <a:t>For TMR, </a:t>
            </a:r>
            <a:r>
              <a:rPr lang="en-US" dirty="0"/>
              <a:t>r</a:t>
            </a:r>
            <a:r>
              <a:rPr lang="en-US" dirty="0" smtClean="0"/>
              <a:t>esearch shows that the scatter only depends on field size and the depth and is independent of divergence. So TMR is SSD independent</a:t>
            </a:r>
          </a:p>
          <a:p>
            <a:r>
              <a:rPr lang="en-US" dirty="0" smtClean="0"/>
              <a:t>TMR/TPR and PDD: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77" y="365125"/>
            <a:ext cx="5526728" cy="17566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447" y="2427975"/>
            <a:ext cx="2558344" cy="35270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591" y="2427975"/>
            <a:ext cx="2495550" cy="3514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52591" y="6084164"/>
            <a:ext cx="3914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beam energy is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What makes the curves different?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892" y="5572504"/>
            <a:ext cx="3696177" cy="6278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892" y="6200307"/>
            <a:ext cx="3458718" cy="67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9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SAR, SPR, SMR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SAR</a:t>
            </a:r>
          </a:p>
          <a:p>
            <a:pPr lvl="1"/>
            <a:r>
              <a:rPr lang="en-US" dirty="0" smtClean="0"/>
              <a:t>Ratio of scatter dose at a given point in the phantom to the dose in free space at the same point</a:t>
            </a:r>
          </a:p>
          <a:p>
            <a:pPr lvl="1"/>
            <a:r>
              <a:rPr lang="en-US" dirty="0" smtClean="0"/>
              <a:t>Mathematically, </a:t>
            </a:r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218" y="3048190"/>
            <a:ext cx="3478200" cy="4242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35" y="3803510"/>
            <a:ext cx="8458351" cy="20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8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Equivalent Field size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4704"/>
            <a:ext cx="10835936" cy="4351338"/>
          </a:xfrm>
        </p:spPr>
        <p:txBody>
          <a:bodyPr/>
          <a:lstStyle/>
          <a:p>
            <a:r>
              <a:rPr lang="en-US" dirty="0" smtClean="0"/>
              <a:t>Equivalent square?</a:t>
            </a:r>
          </a:p>
          <a:p>
            <a:r>
              <a:rPr lang="en-US" dirty="0" smtClean="0"/>
              <a:t>Equivalent circle?</a:t>
            </a:r>
          </a:p>
          <a:p>
            <a:r>
              <a:rPr lang="en-US" dirty="0" smtClean="0"/>
              <a:t>Irregular- Clarkson’s method. What’s the assumption? Where do we use it at Penn?</a:t>
            </a:r>
          </a:p>
          <a:p>
            <a:pPr lvl="2"/>
            <a:r>
              <a:rPr lang="en-US" dirty="0" smtClean="0"/>
              <a:t>Assume scattered dose can be calculated separately from the primary dose. </a:t>
            </a:r>
            <a:r>
              <a:rPr lang="en-US" dirty="0" err="1" smtClean="0"/>
              <a:t>RadCalc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451" y="3777312"/>
            <a:ext cx="2981969" cy="30303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833" y="4131521"/>
            <a:ext cx="4584901" cy="4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495" y="4624999"/>
            <a:ext cx="3162000" cy="5525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838" y="5292493"/>
            <a:ext cx="2331975" cy="4045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3838" y="5730058"/>
            <a:ext cx="4727351" cy="8416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8674" y="1555980"/>
            <a:ext cx="4433642" cy="8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6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 </a:t>
            </a:r>
            <a:r>
              <a:rPr lang="en-US" dirty="0" err="1" smtClean="0"/>
              <a:t>Calc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684" y="365125"/>
            <a:ext cx="6587232" cy="3329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178"/>
          <a:stretch/>
        </p:blipFill>
        <p:spPr>
          <a:xfrm>
            <a:off x="980293" y="3879542"/>
            <a:ext cx="7035451" cy="22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8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 </a:t>
            </a:r>
            <a:r>
              <a:rPr lang="en-US" dirty="0" err="1" smtClean="0"/>
              <a:t>Calc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684" y="365125"/>
            <a:ext cx="6587232" cy="3329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3178"/>
          <a:stretch/>
        </p:blipFill>
        <p:spPr>
          <a:xfrm>
            <a:off x="980293" y="3879542"/>
            <a:ext cx="7035451" cy="22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3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6311</TotalTime>
  <Words>650</Words>
  <Application>Microsoft Office PowerPoint</Application>
  <PresentationFormat>Widescreen</PresentationFormat>
  <Paragraphs>89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R1 Basic Planning Knowledge Factor</vt:lpstr>
      <vt:lpstr>Basics of Radiation Physics </vt:lpstr>
      <vt:lpstr>Sc</vt:lpstr>
      <vt:lpstr>Sp</vt:lpstr>
      <vt:lpstr>PDD </vt:lpstr>
      <vt:lpstr>PDD</vt:lpstr>
      <vt:lpstr>PDD </vt:lpstr>
      <vt:lpstr>PDD </vt:lpstr>
      <vt:lpstr>TAR </vt:lpstr>
      <vt:lpstr>TAR and PDD </vt:lpstr>
      <vt:lpstr>TPR/TMR</vt:lpstr>
      <vt:lpstr>SAR, SPR, SMR </vt:lpstr>
      <vt:lpstr>Equivalent Field size </vt:lpstr>
      <vt:lpstr>MU Calc</vt:lpstr>
      <vt:lpstr>MU Calc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 Basic Planning Knowledge Factor</dc:title>
  <dc:creator>Chang, Yushi</dc:creator>
  <cp:lastModifiedBy>Chang, Yushi</cp:lastModifiedBy>
  <cp:revision>31</cp:revision>
  <dcterms:created xsi:type="dcterms:W3CDTF">2021-09-30T14:41:40Z</dcterms:created>
  <dcterms:modified xsi:type="dcterms:W3CDTF">2021-10-12T16:57:46Z</dcterms:modified>
</cp:coreProperties>
</file>