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3" r:id="rId13"/>
    <p:sldId id="266" r:id="rId14"/>
    <p:sldId id="270" r:id="rId15"/>
    <p:sldId id="267" r:id="rId16"/>
    <p:sldId id="268" r:id="rId17"/>
    <p:sldId id="271" r:id="rId18"/>
    <p:sldId id="274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17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82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5E572-EA84-457D-AD45-86AA337C3470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0E288-E0C1-417E-AD20-83C66267F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84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8840C-5668-44BF-A739-12D6B21B5704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00E15-F408-497F-B55F-4C06F0E0E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84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10X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00E15-F408-497F-B55F-4C06F0E0E9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01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00E15-F408-497F-B55F-4C06F0E0E9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5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Co-60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00E15-F408-497F-B55F-4C06F0E0E9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51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00E15-F408-497F-B55F-4C06F0E0E9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37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10X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00E15-F408-497F-B55F-4C06F0E0E97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67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10X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00E15-F408-497F-B55F-4C06F0E0E9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50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10X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00E15-F408-497F-B55F-4C06F0E0E9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04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0544963E-12C6-4DAC-9EC3-75FD58CEFAE2}" type="datetimeFigureOut">
              <a:rPr lang="en-US" smtClean="0"/>
              <a:t>10/4/2016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F9C1CC95-14B6-458F-B0E6-FF15947A4DE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47800"/>
            <a:ext cx="8458200" cy="1470025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Dose Distributions and Defining Quantities</a:t>
            </a:r>
            <a:endParaRPr lang="en-US" sz="4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4800600"/>
            <a:ext cx="4953000" cy="1143000"/>
          </a:xfrm>
        </p:spPr>
        <p:txBody>
          <a:bodyPr/>
          <a:lstStyle/>
          <a:p>
            <a:pPr algn="ctr"/>
            <a:r>
              <a:rPr lang="en-US" dirty="0" smtClean="0"/>
              <a:t>Shannon O’Reilly</a:t>
            </a:r>
          </a:p>
          <a:p>
            <a:pPr algn="ctr"/>
            <a:r>
              <a:rPr lang="en-US" dirty="0" smtClean="0"/>
              <a:t>August 8</a:t>
            </a:r>
            <a:r>
              <a:rPr lang="en-US" baseline="30000" dirty="0" smtClean="0"/>
              <a:t>th</a:t>
            </a:r>
            <a:r>
              <a:rPr lang="en-US" dirty="0" smtClean="0"/>
              <a:t>,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63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Percent Depth Dose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50536"/>
              </a:xfrm>
            </p:spPr>
            <p:txBody>
              <a:bodyPr/>
              <a:lstStyle/>
              <a:p>
                <a:pPr marL="109728" indent="0" algn="ctr">
                  <a:buNone/>
                </a:pPr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PDD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𝒎𝒂𝒙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x 100</a:t>
                </a:r>
              </a:p>
              <a:p>
                <a:pPr>
                  <a:buClr>
                    <a:schemeClr val="accent4"/>
                  </a:buClr>
                </a:pPr>
                <a:endParaRPr lang="en-US" sz="1600" dirty="0" smtClean="0">
                  <a:solidFill>
                    <a:schemeClr val="accent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buClr>
                    <a:schemeClr val="accent4"/>
                  </a:buClr>
                </a:pPr>
                <a:endParaRPr lang="en-US" sz="1800" dirty="0" smtClean="0">
                  <a:solidFill>
                    <a:schemeClr val="accent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buClr>
                    <a:schemeClr val="accent4"/>
                  </a:buClr>
                </a:pPr>
                <a:r>
                  <a:rPr lang="en-US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Dependent on: 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Energy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Depth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SSD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Field size @ surface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Modifier</a:t>
                </a:r>
              </a:p>
              <a:p>
                <a:pPr lvl="1"/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5053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635" y="2667000"/>
            <a:ext cx="4038600" cy="352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6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PDD Energy Dependence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marL="109728" indent="0" algn="ctr">
              <a:buNone/>
            </a:pP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PDD 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 as Energy  (beyond D</a:t>
            </a:r>
            <a:r>
              <a:rPr lang="en-US" b="1" baseline="-25000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max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)</a:t>
            </a:r>
          </a:p>
          <a:p>
            <a:pPr marL="109728" indent="0" algn="ctr">
              <a:buNone/>
            </a:pP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Decreased beam attenuation</a:t>
            </a:r>
            <a:endParaRPr lang="en-US" b="1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chemeClr val="accent4"/>
              </a:buClr>
            </a:pPr>
            <a:endParaRPr lang="en-US" sz="1600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chemeClr val="accent4"/>
              </a:buClr>
            </a:pPr>
            <a:endParaRPr lang="en-US" sz="1800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710400"/>
            <a:ext cx="7239000" cy="394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3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PDD Depth Dependence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marL="109728" indent="0" algn="ctr">
              <a:buNone/>
            </a:pP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PDD 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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 as Depth  (beyond D</a:t>
            </a:r>
            <a:r>
              <a:rPr lang="en-US" b="1" baseline="-25000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max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)</a:t>
            </a:r>
            <a:endParaRPr lang="en-US" b="1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chemeClr val="accent4"/>
              </a:buClr>
            </a:pPr>
            <a:endParaRPr lang="en-US" sz="1600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chemeClr val="accent4"/>
              </a:buClr>
            </a:pPr>
            <a:endParaRPr lang="en-US" sz="1800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360" y="2362200"/>
            <a:ext cx="4968240" cy="420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9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PDD Field Size Dependence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marL="109728" indent="0" algn="ctr">
              <a:buNone/>
            </a:pP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PDD and Surface Dose 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 as FS </a:t>
            </a:r>
          </a:p>
          <a:p>
            <a:pPr marL="109728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D</a:t>
            </a:r>
            <a:r>
              <a:rPr lang="en-US" b="1" baseline="-25000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max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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as 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FS </a:t>
            </a:r>
          </a:p>
          <a:p>
            <a:pPr marL="109728" indent="0" algn="ctr">
              <a:buNone/>
            </a:pPr>
            <a:r>
              <a:rPr lang="en-US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Increased scatter contribution</a:t>
            </a:r>
          </a:p>
          <a:p>
            <a:pPr marL="109728" indent="0">
              <a:buClr>
                <a:schemeClr val="accent4"/>
              </a:buClr>
              <a:buNone/>
            </a:pPr>
            <a:endParaRPr lang="en-US" sz="1800" b="1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09728" indent="0">
              <a:buClr>
                <a:schemeClr val="accent4"/>
              </a:buClr>
              <a:buNone/>
            </a:pPr>
            <a:r>
              <a:rPr lang="en-US" sz="1800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6X				             18X</a:t>
            </a:r>
            <a:endParaRPr lang="en-US" b="1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"/>
          <a:stretch/>
        </p:blipFill>
        <p:spPr bwMode="auto">
          <a:xfrm>
            <a:off x="175437" y="3581400"/>
            <a:ext cx="4419600" cy="278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714234"/>
            <a:ext cx="3689106" cy="2651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18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PDD Modifier Dependence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2664"/>
            <a:ext cx="8229600" cy="5050536"/>
          </a:xfrm>
        </p:spPr>
        <p:txBody>
          <a:bodyPr/>
          <a:lstStyle/>
          <a:p>
            <a:pPr marL="109728" indent="0" algn="ctr">
              <a:buNone/>
            </a:pP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PDD 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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with modifier use</a:t>
            </a:r>
          </a:p>
          <a:p>
            <a:pPr marL="109728" indent="0" algn="ctr">
              <a:buNone/>
            </a:pP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Surface dose can  with fixed wedge due to reduce electron contamination </a:t>
            </a:r>
          </a:p>
          <a:p>
            <a:pPr marL="109728" indent="0" algn="ctr">
              <a:buNone/>
            </a:pPr>
            <a:endParaRPr lang="en-US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138" y="2951376"/>
            <a:ext cx="5853723" cy="386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823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PDD SSD Dependence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50536"/>
          </a:xfrm>
        </p:spPr>
        <p:txBody>
          <a:bodyPr/>
          <a:lstStyle/>
          <a:p>
            <a:pPr marL="109728" indent="0" algn="ctr">
              <a:buNone/>
            </a:pP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PDD 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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with SSD </a:t>
            </a:r>
            <a:r>
              <a:rPr lang="en-US" b="1" dirty="0" smtClean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</a:t>
            </a:r>
          </a:p>
          <a:p>
            <a:pPr marL="109728" indent="0" algn="ctr">
              <a:buNone/>
            </a:pPr>
            <a:endParaRPr lang="en-US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09728" indent="0" algn="ctr">
              <a:buNone/>
            </a:pPr>
            <a:endParaRPr lang="en-US" dirty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09728" indent="0" algn="ctr">
              <a:buNone/>
            </a:pPr>
            <a:endParaRPr lang="en-US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09728" indent="0" algn="ctr">
              <a:buNone/>
            </a:pPr>
            <a:endParaRPr lang="en-US" dirty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09728" indent="0" algn="ctr">
              <a:buNone/>
            </a:pPr>
            <a:endParaRPr lang="en-US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Decreasing effect of depth on inverse square factor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Clinical tables tabulated for 100 SSD so convert using the </a:t>
            </a:r>
            <a:r>
              <a:rPr lang="en-US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Mayneord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F Factor</a:t>
            </a: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862563"/>
            <a:ext cx="4114800" cy="874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1905000"/>
            <a:ext cx="3581400" cy="223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6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Tissue Air Ratio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50536"/>
              </a:xfrm>
            </p:spPr>
            <p:txBody>
              <a:bodyPr/>
              <a:lstStyle/>
              <a:p>
                <a:pPr marL="109728" indent="0" algn="ctr">
                  <a:buNone/>
                </a:pPr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TAR (</a:t>
                </a:r>
                <a:r>
                  <a:rPr lang="en-US" b="1" dirty="0" err="1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</a:t>
                </a:r>
                <a:r>
                  <a:rPr lang="en-US" b="1" dirty="0" err="1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,r</a:t>
                </a:r>
                <a:r>
                  <a:rPr lang="en-US" b="1" baseline="-25000" dirty="0" err="1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</a:t>
                </a:r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𝒇</m:t>
                            </m:r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𝒔</m:t>
                            </m:r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.</m:t>
                            </m:r>
                          </m:sub>
                        </m:sSub>
                      </m:den>
                    </m:f>
                  </m:oMath>
                </a14:m>
                <a:endParaRPr lang="en-US" b="1" dirty="0" smtClean="0">
                  <a:solidFill>
                    <a:schemeClr val="accent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109728" indent="0">
                  <a:buClr>
                    <a:schemeClr val="accent4"/>
                  </a:buClr>
                  <a:buNone/>
                </a:pPr>
                <a:endParaRPr lang="en-US" sz="1800" dirty="0" smtClean="0">
                  <a:solidFill>
                    <a:schemeClr val="accent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buClr>
                    <a:schemeClr val="accent4"/>
                  </a:buClr>
                </a:pPr>
                <a:r>
                  <a:rPr lang="en-US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Function of depth and field size @ depth</a:t>
                </a:r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5053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276600"/>
            <a:ext cx="5782633" cy="349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1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Backscatter Factor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0"/>
                <a:ext cx="4648200" cy="5126736"/>
              </a:xfrm>
            </p:spPr>
            <p:txBody>
              <a:bodyPr>
                <a:normAutofit lnSpcReduction="10000"/>
              </a:bodyPr>
              <a:lstStyle/>
              <a:p>
                <a:pPr marL="109728" indent="0" algn="ctr">
                  <a:buNone/>
                </a:pPr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BSF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𝒎𝒂𝒙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𝒇</m:t>
                            </m:r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𝒔</m:t>
                            </m:r>
                            <m:r>
                              <a:rPr lang="en-US" b="1" i="1" smtClean="0">
                                <a:solidFill>
                                  <a:schemeClr val="accent2"/>
                                </a:solidFill>
                                <a:latin typeface="Cambria Math"/>
                              </a:rPr>
                              <m:t>.</m:t>
                            </m:r>
                          </m:sub>
                        </m:sSub>
                      </m:den>
                    </m:f>
                  </m:oMath>
                </a14:m>
                <a:endParaRPr lang="en-US" b="1" dirty="0" smtClean="0">
                  <a:solidFill>
                    <a:schemeClr val="accent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109728" indent="0">
                  <a:buClr>
                    <a:schemeClr val="accent4"/>
                  </a:buClr>
                  <a:buNone/>
                </a:pPr>
                <a:endParaRPr lang="en-US" sz="1000" dirty="0" smtClean="0">
                  <a:solidFill>
                    <a:schemeClr val="accent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BSF = TAR(</a:t>
                </a:r>
                <a:r>
                  <a:rPr lang="en-US" dirty="0" err="1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d</a:t>
                </a:r>
                <a:r>
                  <a:rPr lang="en-US" baseline="-25000" dirty="0" err="1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max</a:t>
                </a:r>
                <a:r>
                  <a:rPr lang="en-US" dirty="0" err="1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,r</a:t>
                </a:r>
                <a:r>
                  <a:rPr lang="en-US" baseline="-25000" dirty="0" err="1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dmax</a:t>
                </a:r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)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BSF </a:t>
                </a:r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  <a:sym typeface="Symbol"/>
                  </a:rPr>
                  <a:t> as FS  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  <a:sym typeface="Symbol"/>
                  </a:rPr>
                  <a:t>BSF  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  <a:sym typeface="Symbol"/>
                  </a:rPr>
                  <a:t>as Energy </a:t>
                </a:r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  <a:sym typeface="Symbol"/>
                  </a:rPr>
                  <a:t> until reaches a max ~0.8-1 mm Cu HVL then BSF  as Energy </a:t>
                </a:r>
              </a:p>
              <a:p>
                <a:pPr lvl="2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  <a:sym typeface="Symbol"/>
                  </a:rPr>
                  <a:t>Due to contrib. of backscattering and scattered photon penetration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  <a:sym typeface="Symbol"/>
                  </a:rPr>
                  <a:t>AKA PSF</a:t>
                </a:r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0"/>
                <a:ext cx="4648200" cy="5126736"/>
              </a:xfrm>
              <a:blipFill rotWithShape="0">
                <a:blip r:embed="rId2"/>
                <a:stretch>
                  <a:fillRect t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178" y="1156809"/>
            <a:ext cx="3243793" cy="2260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626975"/>
            <a:ext cx="3788143" cy="281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6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Scatter Air Factor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50536"/>
              </a:xfrm>
            </p:spPr>
            <p:txBody>
              <a:bodyPr/>
              <a:lstStyle/>
              <a:p>
                <a:pPr marL="109728" indent="0" algn="ctr">
                  <a:buNone/>
                </a:pPr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SAR(d,</a:t>
                </a:r>
                <a:r>
                  <a:rPr lang="en-US" b="1" dirty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b="1" dirty="0" err="1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r</a:t>
                </a:r>
                <a:r>
                  <a:rPr lang="en-US" b="1" baseline="-25000" dirty="0" err="1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</a:t>
                </a:r>
                <a:r>
                  <a:rPr lang="en-US" b="1" dirty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) </a:t>
                </a:r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= </a:t>
                </a:r>
                <a:r>
                  <a:rPr lang="en-US" b="1" dirty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TAR (</a:t>
                </a:r>
                <a:r>
                  <a:rPr lang="en-US" b="1" dirty="0" err="1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d,r</a:t>
                </a:r>
                <a:r>
                  <a:rPr lang="en-US" b="1" baseline="-25000" dirty="0" err="1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</a:t>
                </a:r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) - </a:t>
                </a:r>
                <a:r>
                  <a:rPr lang="en-US" b="1" dirty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TAR (</a:t>
                </a:r>
                <a:r>
                  <a:rPr lang="en-US" b="1" dirty="0" smtClean="0">
                    <a:solidFill>
                      <a:schemeClr val="accent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d,0) </a:t>
                </a:r>
              </a:p>
              <a:p>
                <a:pPr marL="109728" indent="0">
                  <a:buClr>
                    <a:schemeClr val="accent4"/>
                  </a:buClr>
                  <a:buNone/>
                </a:pPr>
                <a:endParaRPr lang="en-US" sz="1800" dirty="0" smtClean="0">
                  <a:solidFill>
                    <a:schemeClr val="accent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Ratio of scatter dose to a point to dose in free space at same point</a:t>
                </a:r>
              </a:p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Independence from SSD – assumption scatter contrib. is independent of beam divergence,  dependent on depth and FS @ depth</a:t>
                </a:r>
              </a:p>
              <a:p>
                <a:pPr marL="411480" lvl="1" indent="0">
                  <a:buNone/>
                </a:pPr>
                <a:endParaRPr lang="en-US" b="1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411480" lvl="1" indent="0" algn="ctr">
                  <a:buNone/>
                </a:pPr>
                <a:r>
                  <a:rPr lang="en-US" b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TAR </a:t>
                </a:r>
                <a:r>
                  <a:rPr lang="en-US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(d,0) </a:t>
                </a:r>
                <a:r>
                  <a:rPr lang="en-US" b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/>
                            <a:cs typeface="Helvetica" panose="020B0604020202020204" pitchFamily="34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latin typeface="Cambria Math"/>
                            <a:cs typeface="Helvetica" panose="020B0604020202020204" pitchFamily="34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/>
                                <a:ea typeface="Cambria Math"/>
                                <a:cs typeface="Helvetica" panose="020B0604020202020204" pitchFamily="34" charset="0"/>
                              </a:rPr>
                              <m:t>𝝁</m:t>
                            </m:r>
                          </m:e>
                        </m:acc>
                        <m:r>
                          <a:rPr lang="en-US" b="1" i="1" smtClean="0">
                            <a:latin typeface="Cambria Math"/>
                            <a:ea typeface="Cambria Math"/>
                            <a:cs typeface="Helvetica" panose="020B0604020202020204" pitchFamily="34" charset="0"/>
                          </a:rPr>
                          <m:t> (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  <a:cs typeface="Helvetica" panose="020B0604020202020204" pitchFamily="34" charset="0"/>
                          </a:rPr>
                          <m:t>𝒅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  <a:cs typeface="Helvetica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/>
                                <a:cs typeface="Helvetica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  <a:ea typeface="Cambria Math"/>
                                <a:cs typeface="Helvetica" panose="020B0604020202020204" pitchFamily="34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/>
                                <a:ea typeface="Cambria Math"/>
                                <a:cs typeface="Helvetica" panose="020B0604020202020204" pitchFamily="34" charset="0"/>
                              </a:rPr>
                              <m:t>𝒎𝒂𝒙</m:t>
                            </m:r>
                          </m:sub>
                        </m:sSub>
                        <m:r>
                          <a:rPr lang="en-US" b="1" i="1" smtClean="0">
                            <a:latin typeface="Cambria Math"/>
                            <a:ea typeface="Cambria Math"/>
                            <a:cs typeface="Helvetica" panose="020B0604020202020204" pitchFamily="34" charset="0"/>
                          </a:rPr>
                          <m:t>)</m:t>
                        </m:r>
                      </m:sup>
                    </m:sSup>
                  </m:oMath>
                </a14:m>
                <a:endParaRPr lang="en-US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411480" lvl="1" indent="0">
                  <a:buNone/>
                </a:pPr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/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50536"/>
              </a:xfrm>
              <a:blipFill rotWithShape="1">
                <a:blip r:embed="rId2"/>
                <a:stretch>
                  <a:fillRect t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79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PDD to TAR conversion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57400"/>
            <a:ext cx="7010400" cy="1199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42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Clarkson 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marL="2057400" lvl="8" indent="0">
              <a:buNone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</a:t>
            </a:r>
          </a:p>
          <a:p>
            <a:pPr marL="2057400" lvl="8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  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44" y="1371600"/>
            <a:ext cx="5181600" cy="55077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Irregular fields</a:t>
            </a: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371600"/>
            <a:ext cx="4393378" cy="44796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81200"/>
            <a:ext cx="3966496" cy="6964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55" y="2882637"/>
            <a:ext cx="4248945" cy="3520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20" y="3439670"/>
            <a:ext cx="3631456" cy="273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8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Collimator Scatter Factor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57400"/>
            <a:ext cx="3181968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1752600"/>
            <a:ext cx="5715000" cy="50505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Clr>
                <a:schemeClr val="accent4"/>
              </a:buClr>
              <a:buFont typeface="Georgia"/>
              <a:buNone/>
            </a:pPr>
            <a:endParaRPr lang="en-US" sz="1800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Ratio of the output in air for a given field to that for ref field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SSD independent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Need maximum dose build-up 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FS large enough to cover phantom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Difficult to measure small FS’s (extended SSDs then convert to nominal SSD)</a:t>
            </a: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962400" y="5867400"/>
            <a:ext cx="5715000" cy="50505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>
              <a:buNone/>
            </a:pPr>
            <a:r>
              <a:rPr lang="en-US" sz="1600" dirty="0" smtClean="0">
                <a:solidFill>
                  <a:srgbClr val="00B0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Sufficient cross section = lateral scatter equilibrium</a:t>
            </a:r>
          </a:p>
          <a:p>
            <a:pPr marL="411480" lvl="1" indent="0">
              <a:buNone/>
            </a:pPr>
            <a:r>
              <a:rPr lang="en-US" sz="1600" dirty="0" smtClean="0">
                <a:solidFill>
                  <a:srgbClr val="00B0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Sufficient thickness = make electron contamination negligible</a:t>
            </a:r>
            <a:endParaRPr lang="en-US" sz="1600" dirty="0">
              <a:solidFill>
                <a:srgbClr val="00B0F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92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Collimator Exchange Effect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600" y="2209800"/>
            <a:ext cx="4572000" cy="45933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Clr>
                <a:schemeClr val="accent4"/>
              </a:buClr>
              <a:buFont typeface="Georgia"/>
              <a:buNone/>
            </a:pPr>
            <a:endParaRPr lang="en-US" sz="1800" dirty="0" smtClean="0">
              <a:solidFill>
                <a:schemeClr val="accent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Due to different source views and backscatter into monitor chamber</a:t>
            </a:r>
          </a:p>
          <a:p>
            <a:pPr lvl="1"/>
            <a:r>
              <a:rPr lang="en-US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baseline="-250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a,b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 </a:t>
            </a:r>
            <a:r>
              <a:rPr lang="en-US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baseline="-250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b,a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Typically &lt;2% effect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133599"/>
            <a:ext cx="4343400" cy="3390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479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Phantom Scatter Factor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100" y="1676400"/>
            <a:ext cx="8229600" cy="5050536"/>
          </a:xfrm>
        </p:spPr>
        <p:txBody>
          <a:bodyPr/>
          <a:lstStyle/>
          <a:p>
            <a:pPr marL="2057400" lvl="8" indent="0">
              <a:buNone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</a:t>
            </a:r>
          </a:p>
          <a:p>
            <a:pPr marL="2057400" lvl="8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  </a:t>
            </a:r>
            <a:r>
              <a:rPr lang="en-US" dirty="0" err="1" smtClean="0">
                <a:solidFill>
                  <a:schemeClr val="accent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</a:t>
            </a:r>
            <a:r>
              <a:rPr lang="en-US" dirty="0" smtClean="0">
                <a:solidFill>
                  <a:schemeClr val="accent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setup                          </a:t>
            </a:r>
            <a:r>
              <a:rPr lang="en-US" dirty="0" err="1" smtClean="0">
                <a:solidFill>
                  <a:schemeClr val="accent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Sc,p</a:t>
            </a:r>
            <a:r>
              <a:rPr lang="en-US" dirty="0" smtClean="0">
                <a:solidFill>
                  <a:schemeClr val="accent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setup</a:t>
            </a: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58271" y="1524000"/>
                <a:ext cx="4648200" cy="5050536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300"/>
                  </a:spcBef>
                  <a:buClr>
                    <a:schemeClr val="accent3"/>
                  </a:buClr>
                  <a:buFont typeface="Georgia"/>
                  <a:buChar char="•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246888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Font typeface="Georgia"/>
                  <a:buChar char="▫"/>
                  <a:defRPr kumimoji="0" sz="2600" kern="12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lvl2pPr>
                <a:lvl3pPr marL="923544" indent="-219456" algn="l" rtl="0" eaLnBrk="1" latinLnBrk="0" hangingPunct="1">
                  <a:spcBef>
                    <a:spcPts val="300"/>
                  </a:spcBef>
                  <a:buClr>
                    <a:schemeClr val="accent1"/>
                  </a:buClr>
                  <a:buFont typeface="Wingdings 2"/>
                  <a:buChar char=""/>
                  <a:defRPr kumimoji="0" sz="24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179576" indent="-201168" algn="l" rtl="0" eaLnBrk="1" latinLnBrk="0" hangingPunct="1">
                  <a:spcBef>
                    <a:spcPts val="300"/>
                  </a:spcBef>
                  <a:buClr>
                    <a:schemeClr val="accent1"/>
                  </a:buClr>
                  <a:buFont typeface="Wingdings 2"/>
                  <a:buChar char=""/>
                  <a:defRPr kumimoji="0"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389888" indent="-182880" algn="l" rtl="0" eaLnBrk="1" latinLnBrk="0" hangingPunct="1">
                  <a:spcBef>
                    <a:spcPts val="300"/>
                  </a:spcBef>
                  <a:buClr>
                    <a:schemeClr val="accent3"/>
                  </a:buClr>
                  <a:buFont typeface="Georgia"/>
                  <a:buChar char="▫"/>
                  <a:defRPr kumimoji="0" sz="20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5pPr>
                <a:lvl6pPr marL="1609344" indent="-182880" algn="l" rtl="0" eaLnBrk="1" latinLnBrk="0" hangingPunct="1">
                  <a:spcBef>
                    <a:spcPts val="300"/>
                  </a:spcBef>
                  <a:buClr>
                    <a:schemeClr val="accent3"/>
                  </a:buClr>
                  <a:buFont typeface="Georgia"/>
                  <a:buChar char="▫"/>
                  <a:defRPr kumimoji="0"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chemeClr val="accent3"/>
                  </a:buClr>
                  <a:buFont typeface="Georgia"/>
                  <a:buChar char="▫"/>
                  <a:defRPr kumimoji="0" sz="16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7pPr>
                <a:lvl8pPr marL="2029968" indent="-182880" algn="l" rtl="0" eaLnBrk="1" latinLnBrk="0" hangingPunct="1">
                  <a:spcBef>
                    <a:spcPts val="300"/>
                  </a:spcBef>
                  <a:buClr>
                    <a:schemeClr val="accent3"/>
                  </a:buClr>
                  <a:buFont typeface="Georgia"/>
                  <a:buChar char="◦"/>
                  <a:defRPr kumimoji="0" sz="15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8pPr>
                <a:lvl9pPr marL="2240280" indent="-182880" algn="l" rtl="0" eaLnBrk="1" latinLnBrk="0" hangingPunct="1">
                  <a:spcBef>
                    <a:spcPts val="300"/>
                  </a:spcBef>
                  <a:buClr>
                    <a:schemeClr val="accent3"/>
                  </a:buClr>
                  <a:buFont typeface="Georgia"/>
                  <a:buChar char="◦"/>
                  <a:defRPr kumimoji="0" sz="1400" kern="1200" baseline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Ratio of dose rate for a given field at ref depth to the dose rate at same depth for ref field size (fixed collimator opening)</a:t>
                </a:r>
              </a:p>
              <a:p>
                <a:pPr lvl="1"/>
                <a:r>
                  <a:rPr lang="en-US" dirty="0" err="1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S</a:t>
                </a:r>
                <a:r>
                  <a:rPr lang="en-US" baseline="-25000" dirty="0" err="1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p</a:t>
                </a:r>
                <a:r>
                  <a:rPr lang="en-US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(r)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cs typeface="Helvetica" panose="020B060402020202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cs typeface="Helvetica" panose="020B0604020202020204" pitchFamily="34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/>
                                <a:cs typeface="Helvetica" panose="020B0604020202020204" pitchFamily="34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  <a:cs typeface="Helvetica" panose="020B0604020202020204" pitchFamily="34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  <a:cs typeface="Helvetica" panose="020B0604020202020204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  <a:cs typeface="Helvetica" panose="020B0604020202020204" pitchFamily="34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/>
                            <a:cs typeface="Helvetica" panose="020B0604020202020204" pitchFamily="34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cs typeface="Helvetica" panose="020B060402020202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cs typeface="Helvetica" panose="020B0604020202020204" pitchFamily="34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  <a:cs typeface="Helvetica" panose="020B0604020202020204" pitchFamily="34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  <a:cs typeface="Helvetica" panose="020B0604020202020204" pitchFamily="34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/>
                            <a:cs typeface="Helvetica" panose="020B06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1" y="1524000"/>
                <a:ext cx="4648200" cy="5050536"/>
              </a:xfrm>
              <a:prstGeom prst="rect">
                <a:avLst/>
              </a:prstGeom>
              <a:blipFill rotWithShape="0">
                <a:blip r:embed="rId3"/>
                <a:stretch>
                  <a:fillRect t="-1086" r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471" y="2284240"/>
            <a:ext cx="4233672" cy="32116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lum bright="-20000" contrast="40000"/>
          </a:blip>
          <a:stretch>
            <a:fillRect/>
          </a:stretch>
        </p:blipFill>
        <p:spPr>
          <a:xfrm>
            <a:off x="658726" y="4304109"/>
            <a:ext cx="3870602" cy="228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1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Tissue Phantom Ratio  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marL="2057400" lvl="8" indent="0">
              <a:buNone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</a:t>
            </a:r>
          </a:p>
          <a:p>
            <a:pPr marL="2057400" lvl="8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  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5181600" cy="55077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Ratio of dose at a given point in a phantom to dose at the same point at fixed ref depth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TMR(d,0) steepest drop, caused entirely by primary beam</a:t>
            </a: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191000"/>
            <a:ext cx="4171492" cy="24353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600200"/>
            <a:ext cx="3463332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5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Beam Profiles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marL="2057400" lvl="8" indent="0">
              <a:buNone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</a:t>
            </a:r>
          </a:p>
          <a:p>
            <a:pPr marL="2057400" lvl="8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  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44" y="1371600"/>
            <a:ext cx="5181600" cy="55077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Penumbra depends on: collimators, focal spot size, lateral electronic disequilibrium</a:t>
            </a:r>
          </a:p>
          <a:p>
            <a:pPr lvl="2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Geometric (source size)</a:t>
            </a:r>
          </a:p>
          <a:p>
            <a:pPr lvl="2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Transmission (collimators)</a:t>
            </a:r>
          </a:p>
          <a:p>
            <a:pPr lvl="2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Scatter (in-patient)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lang="en-US" baseline="-25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20-80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Co-60 ~10-15 mm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lang="en-US" baseline="-25000" dirty="0">
                <a:latin typeface="Helvetica" panose="020B0604020202020204" pitchFamily="34" charset="0"/>
                <a:cs typeface="Helvetica" panose="020B0604020202020204" pitchFamily="34" charset="0"/>
              </a:rPr>
              <a:t>20-80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LINAC ~6mm (@d</a:t>
            </a:r>
            <a:r>
              <a:rPr lang="en-US" baseline="-25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max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lvl="2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Larger than predicted (based on source size) due to flattening filter (broaden)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3508"/>
          <a:stretch/>
        </p:blipFill>
        <p:spPr>
          <a:xfrm>
            <a:off x="4724400" y="1295400"/>
            <a:ext cx="4192226" cy="34283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292" y="5257800"/>
            <a:ext cx="3155508" cy="1084886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5791200" y="5105400"/>
            <a:ext cx="5181600" cy="55077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>
              <a:buNone/>
            </a:pPr>
            <a:r>
              <a:rPr lang="en-US" sz="2400" dirty="0" smtClean="0">
                <a:solidFill>
                  <a:schemeClr val="accent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Cobalt-60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6000" y="990600"/>
            <a:ext cx="5181600" cy="55077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>
              <a:buNone/>
            </a:pPr>
            <a:r>
              <a:rPr lang="en-US" sz="2400" dirty="0" smtClean="0">
                <a:solidFill>
                  <a:schemeClr val="accent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10X</a:t>
            </a:r>
          </a:p>
        </p:txBody>
      </p:sp>
    </p:spTree>
    <p:extLst>
      <p:ext uri="{BB962C8B-B14F-4D97-AF65-F5344CB8AC3E}">
        <p14:creationId xmlns:p14="http://schemas.microsoft.com/office/powerpoint/2010/main" val="136991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Beam Profiles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0536"/>
          </a:xfrm>
        </p:spPr>
        <p:txBody>
          <a:bodyPr/>
          <a:lstStyle/>
          <a:p>
            <a:pPr marL="2057400" lvl="8" indent="0">
              <a:buNone/>
            </a:pP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</a:t>
            </a:r>
          </a:p>
          <a:p>
            <a:pPr marL="2057400" lvl="8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                               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44" y="1371600"/>
            <a:ext cx="4720856" cy="5507736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Central region (</a:t>
            </a:r>
            <a:r>
              <a:rPr lang="en-US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linacs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 depends on: electron </a:t>
            </a:r>
            <a:b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energy impinging target, target atomic number, flattening filter atomic number and shape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Beam divergence causes profiles to become wider with depth</a:t>
            </a: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Horns gradually decrease w/ depth – in scatter/out-scatter imbalance at beam edge, softer beam quality away from central axis (flattening filter shape)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3508"/>
          <a:stretch/>
        </p:blipFill>
        <p:spPr>
          <a:xfrm>
            <a:off x="4752753" y="2078665"/>
            <a:ext cx="4192226" cy="3428380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6096000" y="1600200"/>
            <a:ext cx="5181600" cy="48981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>
              <a:buNone/>
            </a:pPr>
            <a:r>
              <a:rPr lang="en-US" sz="2400" dirty="0" smtClean="0">
                <a:solidFill>
                  <a:schemeClr val="accent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10X</a:t>
            </a:r>
          </a:p>
        </p:txBody>
      </p:sp>
    </p:spTree>
    <p:extLst>
      <p:ext uri="{BB962C8B-B14F-4D97-AF65-F5344CB8AC3E}">
        <p14:creationId xmlns:p14="http://schemas.microsoft.com/office/powerpoint/2010/main" val="52158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Flatness and Symmetry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44" y="1371600"/>
            <a:ext cx="8226056" cy="55077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Flatness</a:t>
            </a:r>
          </a:p>
          <a:p>
            <a:pPr lvl="2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Measured with central 80%</a:t>
            </a:r>
          </a:p>
          <a:p>
            <a:pPr lvl="2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Less than 3% (d=10cm, SSD=100cm, largest FS)</a:t>
            </a:r>
          </a:p>
          <a:p>
            <a:pPr lvl="3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Causes over-flattening at dmax (horns), 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under-flattening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depths beyond 10 cm due to lower beam effective energy in off-axis directions</a:t>
            </a: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Symmetry</a:t>
            </a:r>
          </a:p>
          <a:p>
            <a:pPr lvl="2"/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Within 2% (d=</a:t>
            </a:r>
            <a:r>
              <a:rPr lang="en-US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dmax</a:t>
            </a:r>
            <a:r>
              <a:rPr lang="en-US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971" y="3624382"/>
            <a:ext cx="2948058" cy="10021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342" y="5547164"/>
            <a:ext cx="3761315" cy="117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46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Custom 21">
      <a:dk1>
        <a:srgbClr val="EB641B"/>
      </a:dk1>
      <a:lt1>
        <a:sysClr val="window" lastClr="FFFFFF"/>
      </a:lt1>
      <a:dk2>
        <a:srgbClr val="2A4A75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456</TotalTime>
  <Words>483</Words>
  <Application>Microsoft Office PowerPoint</Application>
  <PresentationFormat>On-screen Show (4:3)</PresentationFormat>
  <Paragraphs>133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Cambria Math</vt:lpstr>
      <vt:lpstr>Georgia</vt:lpstr>
      <vt:lpstr>Helvetica</vt:lpstr>
      <vt:lpstr>Symbol</vt:lpstr>
      <vt:lpstr>Trebuchet MS</vt:lpstr>
      <vt:lpstr>Wingdings 2</vt:lpstr>
      <vt:lpstr>Urban</vt:lpstr>
      <vt:lpstr>Dose Distributions and Defining Quantities</vt:lpstr>
      <vt:lpstr>Percent Depth Dose</vt:lpstr>
      <vt:lpstr>PDD Energy Dependence</vt:lpstr>
      <vt:lpstr>PDD Depth Dependence</vt:lpstr>
      <vt:lpstr>PDD Field Size Dependence</vt:lpstr>
      <vt:lpstr>PDD Modifier Dependence</vt:lpstr>
      <vt:lpstr>PDD SSD Dependence</vt:lpstr>
      <vt:lpstr>Tissue Air Ratio</vt:lpstr>
      <vt:lpstr>Backscatter Factor</vt:lpstr>
      <vt:lpstr>Scatter Air Factor</vt:lpstr>
      <vt:lpstr>PDD to TAR conversion</vt:lpstr>
      <vt:lpstr>Clarkson </vt:lpstr>
      <vt:lpstr>Collimator Scatter Factor</vt:lpstr>
      <vt:lpstr>Collimator Exchange Effect</vt:lpstr>
      <vt:lpstr>Phantom Scatter Factor</vt:lpstr>
      <vt:lpstr>Tissue Phantom Ratio  </vt:lpstr>
      <vt:lpstr>Beam Profiles</vt:lpstr>
      <vt:lpstr>Beam Profiles</vt:lpstr>
      <vt:lpstr>Flatness and Symmetry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Shannon O</dc:creator>
  <cp:lastModifiedBy>O'Reilly, Shannon</cp:lastModifiedBy>
  <cp:revision>40</cp:revision>
  <dcterms:created xsi:type="dcterms:W3CDTF">2016-08-05T08:48:09Z</dcterms:created>
  <dcterms:modified xsi:type="dcterms:W3CDTF">2016-10-04T17:59:12Z</dcterms:modified>
</cp:coreProperties>
</file>