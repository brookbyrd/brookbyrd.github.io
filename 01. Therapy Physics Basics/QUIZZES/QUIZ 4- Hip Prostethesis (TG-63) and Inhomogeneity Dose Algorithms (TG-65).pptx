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60" r:id="rId4"/>
    <p:sldId id="261" r:id="rId5"/>
    <p:sldId id="262" r:id="rId6"/>
    <p:sldId id="263" r:id="rId7"/>
    <p:sldId id="270" r:id="rId8"/>
    <p:sldId id="266" r:id="rId9"/>
    <p:sldId id="267" r:id="rId10"/>
    <p:sldId id="268" r:id="rId11"/>
    <p:sldId id="269" r:id="rId12"/>
    <p:sldId id="271" r:id="rId13"/>
    <p:sldId id="272" r:id="rId14"/>
    <p:sldId id="273"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88900" autoAdjust="0"/>
  </p:normalViewPr>
  <p:slideViewPr>
    <p:cSldViewPr snapToGrid="0">
      <p:cViewPr varScale="1">
        <p:scale>
          <a:sx n="102" d="100"/>
          <a:sy n="102" d="100"/>
        </p:scale>
        <p:origin x="78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E2AD74-29A4-4997-A66C-81FDCBD1CAC7}" type="datetimeFigureOut">
              <a:rPr lang="en-US" smtClean="0"/>
              <a:t>8/13/2021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26343-CFCD-4BF8-A4D2-94F8D1FE042A}" type="slidenum">
              <a:rPr lang="en-US" smtClean="0"/>
              <a:t>‹#›</a:t>
            </a:fld>
            <a:endParaRPr lang="en-US"/>
          </a:p>
        </p:txBody>
      </p:sp>
    </p:spTree>
    <p:extLst>
      <p:ext uri="{BB962C8B-B14F-4D97-AF65-F5344CB8AC3E}">
        <p14:creationId xmlns:p14="http://schemas.microsoft.com/office/powerpoint/2010/main" val="1516627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TW" smtClean="0"/>
              <a:t>The problem is caused by the increased range of secondary electrons produced mainly by Compton interactions of the photons with the</a:t>
            </a:r>
          </a:p>
          <a:p>
            <a:pPr eaLnBrk="1" hangingPunct="1">
              <a:spcBef>
                <a:spcPct val="0"/>
              </a:spcBef>
            </a:pPr>
            <a:r>
              <a:rPr lang="en-US" altLang="zh-TW" smtClean="0"/>
              <a:t>medium. Since the electrons scatter laterally in addition to moving forward with the beam, an increased range causes a greater number of electrons to travel outside the geometric boundaries of the radiation field. Thus, the dose on the periphery of the beam decreases in comparison to that on the central axis, where electronic equilibrium is present. </a:t>
            </a:r>
          </a:p>
          <a:p>
            <a:pPr eaLnBrk="1" hangingPunct="1">
              <a:spcBef>
                <a:spcPct val="0"/>
              </a:spcBef>
            </a:pPr>
            <a:endParaRPr lang="en-US" altLang="zh-TW" smtClean="0"/>
          </a:p>
          <a:p>
            <a:pPr eaLnBrk="1" hangingPunct="1">
              <a:spcBef>
                <a:spcPct val="0"/>
              </a:spcBef>
            </a:pPr>
            <a:r>
              <a:rPr lang="en-US" altLang="zh-TW" smtClean="0"/>
              <a:t>This may result in an increase in penumbra and a deterioration in the flatness of the beam.</a:t>
            </a:r>
          </a:p>
          <a:p>
            <a:pPr eaLnBrk="1" hangingPunct="1">
              <a:spcBef>
                <a:spcPct val="0"/>
              </a:spcBef>
            </a:pPr>
            <a:endParaRPr lang="en-US" altLang="zh-TW" smtClean="0"/>
          </a:p>
          <a:p>
            <a:pPr eaLnBrk="1" hangingPunct="1">
              <a:spcBef>
                <a:spcPct val="0"/>
              </a:spcBef>
            </a:pPr>
            <a:r>
              <a:rPr lang="en-US" altLang="zh-TW" smtClean="0"/>
              <a:t>In lung tissue, where the electron range is much greater than in normal-density tissue, the problems of increased</a:t>
            </a:r>
          </a:p>
          <a:p>
            <a:pPr eaLnBrk="1" hangingPunct="1">
              <a:spcBef>
                <a:spcPct val="0"/>
              </a:spcBef>
            </a:pPr>
            <a:r>
              <a:rPr lang="en-US" altLang="zh-TW" smtClean="0"/>
              <a:t>penumbra and loss of flatness are even greater.</a:t>
            </a:r>
          </a:p>
          <a:p>
            <a:pPr eaLnBrk="1" hangingPunct="1">
              <a:spcBef>
                <a:spcPct val="0"/>
              </a:spcBef>
            </a:pPr>
            <a:endParaRPr lang="zh-TW" altLang="en-US" smtClean="0"/>
          </a:p>
        </p:txBody>
      </p:sp>
      <p:sp>
        <p:nvSpPr>
          <p:cNvPr id="880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ea typeface="微軟正黑體" panose="020B0604030504040204" pitchFamily="34" charset="-120"/>
              </a:defRPr>
            </a:lvl1pPr>
            <a:lvl2pPr marL="742950" indent="-285750" eaLnBrk="0" hangingPunct="0">
              <a:defRPr>
                <a:solidFill>
                  <a:schemeClr val="tx1"/>
                </a:solidFill>
                <a:latin typeface="Arial" panose="020B0604020202020204" pitchFamily="34" charset="0"/>
                <a:ea typeface="微軟正黑體" panose="020B0604030504040204" pitchFamily="34" charset="-120"/>
              </a:defRPr>
            </a:lvl2pPr>
            <a:lvl3pPr marL="1143000" indent="-228600" eaLnBrk="0" hangingPunct="0">
              <a:defRPr>
                <a:solidFill>
                  <a:schemeClr val="tx1"/>
                </a:solidFill>
                <a:latin typeface="Arial" panose="020B0604020202020204" pitchFamily="34" charset="0"/>
                <a:ea typeface="微軟正黑體" panose="020B0604030504040204" pitchFamily="34" charset="-120"/>
              </a:defRPr>
            </a:lvl3pPr>
            <a:lvl4pPr marL="1600200" indent="-228600" eaLnBrk="0" hangingPunct="0">
              <a:defRPr>
                <a:solidFill>
                  <a:schemeClr val="tx1"/>
                </a:solidFill>
                <a:latin typeface="Arial" panose="020B0604020202020204" pitchFamily="34" charset="0"/>
                <a:ea typeface="微軟正黑體" panose="020B0604030504040204" pitchFamily="34" charset="-120"/>
              </a:defRPr>
            </a:lvl4pPr>
            <a:lvl5pPr marL="2057400" indent="-228600" eaLnBrk="0" hangingPunct="0">
              <a:defRPr>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9pPr>
          </a:lstStyle>
          <a:p>
            <a:pPr eaLnBrk="1" hangingPunct="1"/>
            <a:fld id="{AD1ED00A-8D92-4D3E-82EE-FC9AC96B3439}" type="slidenum">
              <a:rPr lang="zh-TW" altLang="en-US">
                <a:latin typeface="Calibri" panose="020F0502020204030204" pitchFamily="34" charset="0"/>
                <a:ea typeface="PMingLiU" pitchFamily="18" charset="-120"/>
              </a:rPr>
              <a:pPr eaLnBrk="1" hangingPunct="1"/>
              <a:t>13</a:t>
            </a:fld>
            <a:endParaRPr lang="zh-TW" altLang="en-US">
              <a:latin typeface="Calibri" panose="020F0502020204030204" pitchFamily="34" charset="0"/>
              <a:ea typeface="PMingLiU" pitchFamily="18" charset="-120"/>
            </a:endParaRPr>
          </a:p>
        </p:txBody>
      </p:sp>
    </p:spTree>
    <p:extLst>
      <p:ext uri="{BB962C8B-B14F-4D97-AF65-F5344CB8AC3E}">
        <p14:creationId xmlns:p14="http://schemas.microsoft.com/office/powerpoint/2010/main" val="168879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In this slide, I show the comparison between …</a:t>
            </a:r>
          </a:p>
        </p:txBody>
      </p:sp>
      <p:sp>
        <p:nvSpPr>
          <p:cNvPr id="8602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B8595A-035D-4649-8D3B-8A5B8D884CBB}" type="slidenum">
              <a:rPr lang="en-US" smtClean="0">
                <a:ea typeface="微軟正黑體"/>
                <a:cs typeface="微軟正黑體"/>
              </a:rPr>
              <a:pPr fontAlgn="base">
                <a:spcBef>
                  <a:spcPct val="0"/>
                </a:spcBef>
                <a:spcAft>
                  <a:spcPct val="0"/>
                </a:spcAft>
                <a:defRPr/>
              </a:pPr>
              <a:t>15</a:t>
            </a:fld>
            <a:endParaRPr lang="en-US" dirty="0" smtClean="0">
              <a:ea typeface="微軟正黑體"/>
              <a:cs typeface="微軟正黑體"/>
            </a:endParaRPr>
          </a:p>
        </p:txBody>
      </p:sp>
    </p:spTree>
    <p:extLst>
      <p:ext uri="{BB962C8B-B14F-4D97-AF65-F5344CB8AC3E}">
        <p14:creationId xmlns:p14="http://schemas.microsoft.com/office/powerpoint/2010/main" val="1555349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76EEBB8-84EC-4E12-8CAC-81B91285E946}"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2954323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6EEBB8-84EC-4E12-8CAC-81B91285E946}"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376672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76EEBB8-84EC-4E12-8CAC-81B91285E946}"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2749084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76EEBB8-84EC-4E12-8CAC-81B91285E946}"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4286487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76EEBB8-84EC-4E12-8CAC-81B91285E946}" type="datetimeFigureOut">
              <a:rPr lang="en-US" smtClean="0"/>
              <a:t>8/13/2021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174599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76EEBB8-84EC-4E12-8CAC-81B91285E946}" type="datetimeFigureOut">
              <a:rPr lang="en-US" smtClean="0"/>
              <a:t>8/13/2021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239971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6EEBB8-84EC-4E12-8CAC-81B91285E946}" type="datetimeFigureOut">
              <a:rPr lang="en-US" smtClean="0"/>
              <a:t>8/13/2021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742897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76EEBB8-84EC-4E12-8CAC-81B91285E946}"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3398385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76EEBB8-84EC-4E12-8CAC-81B91285E946}" type="datetimeFigureOut">
              <a:rPr lang="en-US" smtClean="0"/>
              <a:t>8/13/2021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2285666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6EEBB8-84EC-4E12-8CAC-81B91285E946}"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77875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6EEBB8-84EC-4E12-8CAC-81B91285E946}" type="datetimeFigureOut">
              <a:rPr lang="en-US" smtClean="0"/>
              <a:t>8/13/2021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B5A93A-3941-4522-8F96-E432846365A6}" type="slidenum">
              <a:rPr lang="en-US" smtClean="0"/>
              <a:t>‹#›</a:t>
            </a:fld>
            <a:endParaRPr lang="en-US"/>
          </a:p>
        </p:txBody>
      </p:sp>
    </p:spTree>
    <p:extLst>
      <p:ext uri="{BB962C8B-B14F-4D97-AF65-F5344CB8AC3E}">
        <p14:creationId xmlns:p14="http://schemas.microsoft.com/office/powerpoint/2010/main" val="1307044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6EEBB8-84EC-4E12-8CAC-81B91285E946}" type="datetimeFigureOut">
              <a:rPr lang="en-US" smtClean="0"/>
              <a:t>8/13/2021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B5A93A-3941-4522-8F96-E432846365A6}" type="slidenum">
              <a:rPr lang="en-US" smtClean="0"/>
              <a:t>‹#›</a:t>
            </a:fld>
            <a:endParaRPr lang="en-US"/>
          </a:p>
        </p:txBody>
      </p:sp>
    </p:spTree>
    <p:extLst>
      <p:ext uri="{BB962C8B-B14F-4D97-AF65-F5344CB8AC3E}">
        <p14:creationId xmlns:p14="http://schemas.microsoft.com/office/powerpoint/2010/main" val="222135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Reading Meeting </a:t>
            </a:r>
            <a:r>
              <a:rPr lang="en-US" dirty="0" smtClean="0"/>
              <a:t>Quiz 5</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25909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Q1</a:t>
            </a:r>
            <a:endParaRPr lang="en-US" dirty="0"/>
          </a:p>
        </p:txBody>
      </p:sp>
      <p:sp>
        <p:nvSpPr>
          <p:cNvPr id="3" name="Content Placeholder 2"/>
          <p:cNvSpPr>
            <a:spLocks noGrp="1"/>
          </p:cNvSpPr>
          <p:nvPr>
            <p:ph idx="1"/>
          </p:nvPr>
        </p:nvSpPr>
        <p:spPr>
          <a:xfrm>
            <a:off x="838200" y="1825625"/>
            <a:ext cx="6287530" cy="4351338"/>
          </a:xfrm>
        </p:spPr>
        <p:txBody>
          <a:bodyPr/>
          <a:lstStyle/>
          <a:p>
            <a:r>
              <a:rPr lang="en-US" dirty="0" smtClean="0"/>
              <a:t>Explain the difference between (a) and (b)</a:t>
            </a:r>
          </a:p>
          <a:p>
            <a:r>
              <a:rPr lang="en-US" dirty="0" smtClean="0"/>
              <a:t>What interactions are the reason for the PDD differences</a:t>
            </a:r>
          </a:p>
          <a:p>
            <a:r>
              <a:rPr lang="en-US" dirty="0" smtClean="0"/>
              <a:t>What is Co-Cr-Mo commonly used for?</a:t>
            </a:r>
          </a:p>
          <a:p>
            <a:r>
              <a:rPr lang="en-US" dirty="0" smtClean="0"/>
              <a:t>What document would provide further information on this?</a:t>
            </a:r>
            <a:endParaRPr lang="en-US" dirty="0"/>
          </a:p>
        </p:txBody>
      </p:sp>
      <p:pic>
        <p:nvPicPr>
          <p:cNvPr id="4" name="Picture 3"/>
          <p:cNvPicPr>
            <a:picLocks noChangeAspect="1"/>
          </p:cNvPicPr>
          <p:nvPr/>
        </p:nvPicPr>
        <p:blipFill>
          <a:blip r:embed="rId2"/>
          <a:stretch>
            <a:fillRect/>
          </a:stretch>
        </p:blipFill>
        <p:spPr>
          <a:xfrm>
            <a:off x="7344033" y="519793"/>
            <a:ext cx="4108622" cy="2832830"/>
          </a:xfrm>
          <a:prstGeom prst="rect">
            <a:avLst/>
          </a:prstGeom>
        </p:spPr>
      </p:pic>
      <p:pic>
        <p:nvPicPr>
          <p:cNvPr id="5" name="Picture 4"/>
          <p:cNvPicPr>
            <a:picLocks noChangeAspect="1"/>
          </p:cNvPicPr>
          <p:nvPr/>
        </p:nvPicPr>
        <p:blipFill>
          <a:blip r:embed="rId3"/>
          <a:stretch>
            <a:fillRect/>
          </a:stretch>
        </p:blipFill>
        <p:spPr>
          <a:xfrm>
            <a:off x="7344033" y="3780990"/>
            <a:ext cx="4009767" cy="2824340"/>
          </a:xfrm>
          <a:prstGeom prst="rect">
            <a:avLst/>
          </a:prstGeom>
        </p:spPr>
      </p:pic>
      <p:sp>
        <p:nvSpPr>
          <p:cNvPr id="6" name="Rectangle 5"/>
          <p:cNvSpPr/>
          <p:nvPr/>
        </p:nvSpPr>
        <p:spPr>
          <a:xfrm>
            <a:off x="10478530" y="1027906"/>
            <a:ext cx="650789" cy="100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268465" y="4236544"/>
            <a:ext cx="650789" cy="100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862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06499" y="685562"/>
            <a:ext cx="8779001" cy="5486876"/>
          </a:xfrm>
          <a:prstGeom prst="rect">
            <a:avLst/>
          </a:prstGeom>
        </p:spPr>
      </p:pic>
    </p:spTree>
    <p:extLst>
      <p:ext uri="{BB962C8B-B14F-4D97-AF65-F5344CB8AC3E}">
        <p14:creationId xmlns:p14="http://schemas.microsoft.com/office/powerpoint/2010/main" val="2754470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706499" y="685562"/>
            <a:ext cx="8779001" cy="5486876"/>
          </a:xfrm>
          <a:prstGeom prst="rect">
            <a:avLst/>
          </a:prstGeom>
        </p:spPr>
      </p:pic>
    </p:spTree>
    <p:extLst>
      <p:ext uri="{BB962C8B-B14F-4D97-AF65-F5344CB8AC3E}">
        <p14:creationId xmlns:p14="http://schemas.microsoft.com/office/powerpoint/2010/main" val="858653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06499" y="685562"/>
            <a:ext cx="8779001" cy="5486876"/>
          </a:xfrm>
          <a:prstGeom prst="rect">
            <a:avLst/>
          </a:prstGeom>
        </p:spPr>
      </p:pic>
    </p:spTree>
    <p:extLst>
      <p:ext uri="{BB962C8B-B14F-4D97-AF65-F5344CB8AC3E}">
        <p14:creationId xmlns:p14="http://schemas.microsoft.com/office/powerpoint/2010/main" val="294510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706499" y="685562"/>
            <a:ext cx="8779001" cy="5486876"/>
          </a:xfrm>
          <a:prstGeom prst="rect">
            <a:avLst/>
          </a:prstGeom>
        </p:spPr>
      </p:pic>
    </p:spTree>
    <p:extLst>
      <p:ext uri="{BB962C8B-B14F-4D97-AF65-F5344CB8AC3E}">
        <p14:creationId xmlns:p14="http://schemas.microsoft.com/office/powerpoint/2010/main" val="818681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728912" y="2024062"/>
            <a:ext cx="6734175" cy="2809875"/>
          </a:xfrm>
          <a:prstGeom prst="rect">
            <a:avLst/>
          </a:prstGeom>
        </p:spPr>
      </p:pic>
    </p:spTree>
    <p:extLst>
      <p:ext uri="{BB962C8B-B14F-4D97-AF65-F5344CB8AC3E}">
        <p14:creationId xmlns:p14="http://schemas.microsoft.com/office/powerpoint/2010/main" val="4236218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Q2</a:t>
            </a:r>
            <a:endParaRPr lang="en-US" dirty="0"/>
          </a:p>
        </p:txBody>
      </p:sp>
      <p:sp>
        <p:nvSpPr>
          <p:cNvPr id="3" name="Content Placeholder 2"/>
          <p:cNvSpPr>
            <a:spLocks noGrp="1"/>
          </p:cNvSpPr>
          <p:nvPr>
            <p:ph idx="1"/>
          </p:nvPr>
        </p:nvSpPr>
        <p:spPr>
          <a:xfrm>
            <a:off x="838200" y="1825625"/>
            <a:ext cx="7133325" cy="4351338"/>
          </a:xfrm>
        </p:spPr>
        <p:txBody>
          <a:bodyPr/>
          <a:lstStyle/>
          <a:p>
            <a:r>
              <a:rPr lang="en-US" dirty="0" smtClean="0"/>
              <a:t>What correction method is shown here?</a:t>
            </a:r>
          </a:p>
          <a:p>
            <a:endParaRPr lang="en-US" dirty="0"/>
          </a:p>
          <a:p>
            <a:r>
              <a:rPr lang="en-US" dirty="0" smtClean="0"/>
              <a:t>What category does this correction method fall under and what are the major limitations of this category?</a:t>
            </a:r>
          </a:p>
          <a:p>
            <a:endParaRPr lang="en-US" dirty="0"/>
          </a:p>
          <a:p>
            <a:r>
              <a:rPr lang="en-US" dirty="0" smtClean="0"/>
              <a:t>What document provides more information on this and other methods?</a:t>
            </a:r>
            <a:endParaRPr lang="en-US" dirty="0"/>
          </a:p>
        </p:txBody>
      </p:sp>
      <p:pic>
        <p:nvPicPr>
          <p:cNvPr id="4" name="Picture 3"/>
          <p:cNvPicPr>
            <a:picLocks noChangeAspect="1"/>
          </p:cNvPicPr>
          <p:nvPr/>
        </p:nvPicPr>
        <p:blipFill>
          <a:blip r:embed="rId2"/>
          <a:stretch>
            <a:fillRect/>
          </a:stretch>
        </p:blipFill>
        <p:spPr>
          <a:xfrm>
            <a:off x="7971525" y="2067697"/>
            <a:ext cx="2885371" cy="1108504"/>
          </a:xfrm>
          <a:prstGeom prst="rect">
            <a:avLst/>
          </a:prstGeom>
        </p:spPr>
      </p:pic>
    </p:spTree>
    <p:extLst>
      <p:ext uri="{BB962C8B-B14F-4D97-AF65-F5344CB8AC3E}">
        <p14:creationId xmlns:p14="http://schemas.microsoft.com/office/powerpoint/2010/main" val="3069792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6542" y="-98186"/>
            <a:ext cx="10515600" cy="1325563"/>
          </a:xfrm>
        </p:spPr>
        <p:txBody>
          <a:bodyPr/>
          <a:lstStyle/>
          <a:p>
            <a:r>
              <a:rPr lang="en-US" altLang="en-US" dirty="0" smtClean="0"/>
              <a:t>Four </a:t>
            </a:r>
            <a:r>
              <a:rPr lang="en-US" altLang="en-US" dirty="0" smtClean="0"/>
              <a:t>categories (</a:t>
            </a:r>
            <a:r>
              <a:rPr lang="en-US" altLang="en-US" b="1" dirty="0" smtClean="0">
                <a:solidFill>
                  <a:schemeClr val="accent5"/>
                </a:solidFill>
              </a:rPr>
              <a:t>TG-65</a:t>
            </a:r>
            <a:r>
              <a:rPr lang="en-US" altLang="en-US" dirty="0" smtClean="0"/>
              <a:t>)</a:t>
            </a:r>
            <a:endParaRPr lang="en-US" altLang="en-US" dirty="0" smtClean="0"/>
          </a:p>
        </p:txBody>
      </p:sp>
      <p:sp>
        <p:nvSpPr>
          <p:cNvPr id="30723" name="Content Placeholder 2"/>
          <p:cNvSpPr>
            <a:spLocks noGrp="1"/>
          </p:cNvSpPr>
          <p:nvPr>
            <p:ph idx="1"/>
          </p:nvPr>
        </p:nvSpPr>
        <p:spPr>
          <a:xfrm>
            <a:off x="2263776" y="825500"/>
            <a:ext cx="7826375" cy="1162050"/>
          </a:xfrm>
        </p:spPr>
        <p:txBody>
          <a:bodyPr>
            <a:normAutofit fontScale="85000" lnSpcReduction="20000"/>
          </a:bodyPr>
          <a:lstStyle/>
          <a:p>
            <a:r>
              <a:rPr lang="en-US" altLang="en-US" smtClean="0"/>
              <a:t>Categorization according to:</a:t>
            </a:r>
          </a:p>
          <a:p>
            <a:pPr lvl="1"/>
            <a:r>
              <a:rPr lang="en-US" altLang="en-US" smtClean="0"/>
              <a:t>Ability to treat primary TERMA and electron transport separately</a:t>
            </a:r>
          </a:p>
          <a:p>
            <a:pPr lvl="1"/>
            <a:r>
              <a:rPr lang="en-US" altLang="en-US" smtClean="0"/>
              <a:t>Whether anatomy is being sampled along 1-D primary rays or full 3D</a:t>
            </a:r>
          </a:p>
        </p:txBody>
      </p:sp>
      <p:pic>
        <p:nvPicPr>
          <p:cNvPr id="4" name="Picture 15"/>
          <p:cNvPicPr>
            <a:picLocks noChangeAspect="1" noChangeArrowheads="1"/>
          </p:cNvPicPr>
          <p:nvPr/>
        </p:nvPicPr>
        <p:blipFill>
          <a:blip r:embed="rId2" cstate="print">
            <a:duotone>
              <a:prstClr val="black"/>
              <a:schemeClr val="bg1">
                <a:tint val="45000"/>
                <a:satMod val="400000"/>
              </a:schemeClr>
            </a:duotone>
          </a:blip>
          <a:srcRect/>
          <a:stretch>
            <a:fillRect/>
          </a:stretch>
        </p:blipFill>
        <p:spPr bwMode="auto">
          <a:xfrm>
            <a:off x="2263775" y="2248454"/>
            <a:ext cx="7296650" cy="4005905"/>
          </a:xfrm>
          <a:prstGeom prst="rect">
            <a:avLst/>
          </a:prstGeom>
          <a:noFill/>
          <a:ln w="9525">
            <a:noFill/>
            <a:miter lim="800000"/>
            <a:headEnd/>
            <a:tailEnd/>
          </a:ln>
          <a:effectLst/>
        </p:spPr>
      </p:pic>
      <p:sp>
        <p:nvSpPr>
          <p:cNvPr id="2" name="Rectangle 1"/>
          <p:cNvSpPr/>
          <p:nvPr/>
        </p:nvSpPr>
        <p:spPr>
          <a:xfrm>
            <a:off x="2545237" y="3082565"/>
            <a:ext cx="3601039" cy="168739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343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225458" y="-108234"/>
            <a:ext cx="10515600" cy="1325563"/>
          </a:xfrm>
        </p:spPr>
        <p:txBody>
          <a:bodyPr/>
          <a:lstStyle/>
          <a:p>
            <a:r>
              <a:rPr lang="en-US" altLang="en-US" dirty="0" smtClean="0"/>
              <a:t>1.4 </a:t>
            </a:r>
            <a:r>
              <a:rPr lang="en-US" altLang="en-US" b="1" dirty="0" smtClean="0">
                <a:solidFill>
                  <a:schemeClr val="accent5"/>
                </a:solidFill>
              </a:rPr>
              <a:t>Power law (</a:t>
            </a:r>
            <a:r>
              <a:rPr lang="en-US" altLang="en-US" b="1" dirty="0" err="1" smtClean="0">
                <a:solidFill>
                  <a:schemeClr val="accent5"/>
                </a:solidFill>
              </a:rPr>
              <a:t>Batho</a:t>
            </a:r>
            <a:r>
              <a:rPr lang="en-US" altLang="en-US" b="1" dirty="0" smtClean="0">
                <a:solidFill>
                  <a:schemeClr val="accent5"/>
                </a:solidFill>
              </a:rPr>
              <a:t>)</a:t>
            </a:r>
          </a:p>
        </p:txBody>
      </p:sp>
      <p:sp>
        <p:nvSpPr>
          <p:cNvPr id="35843" name="Content Placeholder 2"/>
          <p:cNvSpPr>
            <a:spLocks noGrp="1"/>
          </p:cNvSpPr>
          <p:nvPr>
            <p:ph idx="1"/>
          </p:nvPr>
        </p:nvSpPr>
        <p:spPr>
          <a:xfrm>
            <a:off x="2263776" y="825501"/>
            <a:ext cx="7826375" cy="1890713"/>
          </a:xfrm>
        </p:spPr>
        <p:txBody>
          <a:bodyPr>
            <a:normAutofit fontScale="92500" lnSpcReduction="20000"/>
          </a:bodyPr>
          <a:lstStyle/>
          <a:p>
            <a:r>
              <a:rPr lang="en-US" altLang="zh-CN" smtClean="0">
                <a:ea typeface="宋体" panose="02010600030101010101" pitchFamily="2" charset="-122"/>
              </a:rPr>
              <a:t>Empirical correction factor for points lying beyond a heterogeneity</a:t>
            </a:r>
          </a:p>
          <a:p>
            <a:r>
              <a:rPr lang="en-US" altLang="zh-CN" smtClean="0">
                <a:ea typeface="宋体" panose="02010600030101010101" pitchFamily="2" charset="-122"/>
              </a:rPr>
              <a:t>Sensitive to the proximity of inhomogeneity</a:t>
            </a:r>
          </a:p>
          <a:p>
            <a:r>
              <a:rPr lang="en-US" altLang="zh-CN" smtClean="0">
                <a:ea typeface="宋体" panose="02010600030101010101" pitchFamily="2" charset="-122"/>
              </a:rPr>
              <a:t>Provide first order approximation to changes in both primary and scattered photon fluencies</a:t>
            </a:r>
          </a:p>
        </p:txBody>
      </p:sp>
      <p:pic>
        <p:nvPicPr>
          <p:cNvPr id="35844" name="Picture 144" descr="Pictur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2050" y="3349625"/>
            <a:ext cx="34432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5845" name="Object 18"/>
          <p:cNvGraphicFramePr>
            <a:graphicFrameLocks noChangeAspect="1"/>
          </p:cNvGraphicFramePr>
          <p:nvPr/>
        </p:nvGraphicFramePr>
        <p:xfrm>
          <a:off x="6084889" y="3959225"/>
          <a:ext cx="3444875" cy="1066800"/>
        </p:xfrm>
        <a:graphic>
          <a:graphicData uri="http://schemas.openxmlformats.org/presentationml/2006/ole">
            <mc:AlternateContent xmlns:mc="http://schemas.openxmlformats.org/markup-compatibility/2006">
              <mc:Choice xmlns:v="urn:schemas-microsoft-com:vml" Requires="v">
                <p:oleObj spid="_x0000_s1028" name="Equation" r:id="rId4" imgW="1129810" imgH="330057" progId="Equation.3">
                  <p:embed/>
                </p:oleObj>
              </mc:Choice>
              <mc:Fallback>
                <p:oleObj name="Equation" r:id="rId4" imgW="1129810" imgH="330057" progId="Equation.3">
                  <p:embed/>
                  <p:pic>
                    <p:nvPicPr>
                      <p:cNvPr id="35845"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889" y="3959225"/>
                        <a:ext cx="3444875"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81306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1.4 Power law (Batho)</a:t>
            </a:r>
          </a:p>
        </p:txBody>
      </p:sp>
      <p:sp>
        <p:nvSpPr>
          <p:cNvPr id="36867" name="Rectangle 3"/>
          <p:cNvSpPr txBox="1">
            <a:spLocks noChangeArrowheads="1"/>
          </p:cNvSpPr>
          <p:nvPr/>
        </p:nvSpPr>
        <p:spPr bwMode="auto">
          <a:xfrm>
            <a:off x="2124075" y="2327275"/>
            <a:ext cx="8077200"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97648" rIns="0" bIns="97648">
            <a:spAutoFit/>
          </a:bodyPr>
          <a:lstStyle>
            <a:lvl1pPr marL="242888" indent="-242888" defTabSz="901700">
              <a:spcBef>
                <a:spcPts val="400"/>
              </a:spcBef>
              <a:spcAft>
                <a:spcPts val="200"/>
              </a:spcAft>
              <a:buClr>
                <a:schemeClr val="tx2"/>
              </a:buClr>
              <a:buFont typeface="Wingdings" panose="05000000000000000000" pitchFamily="2" charset="2"/>
              <a:buChar char="w"/>
              <a:defRPr sz="2000" b="1">
                <a:solidFill>
                  <a:srgbClr val="000000"/>
                </a:solidFill>
                <a:latin typeface="Arial" panose="020B0604020202020204" pitchFamily="34" charset="0"/>
              </a:defRPr>
            </a:lvl1pPr>
            <a:lvl2pPr marL="742950" indent="-285750" defTabSz="901700">
              <a:spcBef>
                <a:spcPts val="200"/>
              </a:spcBef>
              <a:spcAft>
                <a:spcPts val="200"/>
              </a:spcAft>
              <a:buClr>
                <a:schemeClr val="tx2"/>
              </a:buClr>
              <a:buChar char="•"/>
              <a:defRPr>
                <a:solidFill>
                  <a:srgbClr val="000000"/>
                </a:solidFill>
                <a:latin typeface="Arial" panose="020B0604020202020204" pitchFamily="34" charset="0"/>
              </a:defRPr>
            </a:lvl2pPr>
            <a:lvl3pPr marL="1143000" indent="-228600" defTabSz="901700">
              <a:spcBef>
                <a:spcPts val="200"/>
              </a:spcBef>
              <a:spcAft>
                <a:spcPts val="200"/>
              </a:spcAft>
              <a:buClr>
                <a:schemeClr val="tx2"/>
              </a:buClr>
              <a:buFont typeface="Arial" panose="020B0604020202020204" pitchFamily="34" charset="0"/>
              <a:buChar char="–"/>
              <a:defRPr>
                <a:solidFill>
                  <a:srgbClr val="000000"/>
                </a:solidFill>
                <a:latin typeface="Arial" panose="020B0604020202020204" pitchFamily="34" charset="0"/>
              </a:defRPr>
            </a:lvl3pPr>
            <a:lvl4pPr marL="1600200" indent="-228600" defTabSz="90170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4pPr>
            <a:lvl5pPr marL="2057400" indent="-228600" defTabSz="90170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5pPr>
            <a:lvl6pPr marL="2514600" indent="-228600" defTabSz="901700" eaLnBrk="0" fontAlgn="base" hangingPunct="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6pPr>
            <a:lvl7pPr marL="2971800" indent="-228600" defTabSz="901700" eaLnBrk="0" fontAlgn="base" hangingPunct="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7pPr>
            <a:lvl8pPr marL="3429000" indent="-228600" defTabSz="901700" eaLnBrk="0" fontAlgn="base" hangingPunct="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8pPr>
            <a:lvl9pPr marL="3886200" indent="-228600" defTabSz="901700" eaLnBrk="0" fontAlgn="base" hangingPunct="0">
              <a:spcBef>
                <a:spcPts val="200"/>
              </a:spcBef>
              <a:spcAft>
                <a:spcPts val="200"/>
              </a:spcAft>
              <a:buClr>
                <a:schemeClr val="tx2"/>
              </a:buClr>
              <a:buFont typeface="Franklin Gothic Book" panose="020B0503020102020204" pitchFamily="34" charset="0"/>
              <a:buChar char="–"/>
              <a:defRPr sz="1600">
                <a:solidFill>
                  <a:srgbClr val="000000"/>
                </a:solidFill>
                <a:latin typeface="Arial" panose="020B0604020202020204" pitchFamily="34" charset="0"/>
              </a:defRPr>
            </a:lvl9pPr>
          </a:lstStyle>
          <a:p>
            <a:pPr eaLnBrk="1" hangingPunct="1"/>
            <a:r>
              <a:rPr lang="en-US" altLang="zh-CN">
                <a:ea typeface="宋体" panose="02010600030101010101" pitchFamily="2" charset="-122"/>
              </a:rPr>
              <a:t>Can be adapted for use with CT voxel data</a:t>
            </a:r>
          </a:p>
          <a:p>
            <a:pPr eaLnBrk="1" hangingPunct="1"/>
            <a:r>
              <a:rPr lang="en-US" altLang="zh-CN">
                <a:ea typeface="宋体" panose="02010600030101010101" pitchFamily="2" charset="-122"/>
              </a:rPr>
              <a:t>Provides an acceptable approximation below a single inhomogeneous layer larger than the field size</a:t>
            </a:r>
          </a:p>
          <a:p>
            <a:pPr eaLnBrk="1" hangingPunct="1"/>
            <a:r>
              <a:rPr lang="en-US" altLang="zh-CN">
                <a:ea typeface="宋体" panose="02010600030101010101" pitchFamily="2" charset="-122"/>
              </a:rPr>
              <a:t>Limited by requirement of lateral CPE</a:t>
            </a:r>
          </a:p>
          <a:p>
            <a:pPr eaLnBrk="1" hangingPunct="1"/>
            <a:r>
              <a:rPr lang="en-US" altLang="zh-CN">
                <a:ea typeface="宋体" panose="02010600030101010101" pitchFamily="2" charset="-122"/>
              </a:rPr>
              <a:t>Dose error increases with higher energy of photon, smaller field size (due to neglect of electron transport)</a:t>
            </a:r>
          </a:p>
          <a:p>
            <a:pPr eaLnBrk="1" hangingPunct="1"/>
            <a:r>
              <a:rPr lang="en-US" altLang="zh-CN">
                <a:ea typeface="宋体" panose="02010600030101010101" pitchFamily="2" charset="-122"/>
              </a:rPr>
              <a:t>Batho method under-corrects when the density is less than water density and over-corrects for greater density</a:t>
            </a:r>
            <a:endParaRPr lang="zh-CN" altLang="en-US">
              <a:ea typeface="宋体" panose="02010600030101010101" pitchFamily="2" charset="-122"/>
            </a:endParaRPr>
          </a:p>
        </p:txBody>
      </p:sp>
      <p:pic>
        <p:nvPicPr>
          <p:cNvPr id="5" name="Picture 4"/>
          <p:cNvPicPr>
            <a:picLocks noChangeAspect="1" noChangeArrowheads="1"/>
          </p:cNvPicPr>
          <p:nvPr/>
        </p:nvPicPr>
        <p:blipFill>
          <a:blip r:embed="rId2" cstate="print">
            <a:duotone>
              <a:prstClr val="black"/>
              <a:schemeClr val="bg1">
                <a:tint val="45000"/>
                <a:satMod val="400000"/>
              </a:schemeClr>
            </a:duotone>
          </a:blip>
          <a:srcRect b="22004"/>
          <a:stretch>
            <a:fillRect/>
          </a:stretch>
        </p:blipFill>
        <p:spPr bwMode="auto">
          <a:xfrm>
            <a:off x="3039093" y="1184564"/>
            <a:ext cx="5751204" cy="1001233"/>
          </a:xfrm>
          <a:prstGeom prst="rect">
            <a:avLst/>
          </a:prstGeom>
          <a:noFill/>
          <a:ln w="9525">
            <a:noFill/>
            <a:miter lim="800000"/>
            <a:headEnd/>
            <a:tailEnd/>
          </a:ln>
        </p:spPr>
      </p:pic>
    </p:spTree>
    <p:extLst>
      <p:ext uri="{BB962C8B-B14F-4D97-AF65-F5344CB8AC3E}">
        <p14:creationId xmlns:p14="http://schemas.microsoft.com/office/powerpoint/2010/main" val="1509410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Q3</a:t>
            </a:r>
            <a:endParaRPr lang="en-US" dirty="0"/>
          </a:p>
        </p:txBody>
      </p:sp>
      <p:sp>
        <p:nvSpPr>
          <p:cNvPr id="3" name="Content Placeholder 2"/>
          <p:cNvSpPr>
            <a:spLocks noGrp="1"/>
          </p:cNvSpPr>
          <p:nvPr>
            <p:ph idx="1"/>
          </p:nvPr>
        </p:nvSpPr>
        <p:spPr>
          <a:xfrm>
            <a:off x="838200" y="1488808"/>
            <a:ext cx="10515600" cy="4351338"/>
          </a:xfrm>
        </p:spPr>
        <p:txBody>
          <a:bodyPr/>
          <a:lstStyle/>
          <a:p>
            <a:r>
              <a:rPr lang="en-US" dirty="0" smtClean="0"/>
              <a:t>Explain the following figures.  What treatment site would this relate to?  Which category of correction method would be needed for calculations?</a:t>
            </a:r>
            <a:endParaRPr lang="en-US" dirty="0"/>
          </a:p>
        </p:txBody>
      </p:sp>
      <p:pic>
        <p:nvPicPr>
          <p:cNvPr id="4" name="Picture 3"/>
          <p:cNvPicPr>
            <a:picLocks noChangeAspect="1"/>
          </p:cNvPicPr>
          <p:nvPr/>
        </p:nvPicPr>
        <p:blipFill>
          <a:blip r:embed="rId2"/>
          <a:stretch>
            <a:fillRect/>
          </a:stretch>
        </p:blipFill>
        <p:spPr>
          <a:xfrm>
            <a:off x="77687" y="3050706"/>
            <a:ext cx="6511649" cy="3120337"/>
          </a:xfrm>
          <a:prstGeom prst="rect">
            <a:avLst/>
          </a:prstGeom>
        </p:spPr>
      </p:pic>
      <p:sp>
        <p:nvSpPr>
          <p:cNvPr id="5" name="Rectangle 4"/>
          <p:cNvSpPr/>
          <p:nvPr/>
        </p:nvSpPr>
        <p:spPr>
          <a:xfrm>
            <a:off x="5797485" y="3944732"/>
            <a:ext cx="386499" cy="15592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6944497" y="3256061"/>
            <a:ext cx="3962743" cy="2749534"/>
          </a:xfrm>
          <a:prstGeom prst="rect">
            <a:avLst/>
          </a:prstGeom>
        </p:spPr>
      </p:pic>
      <p:sp>
        <p:nvSpPr>
          <p:cNvPr id="7" name="Rectangle 6"/>
          <p:cNvSpPr/>
          <p:nvPr/>
        </p:nvSpPr>
        <p:spPr>
          <a:xfrm>
            <a:off x="8585068" y="4860704"/>
            <a:ext cx="386499" cy="286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049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425" y="1535114"/>
            <a:ext cx="465455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1895476" y="258764"/>
            <a:ext cx="8183563" cy="1050925"/>
          </a:xfrm>
        </p:spPr>
        <p:txBody>
          <a:bodyPr/>
          <a:lstStyle/>
          <a:p>
            <a:pPr>
              <a:defRPr/>
            </a:pPr>
            <a:r>
              <a:rPr lang="en-US" sz="2800" dirty="0">
                <a:solidFill>
                  <a:schemeClr val="accent1">
                    <a:tint val="88000"/>
                    <a:satMod val="150000"/>
                  </a:schemeClr>
                </a:solidFill>
              </a:rPr>
              <a:t>Illustration of tissue density effect near the beam edge</a:t>
            </a:r>
          </a:p>
        </p:txBody>
      </p:sp>
      <p:cxnSp>
        <p:nvCxnSpPr>
          <p:cNvPr id="7" name="Straight Connector 6"/>
          <p:cNvCxnSpPr/>
          <p:nvPr/>
        </p:nvCxnSpPr>
        <p:spPr>
          <a:xfrm>
            <a:off x="6188076" y="2905125"/>
            <a:ext cx="4746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921126" y="2952750"/>
            <a:ext cx="47466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651250" y="5343525"/>
            <a:ext cx="4578350" cy="142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681413" y="5534026"/>
            <a:ext cx="328612" cy="317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489575" y="5543551"/>
            <a:ext cx="2719388" cy="111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684588" y="5737225"/>
            <a:ext cx="4565650" cy="635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681414" y="5929313"/>
            <a:ext cx="1736725" cy="476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Slide Number Placeholder 10"/>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微軟正黑體" panose="020B0604030504040204" pitchFamily="34" charset="-120"/>
              </a:defRPr>
            </a:lvl1pPr>
            <a:lvl2pPr marL="742950" indent="-285750" eaLnBrk="0" hangingPunct="0">
              <a:defRPr>
                <a:solidFill>
                  <a:schemeClr val="tx1"/>
                </a:solidFill>
                <a:latin typeface="Arial" panose="020B0604020202020204" pitchFamily="34" charset="0"/>
                <a:ea typeface="微軟正黑體" panose="020B0604030504040204" pitchFamily="34" charset="-120"/>
              </a:defRPr>
            </a:lvl2pPr>
            <a:lvl3pPr marL="1143000" indent="-228600" eaLnBrk="0" hangingPunct="0">
              <a:defRPr>
                <a:solidFill>
                  <a:schemeClr val="tx1"/>
                </a:solidFill>
                <a:latin typeface="Arial" panose="020B0604020202020204" pitchFamily="34" charset="0"/>
                <a:ea typeface="微軟正黑體" panose="020B0604030504040204" pitchFamily="34" charset="-120"/>
              </a:defRPr>
            </a:lvl3pPr>
            <a:lvl4pPr marL="1600200" indent="-228600" eaLnBrk="0" hangingPunct="0">
              <a:defRPr>
                <a:solidFill>
                  <a:schemeClr val="tx1"/>
                </a:solidFill>
                <a:latin typeface="Arial" panose="020B0604020202020204" pitchFamily="34" charset="0"/>
                <a:ea typeface="微軟正黑體" panose="020B0604030504040204" pitchFamily="34" charset="-120"/>
              </a:defRPr>
            </a:lvl4pPr>
            <a:lvl5pPr marL="2057400" indent="-228600" eaLnBrk="0" hangingPunct="0">
              <a:defRPr>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軟正黑體" panose="020B0604030504040204" pitchFamily="34" charset="-120"/>
              </a:defRPr>
            </a:lvl9pPr>
          </a:lstStyle>
          <a:p>
            <a:pPr eaLnBrk="1" hangingPunct="1"/>
            <a:fld id="{CF7D1E5E-240B-4D18-BFB7-3FA2CD6A1157}" type="slidenum">
              <a:rPr lang="zh-TW" altLang="en-US">
                <a:solidFill>
                  <a:srgbClr val="A7A399"/>
                </a:solidFill>
                <a:latin typeface="Verdana" panose="020B0604030504040204" pitchFamily="34" charset="0"/>
              </a:rPr>
              <a:pPr eaLnBrk="1" hangingPunct="1"/>
              <a:t>13</a:t>
            </a:fld>
            <a:endParaRPr lang="zh-TW" altLang="en-US">
              <a:solidFill>
                <a:srgbClr val="A7A399"/>
              </a:solidFill>
              <a:latin typeface="Verdana" panose="020B0604030504040204" pitchFamily="34" charset="0"/>
            </a:endParaRPr>
          </a:p>
        </p:txBody>
      </p:sp>
      <p:sp>
        <p:nvSpPr>
          <p:cNvPr id="12" name="Rectangle 2"/>
          <p:cNvSpPr txBox="1">
            <a:spLocks noChangeArrowheads="1"/>
          </p:cNvSpPr>
          <p:nvPr/>
        </p:nvSpPr>
        <p:spPr>
          <a:xfrm>
            <a:off x="1981200" y="6019800"/>
            <a:ext cx="7913688" cy="546100"/>
          </a:xfrm>
          <a:prstGeom prst="rect">
            <a:avLst/>
          </a:prstGeom>
        </p:spPr>
        <p:style>
          <a:lnRef idx="1">
            <a:schemeClr val="accent2"/>
          </a:lnRef>
          <a:fillRef idx="3">
            <a:schemeClr val="accent2"/>
          </a:fillRef>
          <a:effectRef idx="2">
            <a:schemeClr val="accent2"/>
          </a:effectRef>
          <a:fontRef idx="minor">
            <a:schemeClr val="lt1"/>
          </a:fontRef>
        </p:style>
        <p:txBody>
          <a:bodyPr anchor="b">
            <a:normAutofit/>
          </a:bodyPr>
          <a:lstStyle/>
          <a:p>
            <a:pPr>
              <a:defRPr/>
            </a:pPr>
            <a:r>
              <a:rPr lang="en-US" altLang="zh-TW" sz="2400" b="1" dirty="0">
                <a:solidFill>
                  <a:schemeClr val="bg1"/>
                </a:solidFill>
                <a:effectLst>
                  <a:outerShdw blurRad="53975" dist="22860" dir="5400000" algn="tl" rotWithShape="0">
                    <a:srgbClr val="000000">
                      <a:alpha val="55000"/>
                    </a:srgbClr>
                  </a:outerShdw>
                </a:effectLst>
                <a:latin typeface="+mj-lt"/>
                <a:ea typeface="新細明體" charset="-120"/>
                <a:cs typeface="+mj-cs"/>
              </a:rPr>
              <a:t>Increase in Penumbra, especially for high energy beam.</a:t>
            </a:r>
          </a:p>
        </p:txBody>
      </p:sp>
    </p:spTree>
    <p:extLst>
      <p:ext uri="{BB962C8B-B14F-4D97-AF65-F5344CB8AC3E}">
        <p14:creationId xmlns:p14="http://schemas.microsoft.com/office/powerpoint/2010/main" val="1475068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1701" y="-153647"/>
            <a:ext cx="10515600" cy="1325563"/>
          </a:xfrm>
        </p:spPr>
        <p:txBody>
          <a:bodyPr/>
          <a:lstStyle/>
          <a:p>
            <a:r>
              <a:rPr lang="en-US" altLang="en-US" dirty="0" smtClean="0"/>
              <a:t>Density Effects</a:t>
            </a:r>
          </a:p>
        </p:txBody>
      </p:sp>
      <p:sp>
        <p:nvSpPr>
          <p:cNvPr id="25603" name="Content Placeholder 2"/>
          <p:cNvSpPr>
            <a:spLocks noGrp="1"/>
          </p:cNvSpPr>
          <p:nvPr>
            <p:ph idx="1"/>
          </p:nvPr>
        </p:nvSpPr>
        <p:spPr>
          <a:xfrm>
            <a:off x="2263776" y="825501"/>
            <a:ext cx="7826375" cy="1274763"/>
          </a:xfrm>
        </p:spPr>
        <p:txBody>
          <a:bodyPr>
            <a:normAutofit fontScale="92500" lnSpcReduction="20000"/>
          </a:bodyPr>
          <a:lstStyle/>
          <a:p>
            <a:r>
              <a:rPr lang="en-US" altLang="en-US" smtClean="0"/>
              <a:t>Initial “build-up” of dose in water</a:t>
            </a:r>
          </a:p>
          <a:p>
            <a:r>
              <a:rPr lang="en-US" altLang="en-US" smtClean="0"/>
              <a:t>“Build-down” of dose in air</a:t>
            </a:r>
          </a:p>
          <a:p>
            <a:r>
              <a:rPr lang="en-US" altLang="en-US" smtClean="0"/>
              <a:t>“Re-build-up” of dose in distal water </a:t>
            </a:r>
          </a:p>
        </p:txBody>
      </p:sp>
      <p:pic>
        <p:nvPicPr>
          <p:cNvPr id="4" name="Picture 6"/>
          <p:cNvPicPr>
            <a:picLocks noChangeAspect="1" noChangeArrowheads="1"/>
          </p:cNvPicPr>
          <p:nvPr/>
        </p:nvPicPr>
        <p:blipFill>
          <a:blip r:embed="rId2" cstate="print">
            <a:duotone>
              <a:prstClr val="black"/>
              <a:srgbClr val="FFFFFF">
                <a:tint val="45000"/>
                <a:satMod val="400000"/>
              </a:srgbClr>
            </a:duotone>
          </a:blip>
          <a:srcRect/>
          <a:stretch>
            <a:fillRect/>
          </a:stretch>
        </p:blipFill>
        <p:spPr bwMode="auto">
          <a:xfrm>
            <a:off x="3843647" y="2416630"/>
            <a:ext cx="3962400" cy="2746375"/>
          </a:xfrm>
          <a:prstGeom prst="rect">
            <a:avLst/>
          </a:prstGeom>
          <a:noFill/>
          <a:ln w="9525">
            <a:noFill/>
            <a:miter lim="800000"/>
            <a:headEnd/>
            <a:tailEnd/>
          </a:ln>
          <a:effectLst/>
        </p:spPr>
      </p:pic>
      <p:sp>
        <p:nvSpPr>
          <p:cNvPr id="25605" name="TextBox 1"/>
          <p:cNvSpPr txBox="1">
            <a:spLocks noChangeArrowheads="1"/>
          </p:cNvSpPr>
          <p:nvPr/>
        </p:nvSpPr>
        <p:spPr bwMode="auto">
          <a:xfrm>
            <a:off x="3027363" y="5162551"/>
            <a:ext cx="6049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2"/>
                </a:solidFill>
                <a:latin typeface="Arial" panose="020B0604020202020204" pitchFamily="34" charset="0"/>
              </a:defRPr>
            </a:lvl1pPr>
            <a:lvl2pPr marL="742950" indent="-285750">
              <a:defRPr sz="1400">
                <a:solidFill>
                  <a:schemeClr val="tx2"/>
                </a:solidFill>
                <a:latin typeface="Arial" panose="020B0604020202020204" pitchFamily="34" charset="0"/>
              </a:defRPr>
            </a:lvl2pPr>
            <a:lvl3pPr marL="1143000" indent="-228600">
              <a:defRPr sz="1400">
                <a:solidFill>
                  <a:schemeClr val="tx2"/>
                </a:solidFill>
                <a:latin typeface="Arial" panose="020B0604020202020204" pitchFamily="34" charset="0"/>
              </a:defRPr>
            </a:lvl3pPr>
            <a:lvl4pPr marL="1600200" indent="-228600">
              <a:defRPr sz="1400">
                <a:solidFill>
                  <a:schemeClr val="tx2"/>
                </a:solidFill>
                <a:latin typeface="Arial" panose="020B0604020202020204" pitchFamily="34" charset="0"/>
              </a:defRPr>
            </a:lvl4pPr>
            <a:lvl5pPr marL="2057400" indent="-228600">
              <a:defRPr sz="1400">
                <a:solidFill>
                  <a:schemeClr val="tx2"/>
                </a:solidFill>
                <a:latin typeface="Arial" panose="020B0604020202020204" pitchFamily="34" charset="0"/>
              </a:defRPr>
            </a:lvl5pPr>
            <a:lvl6pPr marL="2514600" indent="-228600" eaLnBrk="0" fontAlgn="base" hangingPunct="0">
              <a:spcBef>
                <a:spcPct val="0"/>
              </a:spcBef>
              <a:spcAft>
                <a:spcPct val="0"/>
              </a:spcAft>
              <a:defRPr sz="1400">
                <a:solidFill>
                  <a:schemeClr val="tx2"/>
                </a:solidFill>
                <a:latin typeface="Arial" panose="020B0604020202020204" pitchFamily="34" charset="0"/>
              </a:defRPr>
            </a:lvl6pPr>
            <a:lvl7pPr marL="2971800" indent="-228600" eaLnBrk="0" fontAlgn="base" hangingPunct="0">
              <a:spcBef>
                <a:spcPct val="0"/>
              </a:spcBef>
              <a:spcAft>
                <a:spcPct val="0"/>
              </a:spcAft>
              <a:defRPr sz="1400">
                <a:solidFill>
                  <a:schemeClr val="tx2"/>
                </a:solidFill>
                <a:latin typeface="Arial" panose="020B0604020202020204" pitchFamily="34" charset="0"/>
              </a:defRPr>
            </a:lvl7pPr>
            <a:lvl8pPr marL="3429000" indent="-228600" eaLnBrk="0" fontAlgn="base" hangingPunct="0">
              <a:spcBef>
                <a:spcPct val="0"/>
              </a:spcBef>
              <a:spcAft>
                <a:spcPct val="0"/>
              </a:spcAft>
              <a:defRPr sz="1400">
                <a:solidFill>
                  <a:schemeClr val="tx2"/>
                </a:solidFill>
                <a:latin typeface="Arial" panose="020B0604020202020204" pitchFamily="34" charset="0"/>
              </a:defRPr>
            </a:lvl8pPr>
            <a:lvl9pPr marL="3886200" indent="-228600" eaLnBrk="0" fontAlgn="base" hangingPunct="0">
              <a:spcBef>
                <a:spcPct val="0"/>
              </a:spcBef>
              <a:spcAft>
                <a:spcPct val="0"/>
              </a:spcAft>
              <a:defRPr sz="1400">
                <a:solidFill>
                  <a:schemeClr val="tx2"/>
                </a:solidFill>
                <a:latin typeface="Arial" panose="020B0604020202020204" pitchFamily="34" charset="0"/>
              </a:defRPr>
            </a:lvl9pPr>
          </a:lstStyle>
          <a:p>
            <a:pPr eaLnBrk="1" hangingPunct="1"/>
            <a:r>
              <a:rPr lang="en-US" altLang="zh-CN">
                <a:ea typeface="宋体" panose="02010600030101010101" pitchFamily="2" charset="-122"/>
              </a:rPr>
              <a:t>Contributions of electron contributions launched in different density region</a:t>
            </a:r>
            <a:endParaRPr lang="zh-CN" altLang="en-US">
              <a:ea typeface="宋体" panose="02010600030101010101" pitchFamily="2" charset="-122"/>
            </a:endParaRPr>
          </a:p>
        </p:txBody>
      </p:sp>
    </p:spTree>
    <p:extLst>
      <p:ext uri="{BB962C8B-B14F-4D97-AF65-F5344CB8AC3E}">
        <p14:creationId xmlns:p14="http://schemas.microsoft.com/office/powerpoint/2010/main" val="921603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9"/>
          <p:cNvPicPr>
            <a:picLocks noChangeAspect="1" noChangeArrowheads="1"/>
          </p:cNvPicPr>
          <p:nvPr/>
        </p:nvPicPr>
        <p:blipFill>
          <a:blip r:embed="rId3" cstate="print"/>
          <a:srcRect/>
          <a:stretch>
            <a:fillRect/>
          </a:stretch>
        </p:blipFill>
        <p:spPr bwMode="auto">
          <a:xfrm>
            <a:off x="3309258" y="848450"/>
            <a:ext cx="5138941" cy="4057379"/>
          </a:xfrm>
          <a:prstGeom prst="rect">
            <a:avLst/>
          </a:prstGeom>
          <a:noFill/>
          <a:ln w="12700">
            <a:noFill/>
            <a:miter lim="800000"/>
            <a:headEnd/>
            <a:tailEnd/>
          </a:ln>
        </p:spPr>
      </p:pic>
      <p:sp>
        <p:nvSpPr>
          <p:cNvPr id="29700" name="Rectangle 3"/>
          <p:cNvSpPr txBox="1">
            <a:spLocks noChangeArrowheads="1"/>
          </p:cNvSpPr>
          <p:nvPr/>
        </p:nvSpPr>
        <p:spPr bwMode="auto">
          <a:xfrm>
            <a:off x="1843541" y="4534581"/>
            <a:ext cx="8171316" cy="2098449"/>
          </a:xfrm>
          <a:prstGeom prst="rect">
            <a:avLst/>
          </a:prstGeom>
          <a:noFill/>
          <a:ln w="9525">
            <a:noFill/>
            <a:miter lim="800000"/>
            <a:headEnd/>
            <a:tailEnd/>
          </a:ln>
        </p:spPr>
        <p:txBody>
          <a:bodyPr lIns="182880" tIns="91440"/>
          <a:lstStyle/>
          <a:p>
            <a:pPr marL="342900" indent="-342900">
              <a:spcBef>
                <a:spcPts val="250"/>
              </a:spcBef>
              <a:spcAft>
                <a:spcPts val="1200"/>
              </a:spcAft>
              <a:buClr>
                <a:schemeClr val="accent1"/>
              </a:buClr>
              <a:buSzPct val="80000"/>
              <a:buFont typeface="Wingdings" pitchFamily="2" charset="2"/>
              <a:buChar char="l"/>
            </a:pPr>
            <a:r>
              <a:rPr lang="en-US" sz="2400" dirty="0">
                <a:latin typeface="Verdana" pitchFamily="34" charset="0"/>
              </a:rPr>
              <a:t>Path-length based algorithms</a:t>
            </a:r>
            <a:r>
              <a:rPr lang="en-US" sz="2400" b="1" dirty="0">
                <a:latin typeface="Verdana" pitchFamily="34" charset="0"/>
              </a:rPr>
              <a:t> </a:t>
            </a:r>
            <a:r>
              <a:rPr lang="en-US" sz="2400" dirty="0">
                <a:latin typeface="Verdana" pitchFamily="34" charset="0"/>
              </a:rPr>
              <a:t>do </a:t>
            </a:r>
            <a:r>
              <a:rPr lang="en-US" sz="2400" b="1" dirty="0">
                <a:latin typeface="Verdana" pitchFamily="34" charset="0"/>
              </a:rPr>
              <a:t>NOT</a:t>
            </a:r>
            <a:r>
              <a:rPr lang="en-US" sz="2400" dirty="0">
                <a:latin typeface="Verdana" pitchFamily="34" charset="0"/>
              </a:rPr>
              <a:t> work in regions of electron disequilibrium.</a:t>
            </a:r>
            <a:r>
              <a:rPr lang="en-US" sz="2400" dirty="0">
                <a:solidFill>
                  <a:srgbClr val="FF0000"/>
                </a:solidFill>
                <a:latin typeface="Verdana" pitchFamily="34" charset="0"/>
              </a:rPr>
              <a:t>  </a:t>
            </a:r>
            <a:endParaRPr lang="en-US" sz="2400" dirty="0">
              <a:solidFill>
                <a:srgbClr val="FF0000"/>
              </a:solidFill>
              <a:latin typeface="Verdana" pitchFamily="34" charset="0"/>
            </a:endParaRPr>
          </a:p>
          <a:p>
            <a:pPr marL="342900" indent="-342900">
              <a:spcBef>
                <a:spcPts val="250"/>
              </a:spcBef>
              <a:spcAft>
                <a:spcPts val="1200"/>
              </a:spcAft>
              <a:buClr>
                <a:schemeClr val="accent1"/>
              </a:buClr>
              <a:buSzPct val="80000"/>
              <a:buFont typeface="Wingdings" pitchFamily="2" charset="2"/>
              <a:buChar char="l"/>
            </a:pPr>
            <a:r>
              <a:rPr lang="en-US" sz="2400" dirty="0">
                <a:latin typeface="Verdana" pitchFamily="34" charset="0"/>
              </a:rPr>
              <a:t>At location </a:t>
            </a:r>
            <a:r>
              <a:rPr lang="en-US" sz="2400" dirty="0">
                <a:latin typeface="Verdana" pitchFamily="34" charset="0"/>
              </a:rPr>
              <a:t>farther away from the interface, the conventional algorithms are fairly correct.</a:t>
            </a:r>
          </a:p>
        </p:txBody>
      </p:sp>
      <p:sp>
        <p:nvSpPr>
          <p:cNvPr id="29702" name="TextBox 10"/>
          <p:cNvSpPr txBox="1">
            <a:spLocks noChangeArrowheads="1"/>
          </p:cNvSpPr>
          <p:nvPr/>
        </p:nvSpPr>
        <p:spPr bwMode="auto">
          <a:xfrm>
            <a:off x="2073276" y="1851026"/>
            <a:ext cx="1408113" cy="646113"/>
          </a:xfrm>
          <a:prstGeom prst="rect">
            <a:avLst/>
          </a:prstGeom>
          <a:noFill/>
          <a:ln w="9525">
            <a:noFill/>
            <a:miter lim="800000"/>
            <a:headEnd/>
            <a:tailEnd/>
          </a:ln>
        </p:spPr>
        <p:txBody>
          <a:bodyPr wrap="none">
            <a:spAutoFit/>
          </a:bodyPr>
          <a:lstStyle/>
          <a:p>
            <a:r>
              <a:rPr lang="en-US" b="1" dirty="0">
                <a:latin typeface="Verdana" pitchFamily="34" charset="0"/>
              </a:rPr>
              <a:t>15MV,</a:t>
            </a:r>
          </a:p>
          <a:p>
            <a:r>
              <a:rPr lang="en-US" b="1" dirty="0">
                <a:latin typeface="Verdana" pitchFamily="34" charset="0"/>
              </a:rPr>
              <a:t>5 x 5 cm</a:t>
            </a:r>
            <a:r>
              <a:rPr lang="en-US" b="1" baseline="30000" dirty="0">
                <a:latin typeface="Verdana" pitchFamily="34" charset="0"/>
              </a:rPr>
              <a:t>2</a:t>
            </a:r>
            <a:endParaRPr lang="en-US" b="1" dirty="0">
              <a:latin typeface="Verdana" pitchFamily="34" charset="0"/>
            </a:endParaRPr>
          </a:p>
        </p:txBody>
      </p:sp>
      <p:sp>
        <p:nvSpPr>
          <p:cNvPr id="13" name="Rectangle 12"/>
          <p:cNvSpPr/>
          <p:nvPr/>
        </p:nvSpPr>
        <p:spPr>
          <a:xfrm>
            <a:off x="4503739" y="1450975"/>
            <a:ext cx="1387475" cy="25225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sp>
        <p:nvSpPr>
          <p:cNvPr id="14" name="Oval 13"/>
          <p:cNvSpPr/>
          <p:nvPr/>
        </p:nvSpPr>
        <p:spPr>
          <a:xfrm>
            <a:off x="6096000" y="1403351"/>
            <a:ext cx="1308100" cy="6778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sp>
        <p:nvSpPr>
          <p:cNvPr id="11" name="Title 10"/>
          <p:cNvSpPr>
            <a:spLocks noGrp="1"/>
          </p:cNvSpPr>
          <p:nvPr>
            <p:ph type="title"/>
          </p:nvPr>
        </p:nvSpPr>
        <p:spPr>
          <a:xfrm>
            <a:off x="1706880" y="233825"/>
            <a:ext cx="8516983" cy="732826"/>
          </a:xfrm>
        </p:spPr>
        <p:txBody>
          <a:bodyPr>
            <a:normAutofit fontScale="90000"/>
          </a:bodyPr>
          <a:lstStyle/>
          <a:p>
            <a:r>
              <a:rPr lang="en-US" sz="4000" dirty="0">
                <a:latin typeface="Arial" pitchFamily="34" charset="0"/>
                <a:cs typeface="Arial" pitchFamily="34" charset="0"/>
              </a:rPr>
              <a:t>Lung Dose: Calculation vs Measurement</a:t>
            </a:r>
            <a:endParaRPr lang="en-US" sz="4000" dirty="0">
              <a:latin typeface="Arial" pitchFamily="34" charset="0"/>
              <a:cs typeface="Arial" pitchFamily="34" charset="0"/>
            </a:endParaRPr>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15</a:t>
            </a:fld>
            <a:endParaRPr kumimoji="0" lang="en-US" dirty="0"/>
          </a:p>
        </p:txBody>
      </p:sp>
    </p:spTree>
    <p:extLst>
      <p:ext uri="{BB962C8B-B14F-4D97-AF65-F5344CB8AC3E}">
        <p14:creationId xmlns:p14="http://schemas.microsoft.com/office/powerpoint/2010/main" val="1202668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474</Words>
  <Application>Microsoft Office PowerPoint</Application>
  <PresentationFormat>Widescreen</PresentationFormat>
  <Paragraphs>52</Paragraphs>
  <Slides>15</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6" baseType="lpstr">
      <vt:lpstr>微軟正黑體</vt:lpstr>
      <vt:lpstr>PMingLiU</vt:lpstr>
      <vt:lpstr>PMingLiU</vt:lpstr>
      <vt:lpstr>宋体</vt:lpstr>
      <vt:lpstr>Arial</vt:lpstr>
      <vt:lpstr>Calibri</vt:lpstr>
      <vt:lpstr>Calibri Light</vt:lpstr>
      <vt:lpstr>Verdana</vt:lpstr>
      <vt:lpstr>Wingdings</vt:lpstr>
      <vt:lpstr>Office Theme</vt:lpstr>
      <vt:lpstr>Equation</vt:lpstr>
      <vt:lpstr>Reading Meeting Quiz 5</vt:lpstr>
      <vt:lpstr>Q1</vt:lpstr>
      <vt:lpstr>PowerPoint Presentation</vt:lpstr>
      <vt:lpstr>PowerPoint Presentation</vt:lpstr>
      <vt:lpstr>PowerPoint Presentation</vt:lpstr>
      <vt:lpstr>PowerPoint Presentation</vt:lpstr>
      <vt:lpstr>PowerPoint Presentation</vt:lpstr>
      <vt:lpstr>Q2</vt:lpstr>
      <vt:lpstr>Four categories (TG-65)</vt:lpstr>
      <vt:lpstr>1.4 Power law (Batho)</vt:lpstr>
      <vt:lpstr>1.4 Power law (Batho)</vt:lpstr>
      <vt:lpstr>Q3</vt:lpstr>
      <vt:lpstr>Illustration of tissue density effect near the beam edge</vt:lpstr>
      <vt:lpstr>Density Effects</vt:lpstr>
      <vt:lpstr>Lung Dose: Calculation vs Measurement</vt:lpstr>
    </vt:vector>
  </TitlesOfParts>
  <Company>Penn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Meeting ¾ Quiz</dc:title>
  <dc:creator>O'Reilly, Shannon</dc:creator>
  <cp:lastModifiedBy>O'Reilly, Shannon</cp:lastModifiedBy>
  <cp:revision>9</cp:revision>
  <dcterms:created xsi:type="dcterms:W3CDTF">2019-08-22T13:18:25Z</dcterms:created>
  <dcterms:modified xsi:type="dcterms:W3CDTF">2021-08-13T13:16:54Z</dcterms:modified>
</cp:coreProperties>
</file>