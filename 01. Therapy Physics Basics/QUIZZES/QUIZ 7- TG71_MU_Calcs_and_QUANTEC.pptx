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3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8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8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51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2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5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8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4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18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6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1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75E0-B8DF-4C86-A95B-B7AACF76B2A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E7AB-1234-49AF-B041-2501611CF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0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QUANTEC and MU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8</a:t>
            </a:r>
          </a:p>
        </p:txBody>
      </p:sp>
    </p:spTree>
    <p:extLst>
      <p:ext uri="{BB962C8B-B14F-4D97-AF65-F5344CB8AC3E}">
        <p14:creationId xmlns:p14="http://schemas.microsoft.com/office/powerpoint/2010/main" val="94401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Q1. QUANTEC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2737022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Fill in the blanks.</a:t>
            </a:r>
          </a:p>
          <a:p>
            <a:r>
              <a:rPr lang="en-US" dirty="0"/>
              <a:t>How do they compare to your institutions constraints?</a:t>
            </a:r>
          </a:p>
          <a:p>
            <a:r>
              <a:rPr lang="en-US" dirty="0"/>
              <a:t>Explain the difference between a parallel and a serial organ. Give examples.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0860"/>
          <a:stretch/>
        </p:blipFill>
        <p:spPr>
          <a:xfrm>
            <a:off x="4205017" y="1631092"/>
            <a:ext cx="7624518" cy="7012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21029" b="54492"/>
          <a:stretch/>
        </p:blipFill>
        <p:spPr>
          <a:xfrm>
            <a:off x="4205017" y="2546323"/>
            <a:ext cx="7666985" cy="2545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017" y="3345317"/>
            <a:ext cx="7749003" cy="11525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500" y="4815102"/>
            <a:ext cx="7969516" cy="51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9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Q2. Lung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435" r="6178"/>
          <a:stretch/>
        </p:blipFill>
        <p:spPr>
          <a:xfrm>
            <a:off x="5826211" y="1230527"/>
            <a:ext cx="5527589" cy="388620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44999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describe what beam arrangement you would use?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Typical OAR constraints?</a:t>
            </a:r>
          </a:p>
          <a:p>
            <a:r>
              <a:rPr lang="en-US" dirty="0">
                <a:solidFill>
                  <a:schemeClr val="bg1"/>
                </a:solidFill>
              </a:rPr>
              <a:t>Heart: Mean &lt; 26Gy, Lung-GTV: V20&lt;30%, Spinal Cord &lt;45 </a:t>
            </a:r>
            <a:r>
              <a:rPr lang="en-US" dirty="0" err="1">
                <a:solidFill>
                  <a:schemeClr val="bg1"/>
                </a:solidFill>
              </a:rPr>
              <a:t>Gy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15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Q3. MU </a:t>
            </a:r>
            <a:r>
              <a:rPr lang="en-US" b="1" dirty="0" err="1"/>
              <a:t>calc</a:t>
            </a:r>
            <a:r>
              <a:rPr lang="en-US" b="1" dirty="0"/>
              <a:t> - Photon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514" y="1825625"/>
            <a:ext cx="68065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What monitor-unit setting is necessary to deliver 200 </a:t>
            </a:r>
            <a:r>
              <a:rPr lang="en-US" altLang="en-US" dirty="0" err="1"/>
              <a:t>cGy</a:t>
            </a:r>
            <a:r>
              <a:rPr lang="en-US" altLang="en-US" dirty="0"/>
              <a:t> to a point at mid-separation in a phantom 20 cm thick. The phantom is irradiated with parallel opposed fields with a collimator setting of  12 x 20 cm. Fields are blocked to a 10 x 16 cm field using MLC at patient surface.  A 6 MV beam is used. Fields are weighted 3 to 1 and the dose is prescribed to the 98% IDL. At 100 SAD. </a:t>
            </a:r>
          </a:p>
          <a:p>
            <a:r>
              <a:rPr lang="en-US" altLang="en-US" dirty="0"/>
              <a:t>First calculate the equivalent squares: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12 x 20 = 15 ; 10 x 16 = 12.3 at surface, 13.7 at depth</a:t>
            </a:r>
          </a:p>
          <a:p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714" y="1825625"/>
            <a:ext cx="4246884" cy="361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4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Q3 cont. MU </a:t>
            </a:r>
            <a:r>
              <a:rPr lang="en-US" b="1" dirty="0" err="1"/>
              <a:t>calc</a:t>
            </a:r>
            <a:r>
              <a:rPr lang="en-US" b="1" dirty="0"/>
              <a:t> - Photon</a:t>
            </a:r>
          </a:p>
        </p:txBody>
      </p:sp>
      <p:sp>
        <p:nvSpPr>
          <p:cNvPr id="7" name="Rectangle 6"/>
          <p:cNvSpPr>
            <a:spLocks noGrp="1" noChangeArrowheads="1"/>
          </p:cNvSpPr>
          <p:nvPr/>
        </p:nvSpPr>
        <p:spPr bwMode="auto">
          <a:xfrm>
            <a:off x="713786" y="1690688"/>
            <a:ext cx="4722813" cy="449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>
                <a:effectLst/>
              </a:rPr>
              <a:t>First Field: Dose = ((200 x ¾)/(0.98) = 153.1</a:t>
            </a:r>
          </a:p>
          <a:p>
            <a:endParaRPr lang="en-US" altLang="en-US" sz="2800" dirty="0">
              <a:effectLst/>
            </a:endParaRPr>
          </a:p>
          <a:p>
            <a:r>
              <a:rPr lang="en-US" altLang="en-US" sz="2800" dirty="0">
                <a:effectLst/>
              </a:rPr>
              <a:t>Second Field : Dose = ((200 x ¼)/(0.98) = 51.0</a:t>
            </a:r>
          </a:p>
          <a:p>
            <a:endParaRPr lang="en-US" altLang="en-US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016" y="1896058"/>
            <a:ext cx="5865856" cy="103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Q4. MU </a:t>
            </a:r>
            <a:r>
              <a:rPr lang="en-US" b="1" dirty="0" err="1"/>
              <a:t>calc</a:t>
            </a:r>
            <a:r>
              <a:rPr lang="en-US" b="1" dirty="0"/>
              <a:t> - Electron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MUs required to deliver 200 </a:t>
            </a:r>
            <a:r>
              <a:rPr lang="en-US" dirty="0" err="1"/>
              <a:t>cGy</a:t>
            </a:r>
            <a:r>
              <a:rPr lang="en-US" dirty="0"/>
              <a:t> to a depth of </a:t>
            </a:r>
            <a:r>
              <a:rPr lang="en-US" dirty="0" err="1"/>
              <a:t>dm</a:t>
            </a:r>
            <a:r>
              <a:rPr lang="en-US" dirty="0"/>
              <a:t> at 100-cm SSD for a 6 × 10-cm</a:t>
            </a:r>
            <a:r>
              <a:rPr lang="en-US" baseline="30000" dirty="0"/>
              <a:t>2</a:t>
            </a:r>
            <a:r>
              <a:rPr lang="en-US" dirty="0"/>
              <a:t> insert in a 15 × 15-cm</a:t>
            </a:r>
            <a:r>
              <a:rPr lang="en-US" baseline="30000" dirty="0"/>
              <a:t>2</a:t>
            </a:r>
            <a:r>
              <a:rPr lang="en-US" dirty="0"/>
              <a:t> applicator.</a:t>
            </a:r>
          </a:p>
          <a:p>
            <a:r>
              <a:rPr lang="en-US" dirty="0"/>
              <a:t>Note: calibration at 100 SSD, </a:t>
            </a:r>
            <a:r>
              <a:rPr lang="en-US" dirty="0" err="1"/>
              <a:t>rc</a:t>
            </a:r>
            <a:r>
              <a:rPr lang="en-US" dirty="0"/>
              <a:t>= 10x10cm, </a:t>
            </a:r>
            <a:r>
              <a:rPr lang="en-US" dirty="0" err="1"/>
              <a:t>dmax</a:t>
            </a:r>
            <a:r>
              <a:rPr lang="en-US" dirty="0"/>
              <a:t> = 2.1 cm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367"/>
          <a:stretch/>
        </p:blipFill>
        <p:spPr>
          <a:xfrm>
            <a:off x="5308900" y="3509318"/>
            <a:ext cx="6296025" cy="8204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02" y="3369786"/>
            <a:ext cx="3551022" cy="30481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900" y="4329755"/>
            <a:ext cx="5972175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229" y="5014913"/>
            <a:ext cx="44862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6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TG-70 Ref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2" y="1690688"/>
            <a:ext cx="11058503" cy="379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3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265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QUANTEC and MU Quiz</vt:lpstr>
      <vt:lpstr>Q1. QUANTEC</vt:lpstr>
      <vt:lpstr>Q2. Lung</vt:lpstr>
      <vt:lpstr>Q3. MU calc - Photon</vt:lpstr>
      <vt:lpstr>Q3 cont. MU calc - Photon</vt:lpstr>
      <vt:lpstr>Q4. MU calc - Electron</vt:lpstr>
      <vt:lpstr>TG-70 Ref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QUANTEC and MU Quiz</dc:title>
  <dc:creator>O'Reilly, Shannon</dc:creator>
  <cp:lastModifiedBy>Byrd, Brook</cp:lastModifiedBy>
  <cp:revision>30</cp:revision>
  <dcterms:created xsi:type="dcterms:W3CDTF">2019-09-12T15:40:02Z</dcterms:created>
  <dcterms:modified xsi:type="dcterms:W3CDTF">2024-09-10T18:47:43Z</dcterms:modified>
</cp:coreProperties>
</file>