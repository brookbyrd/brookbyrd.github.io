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9715" autoAdjust="0"/>
  </p:normalViewPr>
  <p:slideViewPr>
    <p:cSldViewPr snapToGrid="0">
      <p:cViewPr varScale="1">
        <p:scale>
          <a:sx n="113" d="100"/>
          <a:sy n="113" d="100"/>
        </p:scale>
        <p:origin x="25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0267CB-5590-48DF-B05D-3723C468545B}" type="datetimeFigureOut">
              <a:rPr lang="en-US" smtClean="0"/>
              <a:t>8/28/2024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8B1FA-FA93-4FC1-8867-C41C46FABA4A}" type="slidenum">
              <a:rPr lang="en-US" smtClean="0"/>
              <a:t>‹#›</a:t>
            </a:fld>
            <a:endParaRPr lang="en-US"/>
          </a:p>
        </p:txBody>
      </p:sp>
    </p:spTree>
    <p:extLst>
      <p:ext uri="{BB962C8B-B14F-4D97-AF65-F5344CB8AC3E}">
        <p14:creationId xmlns:p14="http://schemas.microsoft.com/office/powerpoint/2010/main" val="2987047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78B1FA-FA93-4FC1-8867-C41C46FABA4A}" type="slidenum">
              <a:rPr lang="en-US" smtClean="0"/>
              <a:t>4</a:t>
            </a:fld>
            <a:endParaRPr lang="en-US"/>
          </a:p>
        </p:txBody>
      </p:sp>
    </p:spTree>
    <p:extLst>
      <p:ext uri="{BB962C8B-B14F-4D97-AF65-F5344CB8AC3E}">
        <p14:creationId xmlns:p14="http://schemas.microsoft.com/office/powerpoint/2010/main" val="3936151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4b shows the measured and calculated dose distributions, and the g index, for the same conditions as in Fig.4a The maximum value of gamma is 0.83, corresponding to the maximum value of the dose difference. The value of g in all regions is less than 1.0, indicating that the calculation passes the acceptance tests, consistent with the composite evaluation Fig. 4a. Dose differences in high dose gradient regions may therefore be relatively unimportant, and the concept of a distance-to-agreement ~DTA! distribution is used to determine the acceptability of the dose calculation. In low gradient regions, the doses are compared directly.</a:t>
            </a:r>
          </a:p>
        </p:txBody>
      </p:sp>
      <p:sp>
        <p:nvSpPr>
          <p:cNvPr id="4" name="Slide Number Placeholder 3"/>
          <p:cNvSpPr>
            <a:spLocks noGrp="1"/>
          </p:cNvSpPr>
          <p:nvPr>
            <p:ph type="sldNum" sz="quarter" idx="5"/>
          </p:nvPr>
        </p:nvSpPr>
        <p:spPr/>
        <p:txBody>
          <a:bodyPr/>
          <a:lstStyle/>
          <a:p>
            <a:fld id="{CF78B1FA-FA93-4FC1-8867-C41C46FABA4A}" type="slidenum">
              <a:rPr lang="en-US" smtClean="0"/>
              <a:t>5</a:t>
            </a:fld>
            <a:endParaRPr lang="en-US"/>
          </a:p>
        </p:txBody>
      </p:sp>
    </p:spTree>
    <p:extLst>
      <p:ext uri="{BB962C8B-B14F-4D97-AF65-F5344CB8AC3E}">
        <p14:creationId xmlns:p14="http://schemas.microsoft.com/office/powerpoint/2010/main" val="688344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err="1">
                <a:solidFill>
                  <a:schemeClr val="tx1"/>
                </a:solidFill>
                <a:effectLst/>
                <a:latin typeface="+mn-lt"/>
                <a:ea typeface="+mn-ea"/>
                <a:cs typeface="+mn-cs"/>
              </a:rPr>
              <a:t>MapCheck</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Detector Array—The </a:t>
            </a:r>
            <a:r>
              <a:rPr lang="en-US" sz="1200" i="1" kern="1200" dirty="0" err="1">
                <a:solidFill>
                  <a:schemeClr val="tx1"/>
                </a:solidFill>
                <a:effectLst/>
                <a:latin typeface="+mn-lt"/>
                <a:ea typeface="+mn-ea"/>
                <a:cs typeface="+mn-cs"/>
              </a:rPr>
              <a:t>MapCHECK</a:t>
            </a:r>
            <a:r>
              <a:rPr lang="en-US" sz="1200" i="1" kern="1200" dirty="0">
                <a:solidFill>
                  <a:schemeClr val="tx1"/>
                </a:solidFill>
                <a:effectLst/>
                <a:latin typeface="+mn-lt"/>
                <a:ea typeface="+mn-ea"/>
                <a:cs typeface="+mn-cs"/>
              </a:rPr>
              <a:t> 2 has 1,527 diode detectors arranged in a 26 x 32 cm array and indicated by small gray squares and circles. Each row is offset so that the diagonal spacing between detectors is 7.07 mm.</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ArcCheck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diode detectors are arranged in a spiral pattern with 10 mm detector spacing on the cylinder.  The </a:t>
            </a:r>
            <a:r>
              <a:rPr lang="en-US" sz="1200" kern="1200" dirty="0" err="1">
                <a:solidFill>
                  <a:schemeClr val="tx1"/>
                </a:solidFill>
                <a:effectLst/>
                <a:latin typeface="+mn-lt"/>
                <a:ea typeface="+mn-ea"/>
                <a:cs typeface="+mn-cs"/>
              </a:rPr>
              <a:t>ArcCHECK</a:t>
            </a:r>
            <a:r>
              <a:rPr lang="en-US" sz="1200" kern="1200" dirty="0">
                <a:solidFill>
                  <a:schemeClr val="tx1"/>
                </a:solidFill>
                <a:effectLst/>
                <a:latin typeface="+mn-lt"/>
                <a:ea typeface="+mn-ea"/>
                <a:cs typeface="+mn-cs"/>
              </a:rPr>
              <a:t> has a total of 21 spiral rings, with 66 diodes at each ring. </a:t>
            </a:r>
          </a:p>
          <a:p>
            <a:endParaRPr lang="en-US" dirty="0"/>
          </a:p>
        </p:txBody>
      </p:sp>
      <p:sp>
        <p:nvSpPr>
          <p:cNvPr id="4" name="Slide Number Placeholder 3"/>
          <p:cNvSpPr>
            <a:spLocks noGrp="1"/>
          </p:cNvSpPr>
          <p:nvPr>
            <p:ph type="sldNum" sz="quarter" idx="10"/>
          </p:nvPr>
        </p:nvSpPr>
        <p:spPr/>
        <p:txBody>
          <a:bodyPr/>
          <a:lstStyle/>
          <a:p>
            <a:fld id="{CF78B1FA-FA93-4FC1-8867-C41C46FABA4A}" type="slidenum">
              <a:rPr lang="en-US" smtClean="0"/>
              <a:t>6</a:t>
            </a:fld>
            <a:endParaRPr lang="en-US"/>
          </a:p>
        </p:txBody>
      </p:sp>
    </p:spTree>
    <p:extLst>
      <p:ext uri="{BB962C8B-B14F-4D97-AF65-F5344CB8AC3E}">
        <p14:creationId xmlns:p14="http://schemas.microsoft.com/office/powerpoint/2010/main" val="3947452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7FAB241-AB83-4292-B146-37493D9DFC3E}" type="datetimeFigureOut">
              <a:rPr lang="en-US" smtClean="0"/>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163798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FAB241-AB83-4292-B146-37493D9DFC3E}" type="datetimeFigureOut">
              <a:rPr lang="en-US" smtClean="0"/>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733084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7FAB241-AB83-4292-B146-37493D9DFC3E}" type="datetimeFigureOut">
              <a:rPr lang="en-US" smtClean="0"/>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2262513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FAB241-AB83-4292-B146-37493D9DFC3E}" type="datetimeFigureOut">
              <a:rPr lang="en-US" smtClean="0"/>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382159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FAB241-AB83-4292-B146-37493D9DFC3E}" type="datetimeFigureOut">
              <a:rPr lang="en-US" smtClean="0"/>
              <a:t>8/28/2024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1784722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7FAB241-AB83-4292-B146-37493D9DFC3E}" type="datetimeFigureOut">
              <a:rPr lang="en-US" smtClean="0"/>
              <a:t>8/28/2024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3189749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FAB241-AB83-4292-B146-37493D9DFC3E}" type="datetimeFigureOut">
              <a:rPr lang="en-US" smtClean="0"/>
              <a:t>8/28/2024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2151567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FAB241-AB83-4292-B146-37493D9DFC3E}" type="datetimeFigureOut">
              <a:rPr lang="en-US" smtClean="0"/>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999028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7FAB241-AB83-4292-B146-37493D9DFC3E}" type="datetimeFigureOut">
              <a:rPr lang="en-US" smtClean="0"/>
              <a:t>8/28/2024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2801606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FAB241-AB83-4292-B146-37493D9DFC3E}" type="datetimeFigureOut">
              <a:rPr lang="en-US" smtClean="0"/>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71064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FAB241-AB83-4292-B146-37493D9DFC3E}" type="datetimeFigureOut">
              <a:rPr lang="en-US" smtClean="0"/>
              <a:t>8/28/2024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573802-9FB9-4E37-9439-4A49D8E4FC67}" type="slidenum">
              <a:rPr lang="en-US" smtClean="0"/>
              <a:t>‹#›</a:t>
            </a:fld>
            <a:endParaRPr lang="en-US"/>
          </a:p>
        </p:txBody>
      </p:sp>
    </p:spTree>
    <p:extLst>
      <p:ext uri="{BB962C8B-B14F-4D97-AF65-F5344CB8AC3E}">
        <p14:creationId xmlns:p14="http://schemas.microsoft.com/office/powerpoint/2010/main" val="497667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FAB241-AB83-4292-B146-37493D9DFC3E}" type="datetimeFigureOut">
              <a:rPr lang="en-US" smtClean="0"/>
              <a:t>8/28/2024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573802-9FB9-4E37-9439-4A49D8E4FC67}" type="slidenum">
              <a:rPr lang="en-US" smtClean="0"/>
              <a:t>‹#›</a:t>
            </a:fld>
            <a:endParaRPr lang="en-US"/>
          </a:p>
        </p:txBody>
      </p:sp>
    </p:spTree>
    <p:extLst>
      <p:ext uri="{BB962C8B-B14F-4D97-AF65-F5344CB8AC3E}">
        <p14:creationId xmlns:p14="http://schemas.microsoft.com/office/powerpoint/2010/main" val="3304895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QA Quiz</a:t>
            </a:r>
            <a:br>
              <a:rPr lang="en-US" dirty="0"/>
            </a:br>
            <a:r>
              <a:rPr lang="en-US" dirty="0"/>
              <a:t>TG-218, Low et al.</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76790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Q1</a:t>
            </a:r>
          </a:p>
        </p:txBody>
      </p:sp>
      <p:sp>
        <p:nvSpPr>
          <p:cNvPr id="3" name="Content Placeholder 2"/>
          <p:cNvSpPr>
            <a:spLocks noGrp="1"/>
          </p:cNvSpPr>
          <p:nvPr>
            <p:ph idx="1"/>
          </p:nvPr>
        </p:nvSpPr>
        <p:spPr>
          <a:xfrm>
            <a:off x="838200" y="1825625"/>
            <a:ext cx="4013886" cy="4351338"/>
          </a:xfrm>
        </p:spPr>
        <p:txBody>
          <a:bodyPr/>
          <a:lstStyle/>
          <a:p>
            <a:r>
              <a:rPr lang="en-US" dirty="0"/>
              <a:t>Would this pass you QA?</a:t>
            </a:r>
          </a:p>
          <a:p>
            <a:r>
              <a:rPr lang="en-US" dirty="0"/>
              <a:t>What documents could you reference for QA passing criteria?</a:t>
            </a:r>
          </a:p>
          <a:p>
            <a:endParaRPr lang="en-US" dirty="0"/>
          </a:p>
        </p:txBody>
      </p:sp>
      <p:pic>
        <p:nvPicPr>
          <p:cNvPr id="4" name="Picture 3"/>
          <p:cNvPicPr>
            <a:picLocks noChangeAspect="1"/>
          </p:cNvPicPr>
          <p:nvPr/>
        </p:nvPicPr>
        <p:blipFill rotWithShape="1">
          <a:blip r:embed="rId2"/>
          <a:srcRect t="8866" r="49518" b="7118"/>
          <a:stretch/>
        </p:blipFill>
        <p:spPr>
          <a:xfrm>
            <a:off x="7041993" y="280086"/>
            <a:ext cx="4311807" cy="5741773"/>
          </a:xfrm>
          <a:prstGeom prst="rect">
            <a:avLst/>
          </a:prstGeom>
        </p:spPr>
      </p:pic>
    </p:spTree>
    <p:extLst>
      <p:ext uri="{BB962C8B-B14F-4D97-AF65-F5344CB8AC3E}">
        <p14:creationId xmlns:p14="http://schemas.microsoft.com/office/powerpoint/2010/main" val="2267027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Q2</a:t>
            </a:r>
          </a:p>
        </p:txBody>
      </p:sp>
      <p:sp>
        <p:nvSpPr>
          <p:cNvPr id="3" name="Content Placeholder 2"/>
          <p:cNvSpPr>
            <a:spLocks noGrp="1"/>
          </p:cNvSpPr>
          <p:nvPr>
            <p:ph idx="1"/>
          </p:nvPr>
        </p:nvSpPr>
        <p:spPr/>
        <p:txBody>
          <a:bodyPr/>
          <a:lstStyle/>
          <a:p>
            <a:r>
              <a:rPr lang="en-US" dirty="0"/>
              <a:t>Explain the differences between the three QA methods described in TG-218: PFF, PC, TC? </a:t>
            </a:r>
          </a:p>
          <a:p>
            <a:r>
              <a:rPr lang="en-US" dirty="0"/>
              <a:t>Which method is recommended?</a:t>
            </a:r>
          </a:p>
          <a:p>
            <a:r>
              <a:rPr lang="en-US" dirty="0"/>
              <a:t>What are the device limitations of this method?</a:t>
            </a:r>
          </a:p>
          <a:p>
            <a:r>
              <a:rPr lang="en-US" dirty="0"/>
              <a:t>What do you use at your institution?</a:t>
            </a:r>
          </a:p>
          <a:p>
            <a:endParaRPr lang="en-US" dirty="0"/>
          </a:p>
        </p:txBody>
      </p:sp>
    </p:spTree>
    <p:extLst>
      <p:ext uri="{BB962C8B-B14F-4D97-AF65-F5344CB8AC3E}">
        <p14:creationId xmlns:p14="http://schemas.microsoft.com/office/powerpoint/2010/main" val="1258967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Q3</a:t>
            </a:r>
          </a:p>
        </p:txBody>
      </p:sp>
      <p:sp>
        <p:nvSpPr>
          <p:cNvPr id="3" name="Content Placeholder 2"/>
          <p:cNvSpPr>
            <a:spLocks noGrp="1"/>
          </p:cNvSpPr>
          <p:nvPr>
            <p:ph idx="1"/>
          </p:nvPr>
        </p:nvSpPr>
        <p:spPr/>
        <p:txBody>
          <a:bodyPr>
            <a:normAutofit fontScale="85000" lnSpcReduction="20000"/>
          </a:bodyPr>
          <a:lstStyle/>
          <a:p>
            <a:r>
              <a:rPr lang="en-US" sz="3300" dirty="0"/>
              <a:t>What type of normalization is recommended for IMRT QA and why?</a:t>
            </a:r>
          </a:p>
          <a:p>
            <a:r>
              <a:rPr lang="en-US" sz="3300" dirty="0"/>
              <a:t>Why is a threshold of 10% of the prescription dose recommended?</a:t>
            </a:r>
          </a:p>
          <a:p>
            <a:r>
              <a:rPr lang="en-US" sz="3300" dirty="0"/>
              <a:t>What is the difference between a tolerance limit and an action limit?</a:t>
            </a:r>
          </a:p>
          <a:p>
            <a:endParaRPr lang="en-US" dirty="0">
              <a:solidFill>
                <a:schemeClr val="bg1"/>
              </a:solidFill>
            </a:endParaRPr>
          </a:p>
          <a:p>
            <a:pPr algn="l">
              <a:buFont typeface="Arial" panose="020B0604020202020204" pitchFamily="34" charset="0"/>
              <a:buChar char="•"/>
            </a:pPr>
            <a:r>
              <a:rPr lang="en-US" sz="1400" b="0" i="0" dirty="0">
                <a:solidFill>
                  <a:schemeClr val="bg1"/>
                </a:solidFill>
                <a:effectLst/>
                <a:highlight>
                  <a:srgbClr val="FFFFFF"/>
                </a:highlight>
                <a:latin typeface="Open Sans" panose="020B0606030504020204" pitchFamily="34" charset="0"/>
              </a:rPr>
              <a:t>Global normalization should be used. Global normalization is deemed more clinically relevant than local normalization. The global normalization point should be selected whenever possible in a low gradient region with a value that is ≥ 90% of the maximum dose in the plane of measurement. This will provide a more realistic measure of the comparison between the two dose distributions.</a:t>
            </a:r>
          </a:p>
          <a:p>
            <a:pPr algn="l">
              <a:buFont typeface="Arial" panose="020B0604020202020204" pitchFamily="34" charset="0"/>
              <a:buChar char="•"/>
            </a:pPr>
            <a:r>
              <a:rPr lang="en-US" sz="1400" b="0" i="0" dirty="0">
                <a:solidFill>
                  <a:schemeClr val="bg1"/>
                </a:solidFill>
                <a:effectLst/>
                <a:highlight>
                  <a:srgbClr val="FFFFFF"/>
                </a:highlight>
                <a:latin typeface="Open Sans" panose="020B0606030504020204" pitchFamily="34" charset="0"/>
              </a:rPr>
              <a:t>Local normalization is more stringent than global normalization for routine IMRT QA. It can be used during the IMRT commissioning process and for troubleshooting IMRT QA.</a:t>
            </a:r>
          </a:p>
          <a:p>
            <a:pPr algn="l">
              <a:buFont typeface="Arial" panose="020B0604020202020204" pitchFamily="34" charset="0"/>
              <a:buChar char="•"/>
            </a:pPr>
            <a:r>
              <a:rPr lang="en-US" sz="1400" b="0" i="0" dirty="0">
                <a:solidFill>
                  <a:schemeClr val="bg1"/>
                </a:solidFill>
                <a:effectLst/>
                <a:highlight>
                  <a:srgbClr val="FFFFFF"/>
                </a:highlight>
                <a:latin typeface="Open Sans" panose="020B0606030504020204" pitchFamily="34" charset="0"/>
              </a:rPr>
              <a:t>The dose threshold should be set to exclude low-dose areas that have no or little clinical relevance but can significantly bias the analysis. An example is setting the threshold to 10% in a case where the critical structure dose tolerance exceeds 10% of the prescription dose. This allows the γ passing rate analysis to ignore the large area or volume of dose points that lie in very low-dose regions which, if included, would tend to increase the passing rate when global normalization is used.</a:t>
            </a:r>
            <a:br>
              <a:rPr lang="en-US" sz="1400" b="0" i="0" dirty="0">
                <a:solidFill>
                  <a:schemeClr val="bg1"/>
                </a:solidFill>
                <a:effectLst/>
                <a:highlight>
                  <a:srgbClr val="FFFFFF"/>
                </a:highlight>
                <a:latin typeface="Open Sans" panose="020B0606030504020204" pitchFamily="34" charset="0"/>
              </a:rPr>
            </a:br>
            <a:r>
              <a:rPr lang="en-US" sz="1800" b="0" i="0" dirty="0">
                <a:solidFill>
                  <a:schemeClr val="bg1"/>
                </a:solidFill>
                <a:effectLst/>
                <a:highlight>
                  <a:srgbClr val="FFFFFF"/>
                </a:highlight>
                <a:latin typeface="Open Sans" panose="020B0606030504020204" pitchFamily="34" charset="0"/>
              </a:rPr>
              <a:t>Universal tolerance limits: the γ passing rate should be ≥ 95%, with 3%/2 mm and a 10% dose threshold.</a:t>
            </a:r>
          </a:p>
          <a:p>
            <a:pPr algn="l">
              <a:buFont typeface="Arial" panose="020B0604020202020204" pitchFamily="34" charset="0"/>
              <a:buChar char="•"/>
            </a:pPr>
            <a:r>
              <a:rPr lang="en-US" sz="1800" b="0" i="0" dirty="0">
                <a:solidFill>
                  <a:schemeClr val="bg1"/>
                </a:solidFill>
                <a:effectLst/>
                <a:highlight>
                  <a:srgbClr val="FFFFFF"/>
                </a:highlight>
                <a:latin typeface="Open Sans" panose="020B0606030504020204" pitchFamily="34" charset="0"/>
              </a:rPr>
              <a:t>•Universal action limits: the γ passing rate should be ≥ 90%, with 3%/2 mm and a 10% dose threshold.</a:t>
            </a:r>
          </a:p>
          <a:p>
            <a:pPr marL="742950" lvl="1" indent="-285750" algn="l">
              <a:buFont typeface="Arial" panose="020B0604020202020204" pitchFamily="34" charset="0"/>
              <a:buChar char="•"/>
            </a:pPr>
            <a:r>
              <a:rPr lang="en-US" sz="1500" b="0" i="0" dirty="0">
                <a:solidFill>
                  <a:schemeClr val="bg1"/>
                </a:solidFill>
                <a:effectLst/>
                <a:highlight>
                  <a:srgbClr val="FFFFFF"/>
                </a:highlight>
                <a:latin typeface="Open Sans" panose="020B0606030504020204" pitchFamily="34" charset="0"/>
              </a:rPr>
              <a:t>○If the plan fails this action limit, evaluate the γ failure distribution and determine if the failed points lie in regions where the dose differences are clinically irrelevant, in which case the plan may be clinically acceptable.</a:t>
            </a:r>
          </a:p>
          <a:p>
            <a:pPr algn="l">
              <a:buFont typeface="Arial" panose="020B0604020202020204" pitchFamily="34" charset="0"/>
              <a:buChar char="•"/>
            </a:pPr>
            <a:endParaRPr lang="en-US" sz="1400" b="0" i="0" dirty="0">
              <a:solidFill>
                <a:schemeClr val="bg1"/>
              </a:solidFill>
              <a:effectLst/>
              <a:highlight>
                <a:srgbClr val="FFFFFF"/>
              </a:highlight>
              <a:latin typeface="Open Sans" panose="020B0606030504020204" pitchFamily="34" charset="0"/>
            </a:endParaRPr>
          </a:p>
          <a:p>
            <a:pPr marL="0" indent="0">
              <a:buNone/>
            </a:pPr>
            <a:endParaRPr lang="en-US" dirty="0"/>
          </a:p>
        </p:txBody>
      </p:sp>
    </p:spTree>
    <p:extLst>
      <p:ext uri="{BB962C8B-B14F-4D97-AF65-F5344CB8AC3E}">
        <p14:creationId xmlns:p14="http://schemas.microsoft.com/office/powerpoint/2010/main" val="145200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Q4</a:t>
            </a:r>
          </a:p>
        </p:txBody>
      </p:sp>
      <p:sp>
        <p:nvSpPr>
          <p:cNvPr id="3" name="Content Placeholder 2"/>
          <p:cNvSpPr>
            <a:spLocks noGrp="1"/>
          </p:cNvSpPr>
          <p:nvPr>
            <p:ph idx="1"/>
          </p:nvPr>
        </p:nvSpPr>
        <p:spPr>
          <a:xfrm>
            <a:off x="838200" y="1825625"/>
            <a:ext cx="6361670" cy="4351338"/>
          </a:xfrm>
        </p:spPr>
        <p:txBody>
          <a:bodyPr>
            <a:normAutofit fontScale="92500" lnSpcReduction="10000"/>
          </a:bodyPr>
          <a:lstStyle/>
          <a:p>
            <a:r>
              <a:rPr lang="en-US" dirty="0"/>
              <a:t>What is wrong with this measurement?</a:t>
            </a:r>
          </a:p>
          <a:p>
            <a:r>
              <a:rPr lang="en-US" dirty="0"/>
              <a:t>Would this pass QA?</a:t>
            </a:r>
          </a:p>
          <a:p>
            <a:r>
              <a:rPr lang="en-US" dirty="0"/>
              <a:t>Describe which regions DTA and dose difference are used and why?</a:t>
            </a:r>
            <a:br>
              <a:rPr lang="en-US" dirty="0"/>
            </a:br>
            <a:r>
              <a:rPr lang="en-US" sz="1900" dirty="0">
                <a:solidFill>
                  <a:schemeClr val="bg1"/>
                </a:solidFill>
              </a:rPr>
              <a:t>The measured and calculated dose distributions for a </a:t>
            </a:r>
            <a:r>
              <a:rPr lang="en-US" sz="1900" dirty="0" err="1">
                <a:solidFill>
                  <a:schemeClr val="bg1"/>
                </a:solidFill>
              </a:rPr>
              <a:t>positionshift</a:t>
            </a:r>
            <a:r>
              <a:rPr lang="en-US" sz="1900" dirty="0">
                <a:solidFill>
                  <a:schemeClr val="bg1"/>
                </a:solidFill>
              </a:rPr>
              <a:t> of 0.25 cm ~x050.25 cm for the calculated dose </a:t>
            </a:r>
            <a:r>
              <a:rPr lang="en-US" sz="1900" dirty="0" err="1">
                <a:solidFill>
                  <a:schemeClr val="bg1"/>
                </a:solidFill>
              </a:rPr>
              <a:t>distri-bution</a:t>
            </a:r>
            <a:r>
              <a:rPr lang="en-US" sz="1900" dirty="0">
                <a:solidFill>
                  <a:schemeClr val="bg1"/>
                </a:solidFill>
              </a:rPr>
              <a:t>! are shown in Fig. 4~a!. The dose-difference and </a:t>
            </a:r>
            <a:r>
              <a:rPr lang="en-US" sz="1900" dirty="0" err="1">
                <a:solidFill>
                  <a:schemeClr val="bg1"/>
                </a:solidFill>
              </a:rPr>
              <a:t>DTAare</a:t>
            </a:r>
            <a:r>
              <a:rPr lang="en-US" sz="1900" dirty="0">
                <a:solidFill>
                  <a:schemeClr val="bg1"/>
                </a:solidFill>
              </a:rPr>
              <a:t> also shown. The dose difference is multiplied by 10 </a:t>
            </a:r>
            <a:r>
              <a:rPr lang="en-US" sz="1900" dirty="0" err="1">
                <a:solidFill>
                  <a:schemeClr val="bg1"/>
                </a:solidFill>
              </a:rPr>
              <a:t>suchthat</a:t>
            </a:r>
            <a:r>
              <a:rPr lang="en-US" sz="1900" dirty="0">
                <a:solidFill>
                  <a:schemeClr val="bg1"/>
                </a:solidFill>
              </a:rPr>
              <a:t> the position on the graph of the dose-difference criterion~3%! appears at the same location as the criterion for </a:t>
            </a:r>
            <a:r>
              <a:rPr lang="en-US" sz="1900" dirty="0" err="1">
                <a:solidFill>
                  <a:schemeClr val="bg1"/>
                </a:solidFill>
              </a:rPr>
              <a:t>theDTA</a:t>
            </a:r>
            <a:r>
              <a:rPr lang="en-US" sz="1900" dirty="0">
                <a:solidFill>
                  <a:schemeClr val="bg1"/>
                </a:solidFill>
              </a:rPr>
              <a:t> ~3 mm!. The passing criterion is shown as a thick dot–dashed horizontal line at 0.3.The DTA is a constant 0.25 cm, as expected. The </a:t>
            </a:r>
            <a:r>
              <a:rPr lang="en-US" sz="1900" dirty="0" err="1">
                <a:solidFill>
                  <a:schemeClr val="bg1"/>
                </a:solidFill>
              </a:rPr>
              <a:t>dosedifference</a:t>
            </a:r>
            <a:r>
              <a:rPr lang="en-US" sz="1900" dirty="0">
                <a:solidFill>
                  <a:schemeClr val="bg1"/>
                </a:solidFill>
              </a:rPr>
              <a:t> rises rapidly at the penumbra, peaking beyond </a:t>
            </a:r>
            <a:r>
              <a:rPr lang="en-US" sz="1900" dirty="0" err="1">
                <a:solidFill>
                  <a:schemeClr val="bg1"/>
                </a:solidFill>
              </a:rPr>
              <a:t>thescope</a:t>
            </a:r>
            <a:r>
              <a:rPr lang="en-US" sz="1900" dirty="0">
                <a:solidFill>
                  <a:schemeClr val="bg1"/>
                </a:solidFill>
              </a:rPr>
              <a:t> of the graph, with a value of 0.33. Because the DTA </a:t>
            </a:r>
            <a:r>
              <a:rPr lang="en-US" sz="1900" dirty="0" err="1">
                <a:solidFill>
                  <a:schemeClr val="bg1"/>
                </a:solidFill>
              </a:rPr>
              <a:t>isalways</a:t>
            </a:r>
            <a:r>
              <a:rPr lang="en-US" sz="1900" dirty="0">
                <a:solidFill>
                  <a:schemeClr val="bg1"/>
                </a:solidFill>
              </a:rPr>
              <a:t> less than 0.3 cm, there are no regions that fail </a:t>
            </a:r>
            <a:r>
              <a:rPr lang="en-US" sz="1900" dirty="0" err="1">
                <a:solidFill>
                  <a:schemeClr val="bg1"/>
                </a:solidFill>
              </a:rPr>
              <a:t>thecomposite</a:t>
            </a:r>
            <a:r>
              <a:rPr lang="en-US" sz="1900" dirty="0">
                <a:solidFill>
                  <a:schemeClr val="bg1"/>
                </a:solidFill>
              </a:rPr>
              <a:t> evaluation</a:t>
            </a:r>
            <a:endParaRPr lang="en-US" dirty="0">
              <a:solidFill>
                <a:schemeClr val="bg1"/>
              </a:solidFill>
            </a:endParaRPr>
          </a:p>
        </p:txBody>
      </p:sp>
      <p:pic>
        <p:nvPicPr>
          <p:cNvPr id="4" name="Picture 3"/>
          <p:cNvPicPr>
            <a:picLocks noChangeAspect="1"/>
          </p:cNvPicPr>
          <p:nvPr/>
        </p:nvPicPr>
        <p:blipFill>
          <a:blip r:embed="rId3"/>
          <a:stretch>
            <a:fillRect/>
          </a:stretch>
        </p:blipFill>
        <p:spPr>
          <a:xfrm>
            <a:off x="7848729" y="700216"/>
            <a:ext cx="3580367" cy="2501214"/>
          </a:xfrm>
          <a:prstGeom prst="rect">
            <a:avLst/>
          </a:prstGeom>
        </p:spPr>
      </p:pic>
      <p:pic>
        <p:nvPicPr>
          <p:cNvPr id="5" name="Picture 4"/>
          <p:cNvPicPr>
            <a:picLocks noChangeAspect="1"/>
          </p:cNvPicPr>
          <p:nvPr/>
        </p:nvPicPr>
        <p:blipFill>
          <a:blip r:embed="rId4"/>
          <a:stretch>
            <a:fillRect/>
          </a:stretch>
        </p:blipFill>
        <p:spPr>
          <a:xfrm>
            <a:off x="7918493" y="3336367"/>
            <a:ext cx="3324225" cy="2447925"/>
          </a:xfrm>
          <a:prstGeom prst="rect">
            <a:avLst/>
          </a:prstGeom>
        </p:spPr>
      </p:pic>
    </p:spTree>
    <p:extLst>
      <p:ext uri="{BB962C8B-B14F-4D97-AF65-F5344CB8AC3E}">
        <p14:creationId xmlns:p14="http://schemas.microsoft.com/office/powerpoint/2010/main" val="2998772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Q5</a:t>
            </a:r>
          </a:p>
        </p:txBody>
      </p:sp>
      <p:sp>
        <p:nvSpPr>
          <p:cNvPr id="3" name="Content Placeholder 2"/>
          <p:cNvSpPr>
            <a:spLocks noGrp="1"/>
          </p:cNvSpPr>
          <p:nvPr>
            <p:ph idx="1"/>
          </p:nvPr>
        </p:nvSpPr>
        <p:spPr>
          <a:xfrm>
            <a:off x="838200" y="1825625"/>
            <a:ext cx="6526427" cy="4351338"/>
          </a:xfrm>
        </p:spPr>
        <p:txBody>
          <a:bodyPr/>
          <a:lstStyle/>
          <a:p>
            <a:r>
              <a:rPr lang="en-US" dirty="0"/>
              <a:t>Describe each device and it’s use in IMRT QA.</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backgroundRemoval t="0" b="89849" l="0" r="96621"/>
                    </a14:imgEffect>
                  </a14:imgLayer>
                </a14:imgProps>
              </a:ext>
            </a:extLst>
          </a:blip>
          <a:stretch>
            <a:fillRect/>
          </a:stretch>
        </p:blipFill>
        <p:spPr>
          <a:xfrm>
            <a:off x="8718148" y="3848793"/>
            <a:ext cx="3228781" cy="2945909"/>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3570" y="336795"/>
            <a:ext cx="4917128" cy="3444529"/>
          </a:xfrm>
          <a:prstGeom prst="rect">
            <a:avLst/>
          </a:prstGeom>
        </p:spPr>
      </p:pic>
    </p:spTree>
    <p:extLst>
      <p:ext uri="{BB962C8B-B14F-4D97-AF65-F5344CB8AC3E}">
        <p14:creationId xmlns:p14="http://schemas.microsoft.com/office/powerpoint/2010/main" val="3044795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TotalTime>
  <Words>755</Words>
  <Application>Microsoft Office PowerPoint</Application>
  <PresentationFormat>Widescreen</PresentationFormat>
  <Paragraphs>33</Paragraphs>
  <Slides>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Open Sans</vt:lpstr>
      <vt:lpstr>Office Theme</vt:lpstr>
      <vt:lpstr>QA Quiz TG-218, Low et al.</vt:lpstr>
      <vt:lpstr>Q1</vt:lpstr>
      <vt:lpstr>Q2</vt:lpstr>
      <vt:lpstr>Q3</vt:lpstr>
      <vt:lpstr>Q4</vt:lpstr>
      <vt:lpstr>Q5</vt:lpstr>
    </vt:vector>
  </TitlesOfParts>
  <Company>Penn Medicine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 Quiz Session 6</dc:title>
  <dc:creator>O'Reilly, Shannon</dc:creator>
  <cp:lastModifiedBy>O'Reilly, Shannon</cp:lastModifiedBy>
  <cp:revision>11</cp:revision>
  <dcterms:created xsi:type="dcterms:W3CDTF">2019-09-04T15:19:04Z</dcterms:created>
  <dcterms:modified xsi:type="dcterms:W3CDTF">2024-08-28T20:42:30Z</dcterms:modified>
</cp:coreProperties>
</file>