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9"/>
  </p:notesMasterIdLst>
  <p:handoutMasterIdLst>
    <p:handoutMasterId r:id="rId60"/>
  </p:handoutMasterIdLst>
  <p:sldIdLst>
    <p:sldId id="798" r:id="rId2"/>
    <p:sldId id="812" r:id="rId3"/>
    <p:sldId id="259" r:id="rId4"/>
    <p:sldId id="260" r:id="rId5"/>
    <p:sldId id="840" r:id="rId6"/>
    <p:sldId id="838" r:id="rId7"/>
    <p:sldId id="839" r:id="rId8"/>
    <p:sldId id="841" r:id="rId9"/>
    <p:sldId id="845" r:id="rId10"/>
    <p:sldId id="877" r:id="rId11"/>
    <p:sldId id="880" r:id="rId12"/>
    <p:sldId id="881" r:id="rId13"/>
    <p:sldId id="882" r:id="rId14"/>
    <p:sldId id="844" r:id="rId15"/>
    <p:sldId id="846" r:id="rId16"/>
    <p:sldId id="311" r:id="rId17"/>
    <p:sldId id="836" r:id="rId18"/>
    <p:sldId id="847" r:id="rId19"/>
    <p:sldId id="272" r:id="rId20"/>
    <p:sldId id="879" r:id="rId21"/>
    <p:sldId id="878" r:id="rId22"/>
    <p:sldId id="273" r:id="rId23"/>
    <p:sldId id="274" r:id="rId24"/>
    <p:sldId id="883" r:id="rId25"/>
    <p:sldId id="280" r:id="rId26"/>
    <p:sldId id="279" r:id="rId27"/>
    <p:sldId id="278" r:id="rId28"/>
    <p:sldId id="281" r:id="rId29"/>
    <p:sldId id="884" r:id="rId30"/>
    <p:sldId id="885" r:id="rId31"/>
    <p:sldId id="886" r:id="rId32"/>
    <p:sldId id="887" r:id="rId33"/>
    <p:sldId id="888" r:id="rId34"/>
    <p:sldId id="889" r:id="rId35"/>
    <p:sldId id="890" r:id="rId36"/>
    <p:sldId id="848" r:id="rId37"/>
    <p:sldId id="849" r:id="rId38"/>
    <p:sldId id="850" r:id="rId39"/>
    <p:sldId id="851" r:id="rId40"/>
    <p:sldId id="852" r:id="rId41"/>
    <p:sldId id="853" r:id="rId42"/>
    <p:sldId id="854" r:id="rId43"/>
    <p:sldId id="855" r:id="rId44"/>
    <p:sldId id="856" r:id="rId45"/>
    <p:sldId id="857" r:id="rId46"/>
    <p:sldId id="858" r:id="rId47"/>
    <p:sldId id="859" r:id="rId48"/>
    <p:sldId id="860" r:id="rId49"/>
    <p:sldId id="861" r:id="rId50"/>
    <p:sldId id="862" r:id="rId51"/>
    <p:sldId id="863" r:id="rId52"/>
    <p:sldId id="864" r:id="rId53"/>
    <p:sldId id="865" r:id="rId54"/>
    <p:sldId id="866" r:id="rId55"/>
    <p:sldId id="867" r:id="rId56"/>
    <p:sldId id="876" r:id="rId57"/>
    <p:sldId id="875" r:id="rId58"/>
  </p:sldIdLst>
  <p:sldSz cx="12192000" cy="6858000"/>
  <p:notesSz cx="7053263" cy="9356725"/>
  <p:defaultTextStyle>
    <a:defPPr>
      <a:defRPr lang="en-US"/>
    </a:defPPr>
    <a:lvl1pPr algn="l" rtl="0" eaLnBrk="0" fontAlgn="base" hangingPunct="0">
      <a:spcBef>
        <a:spcPct val="0"/>
      </a:spcBef>
      <a:spcAft>
        <a:spcPct val="0"/>
      </a:spcAft>
      <a:defRPr sz="1400" kern="1200">
        <a:solidFill>
          <a:schemeClr val="tx2"/>
        </a:solidFill>
        <a:latin typeface="Arial" panose="020B0604020202020204" pitchFamily="34" charset="0"/>
        <a:ea typeface="+mn-ea"/>
        <a:cs typeface="+mn-cs"/>
      </a:defRPr>
    </a:lvl1pPr>
    <a:lvl2pPr marL="457200" algn="l" rtl="0" eaLnBrk="0" fontAlgn="base" hangingPunct="0">
      <a:spcBef>
        <a:spcPct val="0"/>
      </a:spcBef>
      <a:spcAft>
        <a:spcPct val="0"/>
      </a:spcAft>
      <a:defRPr sz="1400" kern="1200">
        <a:solidFill>
          <a:schemeClr val="tx2"/>
        </a:solidFill>
        <a:latin typeface="Arial" panose="020B0604020202020204" pitchFamily="34" charset="0"/>
        <a:ea typeface="+mn-ea"/>
        <a:cs typeface="+mn-cs"/>
      </a:defRPr>
    </a:lvl2pPr>
    <a:lvl3pPr marL="914400" algn="l" rtl="0" eaLnBrk="0" fontAlgn="base" hangingPunct="0">
      <a:spcBef>
        <a:spcPct val="0"/>
      </a:spcBef>
      <a:spcAft>
        <a:spcPct val="0"/>
      </a:spcAft>
      <a:defRPr sz="1400" kern="1200">
        <a:solidFill>
          <a:schemeClr val="tx2"/>
        </a:solidFill>
        <a:latin typeface="Arial" panose="020B0604020202020204" pitchFamily="34" charset="0"/>
        <a:ea typeface="+mn-ea"/>
        <a:cs typeface="+mn-cs"/>
      </a:defRPr>
    </a:lvl3pPr>
    <a:lvl4pPr marL="1371600" algn="l" rtl="0" eaLnBrk="0" fontAlgn="base" hangingPunct="0">
      <a:spcBef>
        <a:spcPct val="0"/>
      </a:spcBef>
      <a:spcAft>
        <a:spcPct val="0"/>
      </a:spcAft>
      <a:defRPr sz="1400" kern="1200">
        <a:solidFill>
          <a:schemeClr val="tx2"/>
        </a:solidFill>
        <a:latin typeface="Arial" panose="020B0604020202020204" pitchFamily="34" charset="0"/>
        <a:ea typeface="+mn-ea"/>
        <a:cs typeface="+mn-cs"/>
      </a:defRPr>
    </a:lvl4pPr>
    <a:lvl5pPr marL="1828800" algn="l" rtl="0" eaLnBrk="0" fontAlgn="base" hangingPunct="0">
      <a:spcBef>
        <a:spcPct val="0"/>
      </a:spcBef>
      <a:spcAft>
        <a:spcPct val="0"/>
      </a:spcAft>
      <a:defRPr sz="1400" kern="1200">
        <a:solidFill>
          <a:schemeClr val="tx2"/>
        </a:solidFill>
        <a:latin typeface="Arial" panose="020B0604020202020204" pitchFamily="34" charset="0"/>
        <a:ea typeface="+mn-ea"/>
        <a:cs typeface="+mn-cs"/>
      </a:defRPr>
    </a:lvl5pPr>
    <a:lvl6pPr marL="2286000" algn="l" defTabSz="914400" rtl="0" eaLnBrk="1" latinLnBrk="0" hangingPunct="1">
      <a:defRPr sz="1400" kern="1200">
        <a:solidFill>
          <a:schemeClr val="tx2"/>
        </a:solidFill>
        <a:latin typeface="Arial" panose="020B0604020202020204" pitchFamily="34" charset="0"/>
        <a:ea typeface="+mn-ea"/>
        <a:cs typeface="+mn-cs"/>
      </a:defRPr>
    </a:lvl6pPr>
    <a:lvl7pPr marL="2743200" algn="l" defTabSz="914400" rtl="0" eaLnBrk="1" latinLnBrk="0" hangingPunct="1">
      <a:defRPr sz="1400" kern="1200">
        <a:solidFill>
          <a:schemeClr val="tx2"/>
        </a:solidFill>
        <a:latin typeface="Arial" panose="020B0604020202020204" pitchFamily="34" charset="0"/>
        <a:ea typeface="+mn-ea"/>
        <a:cs typeface="+mn-cs"/>
      </a:defRPr>
    </a:lvl7pPr>
    <a:lvl8pPr marL="3200400" algn="l" defTabSz="914400" rtl="0" eaLnBrk="1" latinLnBrk="0" hangingPunct="1">
      <a:defRPr sz="1400" kern="1200">
        <a:solidFill>
          <a:schemeClr val="tx2"/>
        </a:solidFill>
        <a:latin typeface="Arial" panose="020B0604020202020204" pitchFamily="34" charset="0"/>
        <a:ea typeface="+mn-ea"/>
        <a:cs typeface="+mn-cs"/>
      </a:defRPr>
    </a:lvl8pPr>
    <a:lvl9pPr marL="3657600" algn="l" defTabSz="914400" rtl="0" eaLnBrk="1" latinLnBrk="0" hangingPunct="1">
      <a:defRPr sz="1400" kern="1200">
        <a:solidFill>
          <a:schemeClr val="tx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48">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D95639"/>
    <a:srgbClr val="D95400"/>
    <a:srgbClr val="D93E10"/>
    <a:srgbClr val="D34900"/>
    <a:srgbClr val="B9CE00"/>
    <a:srgbClr val="65A4D6"/>
    <a:srgbClr val="00A1B1"/>
    <a:srgbClr val="00929F"/>
    <a:srgbClr val="022E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43"/>
    <p:restoredTop sz="97212" autoAdjust="0"/>
  </p:normalViewPr>
  <p:slideViewPr>
    <p:cSldViewPr snapToGrid="0">
      <p:cViewPr varScale="1">
        <p:scale>
          <a:sx n="66" d="100"/>
          <a:sy n="66" d="100"/>
        </p:scale>
        <p:origin x="512" y="1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948"/>
        <p:guide pos="222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DD0B7EB-840B-794B-BCFF-F1E6367F115C}"/>
              </a:ext>
            </a:extLst>
          </p:cNvPr>
          <p:cNvSpPr>
            <a:spLocks noGrp="1" noChangeArrowheads="1"/>
          </p:cNvSpPr>
          <p:nvPr>
            <p:ph type="hdr" sz="quarter"/>
          </p:nvPr>
        </p:nvSpPr>
        <p:spPr bwMode="auto">
          <a:xfrm>
            <a:off x="0" y="1588"/>
            <a:ext cx="30559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t" anchorCtr="0" compatLnSpc="1">
            <a:prstTxWarp prst="textNoShape">
              <a:avLst/>
            </a:prstTxWarp>
          </a:bodyPr>
          <a:lstStyle>
            <a:lvl1pPr defTabSz="942975" eaLnBrk="0" hangingPunct="0">
              <a:defRPr sz="1000" i="1" smtClean="0">
                <a:solidFill>
                  <a:schemeClr val="tx1"/>
                </a:solidFill>
              </a:defRPr>
            </a:lvl1pPr>
          </a:lstStyle>
          <a:p>
            <a:pPr>
              <a:defRPr/>
            </a:pPr>
            <a:endParaRPr lang="en-US" altLang="en-US"/>
          </a:p>
        </p:txBody>
      </p:sp>
      <p:sp>
        <p:nvSpPr>
          <p:cNvPr id="4099" name="Rectangle 3">
            <a:extLst>
              <a:ext uri="{FF2B5EF4-FFF2-40B4-BE49-F238E27FC236}">
                <a16:creationId xmlns:a16="http://schemas.microsoft.com/office/drawing/2014/main" id="{2F42ACE2-E45A-B349-A943-369A99855312}"/>
              </a:ext>
            </a:extLst>
          </p:cNvPr>
          <p:cNvSpPr>
            <a:spLocks noGrp="1" noChangeArrowheads="1"/>
          </p:cNvSpPr>
          <p:nvPr>
            <p:ph type="dt" sz="quarter" idx="1"/>
          </p:nvPr>
        </p:nvSpPr>
        <p:spPr bwMode="auto">
          <a:xfrm>
            <a:off x="3997325" y="1588"/>
            <a:ext cx="30559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t" anchorCtr="0" compatLnSpc="1">
            <a:prstTxWarp prst="textNoShape">
              <a:avLst/>
            </a:prstTxWarp>
          </a:bodyPr>
          <a:lstStyle>
            <a:lvl1pPr algn="r" defTabSz="942975" eaLnBrk="0" hangingPunct="0">
              <a:defRPr sz="1000" i="1" smtClean="0">
                <a:solidFill>
                  <a:schemeClr val="tx1"/>
                </a:solidFill>
              </a:defRPr>
            </a:lvl1pPr>
          </a:lstStyle>
          <a:p>
            <a:pPr>
              <a:defRPr/>
            </a:pPr>
            <a:endParaRPr lang="en-US" altLang="en-US"/>
          </a:p>
        </p:txBody>
      </p:sp>
      <p:sp>
        <p:nvSpPr>
          <p:cNvPr id="4100" name="Rectangle 4">
            <a:extLst>
              <a:ext uri="{FF2B5EF4-FFF2-40B4-BE49-F238E27FC236}">
                <a16:creationId xmlns:a16="http://schemas.microsoft.com/office/drawing/2014/main" id="{571754D2-917C-1446-B17B-265137B7FA53}"/>
              </a:ext>
            </a:extLst>
          </p:cNvPr>
          <p:cNvSpPr>
            <a:spLocks noGrp="1" noChangeArrowheads="1"/>
          </p:cNvSpPr>
          <p:nvPr>
            <p:ph type="ftr" sz="quarter" idx="2"/>
          </p:nvPr>
        </p:nvSpPr>
        <p:spPr bwMode="auto">
          <a:xfrm>
            <a:off x="0" y="8890000"/>
            <a:ext cx="30559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b" anchorCtr="0" compatLnSpc="1">
            <a:prstTxWarp prst="textNoShape">
              <a:avLst/>
            </a:prstTxWarp>
          </a:bodyPr>
          <a:lstStyle>
            <a:lvl1pPr defTabSz="942975" eaLnBrk="0" hangingPunct="0">
              <a:defRPr sz="1000" i="1" smtClean="0">
                <a:solidFill>
                  <a:schemeClr val="tx1"/>
                </a:solidFill>
              </a:defRPr>
            </a:lvl1pPr>
          </a:lstStyle>
          <a:p>
            <a:pPr>
              <a:defRPr/>
            </a:pPr>
            <a:endParaRPr lang="en-US" altLang="en-US"/>
          </a:p>
        </p:txBody>
      </p:sp>
      <p:sp>
        <p:nvSpPr>
          <p:cNvPr id="4101" name="Rectangle 5">
            <a:extLst>
              <a:ext uri="{FF2B5EF4-FFF2-40B4-BE49-F238E27FC236}">
                <a16:creationId xmlns:a16="http://schemas.microsoft.com/office/drawing/2014/main" id="{B4B935EA-1CD8-8C49-A664-1FCA43D9D26F}"/>
              </a:ext>
            </a:extLst>
          </p:cNvPr>
          <p:cNvSpPr>
            <a:spLocks noGrp="1" noChangeArrowheads="1"/>
          </p:cNvSpPr>
          <p:nvPr>
            <p:ph type="sldNum" sz="quarter" idx="3"/>
          </p:nvPr>
        </p:nvSpPr>
        <p:spPr bwMode="auto">
          <a:xfrm>
            <a:off x="3997325" y="8890000"/>
            <a:ext cx="30559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b" anchorCtr="0" compatLnSpc="1">
            <a:prstTxWarp prst="textNoShape">
              <a:avLst/>
            </a:prstTxWarp>
          </a:bodyPr>
          <a:lstStyle>
            <a:lvl1pPr algn="r" defTabSz="942975" eaLnBrk="0" hangingPunct="0">
              <a:defRPr sz="1000" i="1" smtClean="0">
                <a:solidFill>
                  <a:schemeClr val="tx1"/>
                </a:solidFill>
              </a:defRPr>
            </a:lvl1pPr>
          </a:lstStyle>
          <a:p>
            <a:pPr>
              <a:defRPr/>
            </a:pPr>
            <a:fld id="{81B3EE1C-3998-5A4F-B167-D6C18067212C}" type="slidenum">
              <a:rPr lang="en-US" altLang="en-US"/>
              <a:pPr>
                <a:defRPr/>
              </a:pPr>
              <a:t>‹#›</a:t>
            </a:fld>
            <a:endParaRPr lang="en-US" altLang="en-US"/>
          </a:p>
        </p:txBody>
      </p:sp>
      <p:sp>
        <p:nvSpPr>
          <p:cNvPr id="4102" name="Rectangle 6">
            <a:extLst>
              <a:ext uri="{FF2B5EF4-FFF2-40B4-BE49-F238E27FC236}">
                <a16:creationId xmlns:a16="http://schemas.microsoft.com/office/drawing/2014/main" id="{F4C4AF13-C17B-B741-9CD5-310279C0B316}"/>
              </a:ext>
            </a:extLst>
          </p:cNvPr>
          <p:cNvSpPr>
            <a:spLocks noChangeArrowheads="1"/>
          </p:cNvSpPr>
          <p:nvPr/>
        </p:nvSpPr>
        <p:spPr bwMode="auto">
          <a:xfrm>
            <a:off x="3133725" y="8909050"/>
            <a:ext cx="779463"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589" tIns="47079" rIns="92589" bIns="47079">
            <a:spAutoFit/>
          </a:bodyPr>
          <a:lstStyle>
            <a:lvl1pPr defTabSz="973138">
              <a:defRPr>
                <a:solidFill>
                  <a:schemeClr val="tx1"/>
                </a:solidFill>
                <a:latin typeface="Arial" panose="020B0604020202020204" pitchFamily="34" charset="0"/>
              </a:defRPr>
            </a:lvl1pPr>
            <a:lvl2pPr marL="455613" defTabSz="973138">
              <a:defRPr>
                <a:solidFill>
                  <a:schemeClr val="tx1"/>
                </a:solidFill>
                <a:latin typeface="Arial" panose="020B0604020202020204" pitchFamily="34" charset="0"/>
              </a:defRPr>
            </a:lvl2pPr>
            <a:lvl3pPr marL="912813" defTabSz="973138">
              <a:defRPr>
                <a:solidFill>
                  <a:schemeClr val="tx1"/>
                </a:solidFill>
                <a:latin typeface="Arial" panose="020B0604020202020204" pitchFamily="34" charset="0"/>
              </a:defRPr>
            </a:lvl3pPr>
            <a:lvl4pPr defTabSz="973138">
              <a:defRPr>
                <a:solidFill>
                  <a:schemeClr val="tx1"/>
                </a:solidFill>
                <a:latin typeface="Arial" panose="020B0604020202020204" pitchFamily="34" charset="0"/>
              </a:defRPr>
            </a:lvl4pPr>
            <a:lvl5pPr marL="1827213" defTabSz="973138">
              <a:defRPr>
                <a:solidFill>
                  <a:schemeClr val="tx1"/>
                </a:solidFill>
                <a:latin typeface="Arial" panose="020B0604020202020204" pitchFamily="34" charset="0"/>
              </a:defRPr>
            </a:lvl5pPr>
            <a:lvl6pPr marL="2284413" defTabSz="973138" fontAlgn="base">
              <a:spcBef>
                <a:spcPct val="0"/>
              </a:spcBef>
              <a:spcAft>
                <a:spcPct val="0"/>
              </a:spcAft>
              <a:defRPr>
                <a:solidFill>
                  <a:schemeClr val="tx1"/>
                </a:solidFill>
                <a:latin typeface="Arial" panose="020B0604020202020204" pitchFamily="34" charset="0"/>
              </a:defRPr>
            </a:lvl6pPr>
            <a:lvl7pPr marL="2741613" defTabSz="973138" fontAlgn="base">
              <a:spcBef>
                <a:spcPct val="0"/>
              </a:spcBef>
              <a:spcAft>
                <a:spcPct val="0"/>
              </a:spcAft>
              <a:defRPr>
                <a:solidFill>
                  <a:schemeClr val="tx1"/>
                </a:solidFill>
                <a:latin typeface="Arial" panose="020B0604020202020204" pitchFamily="34" charset="0"/>
              </a:defRPr>
            </a:lvl7pPr>
            <a:lvl8pPr marL="3198813" defTabSz="973138" fontAlgn="base">
              <a:spcBef>
                <a:spcPct val="0"/>
              </a:spcBef>
              <a:spcAft>
                <a:spcPct val="0"/>
              </a:spcAft>
              <a:defRPr>
                <a:solidFill>
                  <a:schemeClr val="tx1"/>
                </a:solidFill>
                <a:latin typeface="Arial" panose="020B0604020202020204" pitchFamily="34" charset="0"/>
              </a:defRPr>
            </a:lvl8pPr>
            <a:lvl9pPr marL="3656013" defTabSz="973138" fontAlgn="base">
              <a:spcBef>
                <a:spcPct val="0"/>
              </a:spcBef>
              <a:spcAft>
                <a:spcPct val="0"/>
              </a:spcAft>
              <a:defRPr>
                <a:solidFill>
                  <a:schemeClr val="tx1"/>
                </a:solidFill>
                <a:latin typeface="Arial" panose="020B0604020202020204" pitchFamily="34" charset="0"/>
              </a:defRPr>
            </a:lvl9pPr>
          </a:lstStyle>
          <a:p>
            <a:pPr algn="ctr">
              <a:lnSpc>
                <a:spcPct val="90000"/>
              </a:lnSpc>
              <a:defRPr/>
            </a:pPr>
            <a:r>
              <a:rPr lang="en-US" altLang="en-US" sz="1200"/>
              <a:t>Page </a:t>
            </a:r>
            <a:fld id="{C3FCF6A4-B1E4-854C-95CF-4CBF65DA6679}" type="slidenum">
              <a:rPr lang="en-US" altLang="en-US" sz="1200" smtClean="0"/>
              <a:pPr algn="ctr">
                <a:lnSpc>
                  <a:spcPct val="90000"/>
                </a:lnSpc>
                <a:defRPr/>
              </a:pPr>
              <a:t>‹#›</a:t>
            </a:fld>
            <a:endParaRPr lang="en-US" altLang="en-US" sz="12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66C0C94-64E4-F642-BD4D-E966344F8BAF}"/>
              </a:ext>
            </a:extLst>
          </p:cNvPr>
          <p:cNvSpPr>
            <a:spLocks noGrp="1" noChangeArrowheads="1"/>
          </p:cNvSpPr>
          <p:nvPr>
            <p:ph type="hdr" sz="quarter"/>
          </p:nvPr>
        </p:nvSpPr>
        <p:spPr bwMode="auto">
          <a:xfrm>
            <a:off x="0" y="1588"/>
            <a:ext cx="30559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t" anchorCtr="0" compatLnSpc="1">
            <a:prstTxWarp prst="textNoShape">
              <a:avLst/>
            </a:prstTxWarp>
          </a:bodyPr>
          <a:lstStyle>
            <a:lvl1pPr defTabSz="942975" eaLnBrk="0" hangingPunct="0">
              <a:defRPr sz="1000" i="1" smtClean="0">
                <a:solidFill>
                  <a:schemeClr val="tx1"/>
                </a:solidFill>
              </a:defRPr>
            </a:lvl1pPr>
          </a:lstStyle>
          <a:p>
            <a:pPr>
              <a:defRPr/>
            </a:pPr>
            <a:endParaRPr lang="en-US" altLang="en-US"/>
          </a:p>
        </p:txBody>
      </p:sp>
      <p:sp>
        <p:nvSpPr>
          <p:cNvPr id="3075" name="Rectangle 3">
            <a:extLst>
              <a:ext uri="{FF2B5EF4-FFF2-40B4-BE49-F238E27FC236}">
                <a16:creationId xmlns:a16="http://schemas.microsoft.com/office/drawing/2014/main" id="{998BEEA1-6CB9-3B45-8375-C216B7B04598}"/>
              </a:ext>
            </a:extLst>
          </p:cNvPr>
          <p:cNvSpPr>
            <a:spLocks noGrp="1" noChangeArrowheads="1"/>
          </p:cNvSpPr>
          <p:nvPr>
            <p:ph type="dt" idx="1"/>
          </p:nvPr>
        </p:nvSpPr>
        <p:spPr bwMode="auto">
          <a:xfrm>
            <a:off x="3997325" y="1588"/>
            <a:ext cx="30559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t" anchorCtr="0" compatLnSpc="1">
            <a:prstTxWarp prst="textNoShape">
              <a:avLst/>
            </a:prstTxWarp>
          </a:bodyPr>
          <a:lstStyle>
            <a:lvl1pPr algn="r" defTabSz="942975" eaLnBrk="0" hangingPunct="0">
              <a:defRPr sz="1000" i="1" smtClean="0">
                <a:solidFill>
                  <a:schemeClr val="tx1"/>
                </a:solidFill>
              </a:defRPr>
            </a:lvl1pPr>
          </a:lstStyle>
          <a:p>
            <a:pPr>
              <a:defRPr/>
            </a:pPr>
            <a:endParaRPr lang="en-US" altLang="en-US"/>
          </a:p>
        </p:txBody>
      </p:sp>
      <p:sp>
        <p:nvSpPr>
          <p:cNvPr id="3076" name="Rectangle 4">
            <a:extLst>
              <a:ext uri="{FF2B5EF4-FFF2-40B4-BE49-F238E27FC236}">
                <a16:creationId xmlns:a16="http://schemas.microsoft.com/office/drawing/2014/main" id="{F3DD0F7A-C7DD-0E44-88A1-2B9E20D62E38}"/>
              </a:ext>
            </a:extLst>
          </p:cNvPr>
          <p:cNvSpPr>
            <a:spLocks noGrp="1" noChangeArrowheads="1"/>
          </p:cNvSpPr>
          <p:nvPr>
            <p:ph type="ftr" sz="quarter" idx="4"/>
          </p:nvPr>
        </p:nvSpPr>
        <p:spPr bwMode="auto">
          <a:xfrm>
            <a:off x="0" y="8890000"/>
            <a:ext cx="30559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b" anchorCtr="0" compatLnSpc="1">
            <a:prstTxWarp prst="textNoShape">
              <a:avLst/>
            </a:prstTxWarp>
          </a:bodyPr>
          <a:lstStyle>
            <a:lvl1pPr defTabSz="942975" eaLnBrk="0" hangingPunct="0">
              <a:defRPr sz="1000" i="1" smtClean="0">
                <a:solidFill>
                  <a:schemeClr val="tx1"/>
                </a:solidFill>
              </a:defRPr>
            </a:lvl1pPr>
          </a:lstStyle>
          <a:p>
            <a:pPr>
              <a:defRPr/>
            </a:pPr>
            <a:endParaRPr lang="en-US" altLang="en-US"/>
          </a:p>
        </p:txBody>
      </p:sp>
      <p:sp>
        <p:nvSpPr>
          <p:cNvPr id="3077" name="Rectangle 5">
            <a:extLst>
              <a:ext uri="{FF2B5EF4-FFF2-40B4-BE49-F238E27FC236}">
                <a16:creationId xmlns:a16="http://schemas.microsoft.com/office/drawing/2014/main" id="{D564E922-5B57-F445-AD53-202B8FC8BCD6}"/>
              </a:ext>
            </a:extLst>
          </p:cNvPr>
          <p:cNvSpPr>
            <a:spLocks noGrp="1" noChangeArrowheads="1"/>
          </p:cNvSpPr>
          <p:nvPr>
            <p:ph type="sldNum" sz="quarter" idx="5"/>
          </p:nvPr>
        </p:nvSpPr>
        <p:spPr bwMode="auto">
          <a:xfrm>
            <a:off x="3997325" y="8890000"/>
            <a:ext cx="30559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831" tIns="0" rIns="18831" bIns="0" numCol="1" anchor="b" anchorCtr="0" compatLnSpc="1">
            <a:prstTxWarp prst="textNoShape">
              <a:avLst/>
            </a:prstTxWarp>
          </a:bodyPr>
          <a:lstStyle>
            <a:lvl1pPr algn="r" defTabSz="942975" eaLnBrk="0" hangingPunct="0">
              <a:defRPr sz="1000" i="1" smtClean="0">
                <a:solidFill>
                  <a:schemeClr val="tx1"/>
                </a:solidFill>
              </a:defRPr>
            </a:lvl1pPr>
          </a:lstStyle>
          <a:p>
            <a:pPr>
              <a:defRPr/>
            </a:pPr>
            <a:fld id="{F4399512-E961-4347-8706-661AE02AA638}" type="slidenum">
              <a:rPr lang="en-US" altLang="en-US"/>
              <a:pPr>
                <a:defRPr/>
              </a:pPr>
              <a:t>‹#›</a:t>
            </a:fld>
            <a:endParaRPr lang="en-US" altLang="en-US"/>
          </a:p>
        </p:txBody>
      </p:sp>
      <p:sp>
        <p:nvSpPr>
          <p:cNvPr id="3078" name="Rectangle 6">
            <a:extLst>
              <a:ext uri="{FF2B5EF4-FFF2-40B4-BE49-F238E27FC236}">
                <a16:creationId xmlns:a16="http://schemas.microsoft.com/office/drawing/2014/main" id="{A356CB06-1030-0B41-82F7-53C37F55FC84}"/>
              </a:ext>
            </a:extLst>
          </p:cNvPr>
          <p:cNvSpPr>
            <a:spLocks noChangeArrowheads="1"/>
          </p:cNvSpPr>
          <p:nvPr/>
        </p:nvSpPr>
        <p:spPr bwMode="auto">
          <a:xfrm>
            <a:off x="3141663" y="8909050"/>
            <a:ext cx="763587" cy="25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589" tIns="47079" rIns="92589" bIns="47079">
            <a:spAutoFit/>
          </a:bodyPr>
          <a:lstStyle>
            <a:lvl1pPr defTabSz="973138">
              <a:defRPr>
                <a:solidFill>
                  <a:schemeClr val="tx1"/>
                </a:solidFill>
                <a:latin typeface="Arial" panose="020B0604020202020204" pitchFamily="34" charset="0"/>
              </a:defRPr>
            </a:lvl1pPr>
            <a:lvl2pPr marL="455613" defTabSz="973138">
              <a:defRPr>
                <a:solidFill>
                  <a:schemeClr val="tx1"/>
                </a:solidFill>
                <a:latin typeface="Arial" panose="020B0604020202020204" pitchFamily="34" charset="0"/>
              </a:defRPr>
            </a:lvl2pPr>
            <a:lvl3pPr marL="912813" defTabSz="973138">
              <a:defRPr>
                <a:solidFill>
                  <a:schemeClr val="tx1"/>
                </a:solidFill>
                <a:latin typeface="Arial" panose="020B0604020202020204" pitchFamily="34" charset="0"/>
              </a:defRPr>
            </a:lvl3pPr>
            <a:lvl4pPr defTabSz="973138">
              <a:defRPr>
                <a:solidFill>
                  <a:schemeClr val="tx1"/>
                </a:solidFill>
                <a:latin typeface="Arial" panose="020B0604020202020204" pitchFamily="34" charset="0"/>
              </a:defRPr>
            </a:lvl4pPr>
            <a:lvl5pPr marL="1827213" defTabSz="973138">
              <a:defRPr>
                <a:solidFill>
                  <a:schemeClr val="tx1"/>
                </a:solidFill>
                <a:latin typeface="Arial" panose="020B0604020202020204" pitchFamily="34" charset="0"/>
              </a:defRPr>
            </a:lvl5pPr>
            <a:lvl6pPr marL="2284413" defTabSz="973138" fontAlgn="base">
              <a:spcBef>
                <a:spcPct val="0"/>
              </a:spcBef>
              <a:spcAft>
                <a:spcPct val="0"/>
              </a:spcAft>
              <a:defRPr>
                <a:solidFill>
                  <a:schemeClr val="tx1"/>
                </a:solidFill>
                <a:latin typeface="Arial" panose="020B0604020202020204" pitchFamily="34" charset="0"/>
              </a:defRPr>
            </a:lvl6pPr>
            <a:lvl7pPr marL="2741613" defTabSz="973138" fontAlgn="base">
              <a:spcBef>
                <a:spcPct val="0"/>
              </a:spcBef>
              <a:spcAft>
                <a:spcPct val="0"/>
              </a:spcAft>
              <a:defRPr>
                <a:solidFill>
                  <a:schemeClr val="tx1"/>
                </a:solidFill>
                <a:latin typeface="Arial" panose="020B0604020202020204" pitchFamily="34" charset="0"/>
              </a:defRPr>
            </a:lvl7pPr>
            <a:lvl8pPr marL="3198813" defTabSz="973138" fontAlgn="base">
              <a:spcBef>
                <a:spcPct val="0"/>
              </a:spcBef>
              <a:spcAft>
                <a:spcPct val="0"/>
              </a:spcAft>
              <a:defRPr>
                <a:solidFill>
                  <a:schemeClr val="tx1"/>
                </a:solidFill>
                <a:latin typeface="Arial" panose="020B0604020202020204" pitchFamily="34" charset="0"/>
              </a:defRPr>
            </a:lvl8pPr>
            <a:lvl9pPr marL="3656013" defTabSz="973138" fontAlgn="base">
              <a:spcBef>
                <a:spcPct val="0"/>
              </a:spcBef>
              <a:spcAft>
                <a:spcPct val="0"/>
              </a:spcAft>
              <a:defRPr>
                <a:solidFill>
                  <a:schemeClr val="tx1"/>
                </a:solidFill>
                <a:latin typeface="Arial" panose="020B0604020202020204" pitchFamily="34" charset="0"/>
              </a:defRPr>
            </a:lvl9pPr>
          </a:lstStyle>
          <a:p>
            <a:pPr algn="ctr">
              <a:lnSpc>
                <a:spcPct val="90000"/>
              </a:lnSpc>
              <a:defRPr/>
            </a:pPr>
            <a:r>
              <a:rPr lang="en-US" altLang="en-US" sz="1200"/>
              <a:t>Page </a:t>
            </a:r>
            <a:fld id="{4BC4BD8E-4513-1F4D-9D96-B772C8A5E233}" type="slidenum">
              <a:rPr lang="en-US" altLang="en-US" sz="1200" smtClean="0"/>
              <a:pPr algn="ctr">
                <a:lnSpc>
                  <a:spcPct val="90000"/>
                </a:lnSpc>
                <a:defRPr/>
              </a:pPr>
              <a:t>‹#›</a:t>
            </a:fld>
            <a:endParaRPr lang="en-US" altLang="en-US" sz="1200"/>
          </a:p>
        </p:txBody>
      </p:sp>
      <p:sp>
        <p:nvSpPr>
          <p:cNvPr id="3079" name="Rectangle 7">
            <a:extLst>
              <a:ext uri="{FF2B5EF4-FFF2-40B4-BE49-F238E27FC236}">
                <a16:creationId xmlns:a16="http://schemas.microsoft.com/office/drawing/2014/main" id="{B49BCF25-0E7A-044A-AA95-0450548451FB}"/>
              </a:ext>
            </a:extLst>
          </p:cNvPr>
          <p:cNvSpPr>
            <a:spLocks noGrp="1" noRot="1" noChangeAspect="1" noChangeArrowheads="1" noTextEdit="1"/>
          </p:cNvSpPr>
          <p:nvPr>
            <p:ph type="sldImg" idx="2"/>
          </p:nvPr>
        </p:nvSpPr>
        <p:spPr bwMode="auto">
          <a:xfrm>
            <a:off x="617538" y="5159375"/>
            <a:ext cx="5797550" cy="32623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80" name="Rectangle 8">
            <a:extLst>
              <a:ext uri="{FF2B5EF4-FFF2-40B4-BE49-F238E27FC236}">
                <a16:creationId xmlns:a16="http://schemas.microsoft.com/office/drawing/2014/main" id="{FF7F6A78-4152-5943-8790-482450ABF71B}"/>
              </a:ext>
            </a:extLst>
          </p:cNvPr>
          <p:cNvSpPr>
            <a:spLocks noGrp="1" noChangeArrowheads="1"/>
          </p:cNvSpPr>
          <p:nvPr>
            <p:ph type="body" sz="quarter" idx="3"/>
          </p:nvPr>
        </p:nvSpPr>
        <p:spPr bwMode="auto">
          <a:xfrm>
            <a:off x="977900" y="476250"/>
            <a:ext cx="5162550" cy="420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97" tIns="51787" rIns="97297" bIns="51787" numCol="1" anchor="t" anchorCtr="0" compatLnSpc="1">
            <a:prstTxWarp prst="textNoShape">
              <a:avLst/>
            </a:prstTxWarp>
          </a:bodyPr>
          <a:lstStyle/>
          <a:p>
            <a:pPr lvl="0"/>
            <a:r>
              <a:rPr lang="en-US" altLang="en-US" noProof="0"/>
              <a:t>Body Text</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Tree>
  </p:cSld>
  <p:clrMap bg1="lt1" tx1="dk1" bg2="lt2" tx2="dk2" accent1="accent1" accent2="accent2" accent3="accent3" accent4="accent4" accent5="accent5" accent6="accent6" hlink="hlink" folHlink="folHlink"/>
  <p:notesStyle>
    <a:lvl1pPr algn="l" defTabSz="1030288" rtl="0" eaLnBrk="0" fontAlgn="base" hangingPunct="0">
      <a:lnSpc>
        <a:spcPct val="87000"/>
      </a:lnSpc>
      <a:spcBef>
        <a:spcPct val="40000"/>
      </a:spcBef>
      <a:spcAft>
        <a:spcPct val="0"/>
      </a:spcAft>
      <a:defRPr sz="1600" kern="1200">
        <a:solidFill>
          <a:schemeClr val="tx1"/>
        </a:solidFill>
        <a:latin typeface="Arial" panose="020B0604020202020204" pitchFamily="34" charset="0"/>
        <a:ea typeface="+mn-ea"/>
        <a:cs typeface="+mn-cs"/>
      </a:defRPr>
    </a:lvl1pPr>
    <a:lvl2pPr marL="484188" algn="l" defTabSz="1030288" rtl="0" eaLnBrk="0" fontAlgn="base" hangingPunct="0">
      <a:lnSpc>
        <a:spcPct val="87000"/>
      </a:lnSpc>
      <a:spcBef>
        <a:spcPct val="40000"/>
      </a:spcBef>
      <a:spcAft>
        <a:spcPct val="0"/>
      </a:spcAft>
      <a:defRPr sz="1200" kern="1200">
        <a:solidFill>
          <a:schemeClr val="tx1"/>
        </a:solidFill>
        <a:latin typeface="Arial" panose="020B0604020202020204" pitchFamily="34" charset="0"/>
        <a:ea typeface="+mn-ea"/>
        <a:cs typeface="+mn-cs"/>
      </a:defRPr>
    </a:lvl2pPr>
    <a:lvl3pPr marL="971550" algn="l" defTabSz="1030288" rtl="0" eaLnBrk="0" fontAlgn="base" hangingPunct="0">
      <a:lnSpc>
        <a:spcPct val="87000"/>
      </a:lnSpc>
      <a:spcBef>
        <a:spcPct val="40000"/>
      </a:spcBef>
      <a:spcAft>
        <a:spcPct val="0"/>
      </a:spcAft>
      <a:defRPr sz="1200" kern="1200">
        <a:solidFill>
          <a:schemeClr val="tx1"/>
        </a:solidFill>
        <a:latin typeface="Arial" panose="020B0604020202020204" pitchFamily="34" charset="0"/>
        <a:ea typeface="+mn-ea"/>
        <a:cs typeface="+mn-cs"/>
      </a:defRPr>
    </a:lvl3pPr>
    <a:lvl4pPr marL="1457325" algn="l" defTabSz="1030288" rtl="0" eaLnBrk="0" fontAlgn="base" hangingPunct="0">
      <a:lnSpc>
        <a:spcPct val="87000"/>
      </a:lnSpc>
      <a:spcBef>
        <a:spcPct val="40000"/>
      </a:spcBef>
      <a:spcAft>
        <a:spcPct val="0"/>
      </a:spcAft>
      <a:defRPr sz="1200" kern="1200">
        <a:solidFill>
          <a:schemeClr val="tx1"/>
        </a:solidFill>
        <a:latin typeface="Arial" panose="020B0604020202020204" pitchFamily="34" charset="0"/>
        <a:ea typeface="+mn-ea"/>
        <a:cs typeface="+mn-cs"/>
      </a:defRPr>
    </a:lvl4pPr>
    <a:lvl5pPr marL="1944688" algn="l" defTabSz="1030288" rtl="0" eaLnBrk="0" fontAlgn="base" hangingPunct="0">
      <a:lnSpc>
        <a:spcPct val="87000"/>
      </a:lnSpc>
      <a:spcBef>
        <a:spcPct val="4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3</a:t>
            </a:fld>
            <a:endParaRPr lang="en-US" altLang="en-US"/>
          </a:p>
        </p:txBody>
      </p:sp>
    </p:spTree>
    <p:extLst>
      <p:ext uri="{BB962C8B-B14F-4D97-AF65-F5344CB8AC3E}">
        <p14:creationId xmlns:p14="http://schemas.microsoft.com/office/powerpoint/2010/main" val="122492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4</a:t>
            </a:fld>
            <a:endParaRPr lang="en-US" altLang="en-US"/>
          </a:p>
        </p:txBody>
      </p:sp>
    </p:spTree>
    <p:extLst>
      <p:ext uri="{BB962C8B-B14F-4D97-AF65-F5344CB8AC3E}">
        <p14:creationId xmlns:p14="http://schemas.microsoft.com/office/powerpoint/2010/main" val="2762343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Arial"/>
            </a:endParaRPr>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5</a:t>
            </a:fld>
            <a:endParaRPr lang="en-US" altLang="en-US"/>
          </a:p>
        </p:txBody>
      </p:sp>
    </p:spTree>
    <p:extLst>
      <p:ext uri="{BB962C8B-B14F-4D97-AF65-F5344CB8AC3E}">
        <p14:creationId xmlns:p14="http://schemas.microsoft.com/office/powerpoint/2010/main" val="1867297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6</a:t>
            </a:fld>
            <a:endParaRPr lang="en-US" altLang="en-US"/>
          </a:p>
        </p:txBody>
      </p:sp>
    </p:spTree>
    <p:extLst>
      <p:ext uri="{BB962C8B-B14F-4D97-AF65-F5344CB8AC3E}">
        <p14:creationId xmlns:p14="http://schemas.microsoft.com/office/powerpoint/2010/main" val="1897008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7</a:t>
            </a:fld>
            <a:endParaRPr lang="en-US" altLang="en-US"/>
          </a:p>
        </p:txBody>
      </p:sp>
    </p:spTree>
    <p:extLst>
      <p:ext uri="{BB962C8B-B14F-4D97-AF65-F5344CB8AC3E}">
        <p14:creationId xmlns:p14="http://schemas.microsoft.com/office/powerpoint/2010/main" val="3038038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8</a:t>
            </a:fld>
            <a:endParaRPr lang="en-US" altLang="en-US"/>
          </a:p>
        </p:txBody>
      </p:sp>
    </p:spTree>
    <p:extLst>
      <p:ext uri="{BB962C8B-B14F-4D97-AF65-F5344CB8AC3E}">
        <p14:creationId xmlns:p14="http://schemas.microsoft.com/office/powerpoint/2010/main" val="1665264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14</a:t>
            </a:fld>
            <a:endParaRPr lang="en-US" altLang="en-US"/>
          </a:p>
        </p:txBody>
      </p:sp>
    </p:spTree>
    <p:extLst>
      <p:ext uri="{BB962C8B-B14F-4D97-AF65-F5344CB8AC3E}">
        <p14:creationId xmlns:p14="http://schemas.microsoft.com/office/powerpoint/2010/main" val="2145903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16</a:t>
            </a:fld>
            <a:endParaRPr lang="en-US" altLang="en-US"/>
          </a:p>
        </p:txBody>
      </p:sp>
    </p:spTree>
    <p:extLst>
      <p:ext uri="{BB962C8B-B14F-4D97-AF65-F5344CB8AC3E}">
        <p14:creationId xmlns:p14="http://schemas.microsoft.com/office/powerpoint/2010/main" val="1970184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19</a:t>
            </a:fld>
            <a:endParaRPr lang="en-US" altLang="en-US"/>
          </a:p>
        </p:txBody>
      </p:sp>
    </p:spTree>
    <p:extLst>
      <p:ext uri="{BB962C8B-B14F-4D97-AF65-F5344CB8AC3E}">
        <p14:creationId xmlns:p14="http://schemas.microsoft.com/office/powerpoint/2010/main" val="1228552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20</a:t>
            </a:fld>
            <a:endParaRPr lang="en-US" altLang="en-US"/>
          </a:p>
        </p:txBody>
      </p:sp>
    </p:spTree>
    <p:extLst>
      <p:ext uri="{BB962C8B-B14F-4D97-AF65-F5344CB8AC3E}">
        <p14:creationId xmlns:p14="http://schemas.microsoft.com/office/powerpoint/2010/main" val="1339598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21</a:t>
            </a:fld>
            <a:endParaRPr lang="en-US" altLang="en-US"/>
          </a:p>
        </p:txBody>
      </p:sp>
    </p:spTree>
    <p:extLst>
      <p:ext uri="{BB962C8B-B14F-4D97-AF65-F5344CB8AC3E}">
        <p14:creationId xmlns:p14="http://schemas.microsoft.com/office/powerpoint/2010/main" val="2721631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685800" y="1143000"/>
            <a:ext cx="5486400" cy="30861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a:p>
            <a:endParaRPr lang="en-US" altLang="en-US" dirty="0"/>
          </a:p>
          <a:p>
            <a:r>
              <a:rPr lang="en-US" altLang="en-US" dirty="0"/>
              <a:t>Increase accuracy and decrease speed of the gamma calculation</a:t>
            </a:r>
          </a:p>
          <a:p>
            <a:endParaRPr lang="en-US" altLang="en-US" dirty="0"/>
          </a:p>
          <a:p>
            <a:r>
              <a:rPr lang="en-US" altLang="en-US" dirty="0"/>
              <a:t>Good rule</a:t>
            </a:r>
            <a:r>
              <a:rPr lang="en-US" altLang="en-US" baseline="0" dirty="0"/>
              <a:t> of thumb is that resolution of the evaluated dose should be no greater than 1/3 of the DTA criterion (max gamma error is roughly the ratio of the spacing to the DTA criterion)</a:t>
            </a:r>
            <a:endParaRPr lang="en-US" altLang="en-US" dirty="0"/>
          </a:p>
          <a:p>
            <a:endParaRPr lang="en-US" altLang="en-US" dirty="0"/>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1400">
                <a:solidFill>
                  <a:schemeClr val="tx2"/>
                </a:solidFill>
                <a:latin typeface="Arial" panose="020B0604020202020204" pitchFamily="34" charset="0"/>
                <a:ea typeface="MS PGothic" panose="020B0600070205080204" pitchFamily="34" charset="-128"/>
              </a:defRPr>
            </a:lvl1pPr>
            <a:lvl2pPr marL="742950" indent="-285750" defTabSz="942975">
              <a:defRPr sz="1400">
                <a:solidFill>
                  <a:schemeClr val="tx2"/>
                </a:solidFill>
                <a:latin typeface="Arial" panose="020B0604020202020204" pitchFamily="34" charset="0"/>
                <a:ea typeface="MS PGothic" panose="020B0600070205080204" pitchFamily="34" charset="-128"/>
              </a:defRPr>
            </a:lvl2pPr>
            <a:lvl3pPr marL="1143000" indent="-228600" defTabSz="942975">
              <a:defRPr sz="1400">
                <a:solidFill>
                  <a:schemeClr val="tx2"/>
                </a:solidFill>
                <a:latin typeface="Arial" panose="020B0604020202020204" pitchFamily="34" charset="0"/>
                <a:ea typeface="MS PGothic" panose="020B0600070205080204" pitchFamily="34" charset="-128"/>
              </a:defRPr>
            </a:lvl3pPr>
            <a:lvl4pPr marL="1600200" indent="-228600" defTabSz="942975">
              <a:defRPr sz="1400">
                <a:solidFill>
                  <a:schemeClr val="tx2"/>
                </a:solidFill>
                <a:latin typeface="Arial" panose="020B0604020202020204" pitchFamily="34" charset="0"/>
                <a:ea typeface="MS PGothic" panose="020B0600070205080204" pitchFamily="34" charset="-128"/>
              </a:defRPr>
            </a:lvl4pPr>
            <a:lvl5pPr marL="2057400" indent="-228600" defTabSz="942975">
              <a:defRPr sz="1400">
                <a:solidFill>
                  <a:schemeClr val="tx2"/>
                </a:solidFill>
                <a:latin typeface="Arial" panose="020B0604020202020204" pitchFamily="34" charset="0"/>
                <a:ea typeface="MS PGothic" panose="020B0600070205080204" pitchFamily="34" charset="-128"/>
              </a:defRPr>
            </a:lvl5pPr>
            <a:lvl6pPr marL="25146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6pPr>
            <a:lvl7pPr marL="29718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7pPr>
            <a:lvl8pPr marL="34290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8pPr>
            <a:lvl9pPr marL="38862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9pPr>
          </a:lstStyle>
          <a:p>
            <a:fld id="{0C4FC34F-3409-41EE-AF38-117DB9D11960}" type="slidenum">
              <a:rPr lang="en-US" altLang="en-US" sz="1000" smtClean="0">
                <a:solidFill>
                  <a:schemeClr val="tx1"/>
                </a:solidFill>
              </a:rPr>
              <a:pPr/>
              <a:t>22</a:t>
            </a:fld>
            <a:endParaRPr lang="en-US" altLang="en-US" sz="1000">
              <a:solidFill>
                <a:schemeClr val="tx1"/>
              </a:solidFill>
            </a:endParaRPr>
          </a:p>
        </p:txBody>
      </p:sp>
    </p:spTree>
    <p:extLst>
      <p:ext uri="{BB962C8B-B14F-4D97-AF65-F5344CB8AC3E}">
        <p14:creationId xmlns:p14="http://schemas.microsoft.com/office/powerpoint/2010/main" val="107577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23</a:t>
            </a:fld>
            <a:endParaRPr lang="en-US" altLang="en-US"/>
          </a:p>
        </p:txBody>
      </p:sp>
    </p:spTree>
    <p:extLst>
      <p:ext uri="{BB962C8B-B14F-4D97-AF65-F5344CB8AC3E}">
        <p14:creationId xmlns:p14="http://schemas.microsoft.com/office/powerpoint/2010/main" val="656577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25</a:t>
            </a:fld>
            <a:endParaRPr lang="en-US" altLang="en-US"/>
          </a:p>
        </p:txBody>
      </p:sp>
    </p:spTree>
    <p:extLst>
      <p:ext uri="{BB962C8B-B14F-4D97-AF65-F5344CB8AC3E}">
        <p14:creationId xmlns:p14="http://schemas.microsoft.com/office/powerpoint/2010/main" val="1842283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26</a:t>
            </a:fld>
            <a:endParaRPr lang="en-US" altLang="en-US"/>
          </a:p>
        </p:txBody>
      </p:sp>
    </p:spTree>
    <p:extLst>
      <p:ext uri="{BB962C8B-B14F-4D97-AF65-F5344CB8AC3E}">
        <p14:creationId xmlns:p14="http://schemas.microsoft.com/office/powerpoint/2010/main" val="3940634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685800" y="1143000"/>
            <a:ext cx="5486400" cy="3086100"/>
          </a:xfrm>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r>
              <a:rPr lang="en-US" altLang="en-US"/>
              <a:t>For the film measurements, a reference field reading to a known dose, 10x10 at reference depth in a phantom </a:t>
            </a:r>
          </a:p>
          <a:p>
            <a:endParaRPr lang="en-US" altLang="en-US"/>
          </a:p>
          <a:p>
            <a:r>
              <a:rPr lang="en-US" altLang="en-US"/>
              <a:t>IC in a uniform dose region</a:t>
            </a:r>
          </a:p>
          <a:p>
            <a:endParaRPr lang="en-US" altLang="en-US" b="1" u="sng"/>
          </a:p>
          <a:p>
            <a:r>
              <a:rPr lang="en-US" altLang="en-US" b="1" u="sng"/>
              <a:t>Diode array</a:t>
            </a:r>
          </a:p>
          <a:p>
            <a:r>
              <a:rPr lang="en-US" altLang="en-US"/>
              <a:t>If you are using a diode array, you are worried if more than 20% of the dose comes laterally at the diode array.</a:t>
            </a:r>
          </a:p>
          <a:p>
            <a:endParaRPr lang="en-US" altLang="en-US"/>
          </a:p>
          <a:p>
            <a:r>
              <a:rPr lang="en-US" altLang="en-US"/>
              <a:t>Non-coplanar beams are also an issue for a diode array</a:t>
            </a:r>
          </a:p>
          <a:p>
            <a:endParaRPr lang="en-US" altLang="en-US"/>
          </a:p>
          <a:p>
            <a:endParaRPr lang="en-US" altLang="en-US"/>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1400">
                <a:solidFill>
                  <a:schemeClr val="tx2"/>
                </a:solidFill>
                <a:latin typeface="Arial" panose="020B0604020202020204" pitchFamily="34" charset="0"/>
                <a:ea typeface="MS PGothic" panose="020B0600070205080204" pitchFamily="34" charset="-128"/>
              </a:defRPr>
            </a:lvl1pPr>
            <a:lvl2pPr marL="742950" indent="-285750" defTabSz="942975">
              <a:defRPr sz="1400">
                <a:solidFill>
                  <a:schemeClr val="tx2"/>
                </a:solidFill>
                <a:latin typeface="Arial" panose="020B0604020202020204" pitchFamily="34" charset="0"/>
                <a:ea typeface="MS PGothic" panose="020B0600070205080204" pitchFamily="34" charset="-128"/>
              </a:defRPr>
            </a:lvl2pPr>
            <a:lvl3pPr marL="1143000" indent="-228600" defTabSz="942975">
              <a:defRPr sz="1400">
                <a:solidFill>
                  <a:schemeClr val="tx2"/>
                </a:solidFill>
                <a:latin typeface="Arial" panose="020B0604020202020204" pitchFamily="34" charset="0"/>
                <a:ea typeface="MS PGothic" panose="020B0600070205080204" pitchFamily="34" charset="-128"/>
              </a:defRPr>
            </a:lvl3pPr>
            <a:lvl4pPr marL="1600200" indent="-228600" defTabSz="942975">
              <a:defRPr sz="1400">
                <a:solidFill>
                  <a:schemeClr val="tx2"/>
                </a:solidFill>
                <a:latin typeface="Arial" panose="020B0604020202020204" pitchFamily="34" charset="0"/>
                <a:ea typeface="MS PGothic" panose="020B0600070205080204" pitchFamily="34" charset="-128"/>
              </a:defRPr>
            </a:lvl4pPr>
            <a:lvl5pPr marL="2057400" indent="-228600" defTabSz="942975">
              <a:defRPr sz="1400">
                <a:solidFill>
                  <a:schemeClr val="tx2"/>
                </a:solidFill>
                <a:latin typeface="Arial" panose="020B0604020202020204" pitchFamily="34" charset="0"/>
                <a:ea typeface="MS PGothic" panose="020B0600070205080204" pitchFamily="34" charset="-128"/>
              </a:defRPr>
            </a:lvl5pPr>
            <a:lvl6pPr marL="25146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6pPr>
            <a:lvl7pPr marL="29718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7pPr>
            <a:lvl8pPr marL="34290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8pPr>
            <a:lvl9pPr marL="38862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9pPr>
          </a:lstStyle>
          <a:p>
            <a:fld id="{DB06D045-F98C-47A3-9863-971007C91FC6}" type="slidenum">
              <a:rPr lang="en-US" altLang="en-US" sz="1000" smtClean="0">
                <a:solidFill>
                  <a:schemeClr val="tx1"/>
                </a:solidFill>
              </a:rPr>
              <a:pPr/>
              <a:t>27</a:t>
            </a:fld>
            <a:endParaRPr lang="en-US" altLang="en-US" sz="1000">
              <a:solidFill>
                <a:schemeClr val="tx1"/>
              </a:solidFill>
            </a:endParaRPr>
          </a:p>
        </p:txBody>
      </p:sp>
    </p:spTree>
    <p:extLst>
      <p:ext uri="{BB962C8B-B14F-4D97-AF65-F5344CB8AC3E}">
        <p14:creationId xmlns:p14="http://schemas.microsoft.com/office/powerpoint/2010/main" val="4067793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685800" y="1143000"/>
            <a:ext cx="5486400" cy="3086100"/>
          </a:xfrm>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endParaRPr lang="en-US" altLang="en-US"/>
          </a:p>
          <a:p>
            <a:r>
              <a:rPr lang="en-US" altLang="en-US"/>
              <a:t>Worry above volume averaging in the change. 5% of the mean chamber dose … for the min and max doses across the volume of the chamber</a:t>
            </a: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1400">
                <a:solidFill>
                  <a:schemeClr val="tx2"/>
                </a:solidFill>
                <a:latin typeface="Arial" panose="020B0604020202020204" pitchFamily="34" charset="0"/>
                <a:ea typeface="MS PGothic" panose="020B0600070205080204" pitchFamily="34" charset="-128"/>
              </a:defRPr>
            </a:lvl1pPr>
            <a:lvl2pPr marL="742950" indent="-285750" defTabSz="942975">
              <a:defRPr sz="1400">
                <a:solidFill>
                  <a:schemeClr val="tx2"/>
                </a:solidFill>
                <a:latin typeface="Arial" panose="020B0604020202020204" pitchFamily="34" charset="0"/>
                <a:ea typeface="MS PGothic" panose="020B0600070205080204" pitchFamily="34" charset="-128"/>
              </a:defRPr>
            </a:lvl2pPr>
            <a:lvl3pPr marL="1143000" indent="-228600" defTabSz="942975">
              <a:defRPr sz="1400">
                <a:solidFill>
                  <a:schemeClr val="tx2"/>
                </a:solidFill>
                <a:latin typeface="Arial" panose="020B0604020202020204" pitchFamily="34" charset="0"/>
                <a:ea typeface="MS PGothic" panose="020B0600070205080204" pitchFamily="34" charset="-128"/>
              </a:defRPr>
            </a:lvl3pPr>
            <a:lvl4pPr marL="1600200" indent="-228600" defTabSz="942975">
              <a:defRPr sz="1400">
                <a:solidFill>
                  <a:schemeClr val="tx2"/>
                </a:solidFill>
                <a:latin typeface="Arial" panose="020B0604020202020204" pitchFamily="34" charset="0"/>
                <a:ea typeface="MS PGothic" panose="020B0600070205080204" pitchFamily="34" charset="-128"/>
              </a:defRPr>
            </a:lvl4pPr>
            <a:lvl5pPr marL="2057400" indent="-228600" defTabSz="942975">
              <a:defRPr sz="1400">
                <a:solidFill>
                  <a:schemeClr val="tx2"/>
                </a:solidFill>
                <a:latin typeface="Arial" panose="020B0604020202020204" pitchFamily="34" charset="0"/>
                <a:ea typeface="MS PGothic" panose="020B0600070205080204" pitchFamily="34" charset="-128"/>
              </a:defRPr>
            </a:lvl5pPr>
            <a:lvl6pPr marL="25146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6pPr>
            <a:lvl7pPr marL="29718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7pPr>
            <a:lvl8pPr marL="34290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8pPr>
            <a:lvl9pPr marL="38862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9pPr>
          </a:lstStyle>
          <a:p>
            <a:fld id="{7403A009-F3C2-4A02-ADAD-94E849B2047A}" type="slidenum">
              <a:rPr lang="en-US" altLang="en-US" sz="1000" smtClean="0">
                <a:solidFill>
                  <a:schemeClr val="tx1"/>
                </a:solidFill>
              </a:rPr>
              <a:pPr/>
              <a:t>28</a:t>
            </a:fld>
            <a:endParaRPr lang="en-US" altLang="en-US" sz="1000">
              <a:solidFill>
                <a:schemeClr val="tx1"/>
              </a:solidFill>
            </a:endParaRPr>
          </a:p>
        </p:txBody>
      </p:sp>
    </p:spTree>
    <p:extLst>
      <p:ext uri="{BB962C8B-B14F-4D97-AF65-F5344CB8AC3E}">
        <p14:creationId xmlns:p14="http://schemas.microsoft.com/office/powerpoint/2010/main" val="1608329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29</a:t>
            </a:fld>
            <a:endParaRPr lang="en-US" altLang="en-US"/>
          </a:p>
        </p:txBody>
      </p:sp>
    </p:spTree>
    <p:extLst>
      <p:ext uri="{BB962C8B-B14F-4D97-AF65-F5344CB8AC3E}">
        <p14:creationId xmlns:p14="http://schemas.microsoft.com/office/powerpoint/2010/main" val="2366398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30</a:t>
            </a:fld>
            <a:endParaRPr lang="en-US" altLang="en-US"/>
          </a:p>
        </p:txBody>
      </p:sp>
    </p:spTree>
    <p:extLst>
      <p:ext uri="{BB962C8B-B14F-4D97-AF65-F5344CB8AC3E}">
        <p14:creationId xmlns:p14="http://schemas.microsoft.com/office/powerpoint/2010/main" val="2491924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31</a:t>
            </a:fld>
            <a:endParaRPr lang="en-US" altLang="en-US"/>
          </a:p>
        </p:txBody>
      </p:sp>
    </p:spTree>
    <p:extLst>
      <p:ext uri="{BB962C8B-B14F-4D97-AF65-F5344CB8AC3E}">
        <p14:creationId xmlns:p14="http://schemas.microsoft.com/office/powerpoint/2010/main" val="3317008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32</a:t>
            </a:fld>
            <a:endParaRPr lang="en-US" altLang="en-US"/>
          </a:p>
        </p:txBody>
      </p:sp>
    </p:spTree>
    <p:extLst>
      <p:ext uri="{BB962C8B-B14F-4D97-AF65-F5344CB8AC3E}">
        <p14:creationId xmlns:p14="http://schemas.microsoft.com/office/powerpoint/2010/main" val="1126806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AdvTTa966caec"/>
              </a:rPr>
              <a:t/>
            </a:r>
            <a:br>
              <a:rPr lang="en-US" sz="1800" b="0" i="0" dirty="0">
                <a:solidFill>
                  <a:srgbClr val="242021"/>
                </a:solidFill>
                <a:effectLst/>
                <a:latin typeface="AdvTTa966caec"/>
              </a:rPr>
            </a:br>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33</a:t>
            </a:fld>
            <a:endParaRPr lang="en-US" altLang="en-US"/>
          </a:p>
        </p:txBody>
      </p:sp>
    </p:spTree>
    <p:extLst>
      <p:ext uri="{BB962C8B-B14F-4D97-AF65-F5344CB8AC3E}">
        <p14:creationId xmlns:p14="http://schemas.microsoft.com/office/powerpoint/2010/main" val="1097706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34</a:t>
            </a:fld>
            <a:endParaRPr lang="en-US" altLang="en-US"/>
          </a:p>
        </p:txBody>
      </p:sp>
    </p:spTree>
    <p:extLst>
      <p:ext uri="{BB962C8B-B14F-4D97-AF65-F5344CB8AC3E}">
        <p14:creationId xmlns:p14="http://schemas.microsoft.com/office/powerpoint/2010/main" val="370418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35</a:t>
            </a:fld>
            <a:endParaRPr lang="en-US" altLang="en-US"/>
          </a:p>
        </p:txBody>
      </p:sp>
    </p:spTree>
    <p:extLst>
      <p:ext uri="{BB962C8B-B14F-4D97-AF65-F5344CB8AC3E}">
        <p14:creationId xmlns:p14="http://schemas.microsoft.com/office/powerpoint/2010/main" val="172017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36</a:t>
            </a:fld>
            <a:endParaRPr lang="en-US" altLang="en-US"/>
          </a:p>
        </p:txBody>
      </p:sp>
    </p:spTree>
    <p:extLst>
      <p:ext uri="{BB962C8B-B14F-4D97-AF65-F5344CB8AC3E}">
        <p14:creationId xmlns:p14="http://schemas.microsoft.com/office/powerpoint/2010/main" val="37991739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xfrm>
            <a:off x="685800" y="1143000"/>
            <a:ext cx="5486400" cy="3086100"/>
          </a:xfrm>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nSpc>
                <a:spcPct val="107000"/>
              </a:lnSpc>
              <a:spcBef>
                <a:spcPts val="0"/>
              </a:spcBef>
              <a:spcAft>
                <a:spcPts val="800"/>
              </a:spcAft>
            </a:pPr>
            <a:endParaRPr lang="en-US" altLang="en-US" dirty="0"/>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1400">
                <a:solidFill>
                  <a:schemeClr val="tx2"/>
                </a:solidFill>
                <a:latin typeface="Arial" panose="020B0604020202020204" pitchFamily="34" charset="0"/>
                <a:ea typeface="MS PGothic" panose="020B0600070205080204" pitchFamily="34" charset="-128"/>
              </a:defRPr>
            </a:lvl1pPr>
            <a:lvl2pPr marL="742950" indent="-285750" defTabSz="942975">
              <a:defRPr sz="1400">
                <a:solidFill>
                  <a:schemeClr val="tx2"/>
                </a:solidFill>
                <a:latin typeface="Arial" panose="020B0604020202020204" pitchFamily="34" charset="0"/>
                <a:ea typeface="MS PGothic" panose="020B0600070205080204" pitchFamily="34" charset="-128"/>
              </a:defRPr>
            </a:lvl2pPr>
            <a:lvl3pPr marL="1143000" indent="-228600" defTabSz="942975">
              <a:defRPr sz="1400">
                <a:solidFill>
                  <a:schemeClr val="tx2"/>
                </a:solidFill>
                <a:latin typeface="Arial" panose="020B0604020202020204" pitchFamily="34" charset="0"/>
                <a:ea typeface="MS PGothic" panose="020B0600070205080204" pitchFamily="34" charset="-128"/>
              </a:defRPr>
            </a:lvl3pPr>
            <a:lvl4pPr marL="1600200" indent="-228600" defTabSz="942975">
              <a:defRPr sz="1400">
                <a:solidFill>
                  <a:schemeClr val="tx2"/>
                </a:solidFill>
                <a:latin typeface="Arial" panose="020B0604020202020204" pitchFamily="34" charset="0"/>
                <a:ea typeface="MS PGothic" panose="020B0600070205080204" pitchFamily="34" charset="-128"/>
              </a:defRPr>
            </a:lvl4pPr>
            <a:lvl5pPr marL="2057400" indent="-228600" defTabSz="942975">
              <a:defRPr sz="1400">
                <a:solidFill>
                  <a:schemeClr val="tx2"/>
                </a:solidFill>
                <a:latin typeface="Arial" panose="020B0604020202020204" pitchFamily="34" charset="0"/>
                <a:ea typeface="MS PGothic" panose="020B0600070205080204" pitchFamily="34" charset="-128"/>
              </a:defRPr>
            </a:lvl5pPr>
            <a:lvl6pPr marL="25146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6pPr>
            <a:lvl7pPr marL="29718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7pPr>
            <a:lvl8pPr marL="34290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8pPr>
            <a:lvl9pPr marL="38862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9pPr>
          </a:lstStyle>
          <a:p>
            <a:fld id="{EC38FA63-5BD6-45DE-9A3E-5D0BA7D75665}" type="slidenum">
              <a:rPr lang="en-US" altLang="en-US" sz="1000" smtClean="0">
                <a:solidFill>
                  <a:schemeClr val="tx1"/>
                </a:solidFill>
              </a:rPr>
              <a:pPr/>
              <a:t>37</a:t>
            </a:fld>
            <a:endParaRPr lang="en-US" altLang="en-US" sz="1000">
              <a:solidFill>
                <a:schemeClr val="tx1"/>
              </a:solidFill>
            </a:endParaRPr>
          </a:p>
        </p:txBody>
      </p:sp>
    </p:spTree>
    <p:extLst>
      <p:ext uri="{BB962C8B-B14F-4D97-AF65-F5344CB8AC3E}">
        <p14:creationId xmlns:p14="http://schemas.microsoft.com/office/powerpoint/2010/main" val="1526789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38</a:t>
            </a:fld>
            <a:endParaRPr lang="en-US" altLang="en-US"/>
          </a:p>
        </p:txBody>
      </p:sp>
    </p:spTree>
    <p:extLst>
      <p:ext uri="{BB962C8B-B14F-4D97-AF65-F5344CB8AC3E}">
        <p14:creationId xmlns:p14="http://schemas.microsoft.com/office/powerpoint/2010/main" val="34402968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685800" y="1143000"/>
            <a:ext cx="5486400" cy="3086100"/>
          </a:xfrm>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1400">
                <a:solidFill>
                  <a:schemeClr val="tx2"/>
                </a:solidFill>
                <a:latin typeface="Arial" panose="020B0604020202020204" pitchFamily="34" charset="0"/>
                <a:ea typeface="MS PGothic" panose="020B0600070205080204" pitchFamily="34" charset="-128"/>
              </a:defRPr>
            </a:lvl1pPr>
            <a:lvl2pPr marL="742950" indent="-285750" defTabSz="942975">
              <a:defRPr sz="1400">
                <a:solidFill>
                  <a:schemeClr val="tx2"/>
                </a:solidFill>
                <a:latin typeface="Arial" panose="020B0604020202020204" pitchFamily="34" charset="0"/>
                <a:ea typeface="MS PGothic" panose="020B0600070205080204" pitchFamily="34" charset="-128"/>
              </a:defRPr>
            </a:lvl2pPr>
            <a:lvl3pPr marL="1143000" indent="-228600" defTabSz="942975">
              <a:defRPr sz="1400">
                <a:solidFill>
                  <a:schemeClr val="tx2"/>
                </a:solidFill>
                <a:latin typeface="Arial" panose="020B0604020202020204" pitchFamily="34" charset="0"/>
                <a:ea typeface="MS PGothic" panose="020B0600070205080204" pitchFamily="34" charset="-128"/>
              </a:defRPr>
            </a:lvl3pPr>
            <a:lvl4pPr marL="1600200" indent="-228600" defTabSz="942975">
              <a:defRPr sz="1400">
                <a:solidFill>
                  <a:schemeClr val="tx2"/>
                </a:solidFill>
                <a:latin typeface="Arial" panose="020B0604020202020204" pitchFamily="34" charset="0"/>
                <a:ea typeface="MS PGothic" panose="020B0600070205080204" pitchFamily="34" charset="-128"/>
              </a:defRPr>
            </a:lvl4pPr>
            <a:lvl5pPr marL="2057400" indent="-228600" defTabSz="942975">
              <a:defRPr sz="1400">
                <a:solidFill>
                  <a:schemeClr val="tx2"/>
                </a:solidFill>
                <a:latin typeface="Arial" panose="020B0604020202020204" pitchFamily="34" charset="0"/>
                <a:ea typeface="MS PGothic" panose="020B0600070205080204" pitchFamily="34" charset="-128"/>
              </a:defRPr>
            </a:lvl5pPr>
            <a:lvl6pPr marL="25146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6pPr>
            <a:lvl7pPr marL="29718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7pPr>
            <a:lvl8pPr marL="34290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8pPr>
            <a:lvl9pPr marL="3886200" indent="-228600" defTabSz="942975" eaLnBrk="0" fontAlgn="base" hangingPunct="0">
              <a:spcBef>
                <a:spcPct val="0"/>
              </a:spcBef>
              <a:spcAft>
                <a:spcPct val="0"/>
              </a:spcAft>
              <a:defRPr sz="1400">
                <a:solidFill>
                  <a:schemeClr val="tx2"/>
                </a:solidFill>
                <a:latin typeface="Arial" panose="020B0604020202020204" pitchFamily="34" charset="0"/>
                <a:ea typeface="MS PGothic" panose="020B0600070205080204" pitchFamily="34" charset="-128"/>
              </a:defRPr>
            </a:lvl9pPr>
          </a:lstStyle>
          <a:p>
            <a:fld id="{594528A7-52B4-4C2A-82E7-3E9AE44D5D5F}" type="slidenum">
              <a:rPr lang="en-US" altLang="en-US" sz="1000" smtClean="0">
                <a:solidFill>
                  <a:schemeClr val="tx1"/>
                </a:solidFill>
              </a:rPr>
              <a:pPr/>
              <a:t>39</a:t>
            </a:fld>
            <a:endParaRPr lang="en-US" altLang="en-US" sz="1000">
              <a:solidFill>
                <a:schemeClr val="tx1"/>
              </a:solidFill>
            </a:endParaRPr>
          </a:p>
        </p:txBody>
      </p:sp>
    </p:spTree>
    <p:extLst>
      <p:ext uri="{BB962C8B-B14F-4D97-AF65-F5344CB8AC3E}">
        <p14:creationId xmlns:p14="http://schemas.microsoft.com/office/powerpoint/2010/main" val="26075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40</a:t>
            </a:fld>
            <a:endParaRPr lang="en-US" altLang="en-US"/>
          </a:p>
        </p:txBody>
      </p:sp>
    </p:spTree>
    <p:extLst>
      <p:ext uri="{BB962C8B-B14F-4D97-AF65-F5344CB8AC3E}">
        <p14:creationId xmlns:p14="http://schemas.microsoft.com/office/powerpoint/2010/main" val="29796116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41</a:t>
            </a:fld>
            <a:endParaRPr lang="en-US" altLang="en-US"/>
          </a:p>
        </p:txBody>
      </p:sp>
    </p:spTree>
    <p:extLst>
      <p:ext uri="{BB962C8B-B14F-4D97-AF65-F5344CB8AC3E}">
        <p14:creationId xmlns:p14="http://schemas.microsoft.com/office/powerpoint/2010/main" val="861625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42</a:t>
            </a:fld>
            <a:endParaRPr lang="en-US" altLang="en-US"/>
          </a:p>
        </p:txBody>
      </p:sp>
    </p:spTree>
    <p:extLst>
      <p:ext uri="{BB962C8B-B14F-4D97-AF65-F5344CB8AC3E}">
        <p14:creationId xmlns:p14="http://schemas.microsoft.com/office/powerpoint/2010/main" val="23734422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43</a:t>
            </a:fld>
            <a:endParaRPr lang="en-US" altLang="en-US"/>
          </a:p>
        </p:txBody>
      </p:sp>
    </p:spTree>
    <p:extLst>
      <p:ext uri="{BB962C8B-B14F-4D97-AF65-F5344CB8AC3E}">
        <p14:creationId xmlns:p14="http://schemas.microsoft.com/office/powerpoint/2010/main" val="26346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44</a:t>
            </a:fld>
            <a:endParaRPr lang="en-US" altLang="en-US"/>
          </a:p>
        </p:txBody>
      </p:sp>
    </p:spTree>
    <p:extLst>
      <p:ext uri="{BB962C8B-B14F-4D97-AF65-F5344CB8AC3E}">
        <p14:creationId xmlns:p14="http://schemas.microsoft.com/office/powerpoint/2010/main" val="2653431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45</a:t>
            </a:fld>
            <a:endParaRPr lang="en-US" altLang="en-US"/>
          </a:p>
        </p:txBody>
      </p:sp>
    </p:spTree>
    <p:extLst>
      <p:ext uri="{BB962C8B-B14F-4D97-AF65-F5344CB8AC3E}">
        <p14:creationId xmlns:p14="http://schemas.microsoft.com/office/powerpoint/2010/main" val="4101917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dirty="0">
                <a:solidFill>
                  <a:srgbClr val="242021"/>
                </a:solidFill>
                <a:effectLst/>
                <a:latin typeface="AdvTTa966caec"/>
              </a:rPr>
              <a:t>In addition to the difference in QA tool designs, such as the detector type and electronics, </a:t>
            </a:r>
            <a:r>
              <a:rPr lang="en-US" sz="1600" b="0" i="0" dirty="0">
                <a:solidFill>
                  <a:srgbClr val="FFFF00"/>
                </a:solidFill>
                <a:effectLst/>
                <a:latin typeface="AdvTTa966caec"/>
              </a:rPr>
              <a:t>the implementation of the same IMRT QA analysis method</a:t>
            </a:r>
            <a:r>
              <a:rPr lang="en-US" sz="1600" b="0" i="0" dirty="0">
                <a:solidFill>
                  <a:srgbClr val="242021"/>
                </a:solidFill>
                <a:effectLst/>
                <a:latin typeface="AdvTTa966caec"/>
              </a:rPr>
              <a:t>, such as composite test and </a:t>
            </a:r>
            <a:r>
              <a:rPr lang="en-US" sz="1600" b="0" i="0" dirty="0">
                <a:solidFill>
                  <a:srgbClr val="242021"/>
                </a:solidFill>
                <a:effectLst/>
                <a:latin typeface="AdvPSMP13"/>
              </a:rPr>
              <a:t>gamma </a:t>
            </a:r>
            <a:r>
              <a:rPr lang="en-US" sz="1600" b="0" i="0" dirty="0">
                <a:solidFill>
                  <a:srgbClr val="242021"/>
                </a:solidFill>
                <a:effectLst/>
                <a:latin typeface="AdvTTa966caec"/>
              </a:rPr>
              <a:t>index, can vary from different vendors or even different products from the same vendors</a:t>
            </a:r>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46</a:t>
            </a:fld>
            <a:endParaRPr lang="en-US" altLang="en-US"/>
          </a:p>
        </p:txBody>
      </p:sp>
    </p:spTree>
    <p:extLst>
      <p:ext uri="{BB962C8B-B14F-4D97-AF65-F5344CB8AC3E}">
        <p14:creationId xmlns:p14="http://schemas.microsoft.com/office/powerpoint/2010/main" val="27712842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AdvTTa966caec"/>
              </a:rPr>
              <a:t/>
            </a:r>
            <a:br>
              <a:rPr lang="en-US" sz="1800" b="0" i="0" dirty="0">
                <a:solidFill>
                  <a:srgbClr val="242021"/>
                </a:solidFill>
                <a:effectLst/>
                <a:latin typeface="AdvTTa966caec"/>
              </a:rPr>
            </a:br>
            <a:r>
              <a:rPr lang="en-US" sz="1600" b="0" i="0" dirty="0">
                <a:solidFill>
                  <a:srgbClr val="242021"/>
                </a:solidFill>
                <a:effectLst/>
                <a:latin typeface="AdvTTa966caec"/>
              </a:rPr>
              <a:t>In addition to the difference in QA tool designs, such as the detector type and electronics, </a:t>
            </a:r>
            <a:r>
              <a:rPr lang="en-US" sz="1600" b="0" i="0" dirty="0">
                <a:solidFill>
                  <a:srgbClr val="FFFF00"/>
                </a:solidFill>
                <a:effectLst/>
                <a:latin typeface="AdvTTa966caec"/>
              </a:rPr>
              <a:t>the implementation of the same IMRT QA analysis method</a:t>
            </a:r>
            <a:r>
              <a:rPr lang="en-US" sz="1600" b="0" i="0" dirty="0">
                <a:solidFill>
                  <a:srgbClr val="242021"/>
                </a:solidFill>
                <a:effectLst/>
                <a:latin typeface="AdvTTa966caec"/>
              </a:rPr>
              <a:t>, such as composite test and </a:t>
            </a:r>
            <a:r>
              <a:rPr lang="en-US" sz="1600" b="0" i="0" dirty="0">
                <a:solidFill>
                  <a:srgbClr val="242021"/>
                </a:solidFill>
                <a:effectLst/>
                <a:latin typeface="AdvPSMP13"/>
              </a:rPr>
              <a:t>gamma </a:t>
            </a:r>
            <a:r>
              <a:rPr lang="en-US" sz="1600" b="0" i="0" dirty="0">
                <a:solidFill>
                  <a:srgbClr val="242021"/>
                </a:solidFill>
                <a:effectLst/>
                <a:latin typeface="AdvTTa966caec"/>
              </a:rPr>
              <a:t>index, can vary from different vendors or even different products from the same vendors.</a:t>
            </a:r>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51</a:t>
            </a:fld>
            <a:endParaRPr lang="en-US" altLang="en-US"/>
          </a:p>
        </p:txBody>
      </p:sp>
    </p:spTree>
    <p:extLst>
      <p:ext uri="{BB962C8B-B14F-4D97-AF65-F5344CB8AC3E}">
        <p14:creationId xmlns:p14="http://schemas.microsoft.com/office/powerpoint/2010/main" val="24406869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sz="1600" dirty="0">
                <a:effectLst/>
                <a:latin typeface="Times New Roman" panose="02020603050405020304" pitchFamily="18" charset="0"/>
                <a:ea typeface="Times New Roman" panose="02020603050405020304" pitchFamily="18" charset="0"/>
              </a:rPr>
              <a:t>Action limit definition: Allowable deviation of measurement that won’t result in harm to the patient.</a:t>
            </a:r>
          </a:p>
          <a:p>
            <a:pPr marL="0" marR="0"/>
            <a:r>
              <a:rPr lang="en-US" sz="1600" dirty="0">
                <a:effectLst/>
                <a:latin typeface="Times New Roman" panose="02020603050405020304" pitchFamily="18" charset="0"/>
                <a:ea typeface="Times New Roman" panose="02020603050405020304" pitchFamily="18" charset="0"/>
              </a:rPr>
              <a:t>Tolerance limit definition: Are boundaries that, within, indicates that a process is subject to only random errors.</a:t>
            </a:r>
          </a:p>
          <a:p>
            <a:pPr marL="0" marR="0"/>
            <a:endParaRPr lang="en-US" sz="1600" dirty="0">
              <a:effectLst/>
              <a:latin typeface="Times New Roman" panose="02020603050405020304" pitchFamily="18" charset="0"/>
              <a:ea typeface="Times New Roman" panose="02020603050405020304" pitchFamily="18" charset="0"/>
            </a:endParaRPr>
          </a:p>
          <a:p>
            <a:pPr marL="0" marR="0"/>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52</a:t>
            </a:fld>
            <a:endParaRPr lang="en-US" altLang="en-US"/>
          </a:p>
        </p:txBody>
      </p:sp>
    </p:spTree>
    <p:extLst>
      <p:ext uri="{BB962C8B-B14F-4D97-AF65-F5344CB8AC3E}">
        <p14:creationId xmlns:p14="http://schemas.microsoft.com/office/powerpoint/2010/main" val="8272740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53</a:t>
            </a:fld>
            <a:endParaRPr lang="en-US" altLang="en-US"/>
          </a:p>
        </p:txBody>
      </p:sp>
    </p:spTree>
    <p:extLst>
      <p:ext uri="{BB962C8B-B14F-4D97-AF65-F5344CB8AC3E}">
        <p14:creationId xmlns:p14="http://schemas.microsoft.com/office/powerpoint/2010/main" val="18005518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54</a:t>
            </a:fld>
            <a:endParaRPr lang="en-US" altLang="en-US"/>
          </a:p>
        </p:txBody>
      </p:sp>
    </p:spTree>
    <p:extLst>
      <p:ext uri="{BB962C8B-B14F-4D97-AF65-F5344CB8AC3E}">
        <p14:creationId xmlns:p14="http://schemas.microsoft.com/office/powerpoint/2010/main" val="1615040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dirty="0">
                <a:solidFill>
                  <a:srgbClr val="242021"/>
                </a:solidFill>
                <a:effectLst/>
                <a:latin typeface="AdvTTa966caec"/>
              </a:rPr>
              <a:t>A number of groups have suggested metrics to assess the clinical acceptability of IMRT QA verification plans.</a:t>
            </a:r>
            <a:endParaRPr lang="en-US" dirty="0"/>
          </a:p>
        </p:txBody>
      </p:sp>
      <p:sp>
        <p:nvSpPr>
          <p:cNvPr id="4" name="Slide Number Placeholder 3"/>
          <p:cNvSpPr>
            <a:spLocks noGrp="1"/>
          </p:cNvSpPr>
          <p:nvPr>
            <p:ph type="sldNum" sz="quarter" idx="5"/>
          </p:nvPr>
        </p:nvSpPr>
        <p:spPr/>
        <p:txBody>
          <a:bodyPr/>
          <a:lstStyle/>
          <a:p>
            <a:pPr>
              <a:defRPr/>
            </a:pPr>
            <a:fld id="{F4399512-E961-4347-8706-661AE02AA638}" type="slidenum">
              <a:rPr lang="en-US" altLang="en-US" smtClean="0"/>
              <a:pPr>
                <a:defRPr/>
              </a:pPr>
              <a:t>55</a:t>
            </a:fld>
            <a:endParaRPr lang="en-US" altLang="en-US"/>
          </a:p>
        </p:txBody>
      </p:sp>
    </p:spTree>
    <p:extLst>
      <p:ext uri="{BB962C8B-B14F-4D97-AF65-F5344CB8AC3E}">
        <p14:creationId xmlns:p14="http://schemas.microsoft.com/office/powerpoint/2010/main" val="37820108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4399512-E961-4347-8706-661AE02AA638}" type="slidenum">
              <a:rPr lang="en-US" altLang="en-US" smtClean="0"/>
              <a:pPr>
                <a:defRPr/>
              </a:pPr>
              <a:t>56</a:t>
            </a:fld>
            <a:endParaRPr lang="en-US" altLang="en-US"/>
          </a:p>
        </p:txBody>
      </p:sp>
    </p:spTree>
    <p:extLst>
      <p:ext uri="{BB962C8B-B14F-4D97-AF65-F5344CB8AC3E}">
        <p14:creationId xmlns:p14="http://schemas.microsoft.com/office/powerpoint/2010/main" val="2288575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880EE0F-8936-034F-832B-8042B5D72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287" y="365885"/>
            <a:ext cx="4418390" cy="5049589"/>
          </a:xfrm>
          <a:prstGeom prst="rect">
            <a:avLst/>
          </a:prstGeom>
        </p:spPr>
      </p:pic>
      <p:sp>
        <p:nvSpPr>
          <p:cNvPr id="4" name="Rectangle 5">
            <a:extLst>
              <a:ext uri="{FF2B5EF4-FFF2-40B4-BE49-F238E27FC236}">
                <a16:creationId xmlns:a16="http://schemas.microsoft.com/office/drawing/2014/main" id="{378EF57C-0683-8E48-AE13-6590CF43DEB6}"/>
              </a:ext>
            </a:extLst>
          </p:cNvPr>
          <p:cNvSpPr>
            <a:spLocks noChangeArrowheads="1"/>
          </p:cNvSpPr>
          <p:nvPr userDrawn="1"/>
        </p:nvSpPr>
        <p:spPr bwMode="auto">
          <a:xfrm>
            <a:off x="3689351" y="6564313"/>
            <a:ext cx="335068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648" tIns="48825" rIns="97648" bIns="48825">
            <a:spAutoFit/>
          </a:bodyPr>
          <a:lstStyle>
            <a:lvl1pPr defTabSz="969963">
              <a:defRPr>
                <a:solidFill>
                  <a:schemeClr val="tx1"/>
                </a:solidFill>
                <a:latin typeface="Arial" panose="020B0604020202020204" pitchFamily="34" charset="0"/>
              </a:defRPr>
            </a:lvl1pPr>
            <a:lvl2pPr marL="484188" defTabSz="969963">
              <a:defRPr>
                <a:solidFill>
                  <a:schemeClr val="tx1"/>
                </a:solidFill>
                <a:latin typeface="Arial" panose="020B0604020202020204" pitchFamily="34" charset="0"/>
              </a:defRPr>
            </a:lvl2pPr>
            <a:lvl3pPr marL="969963" defTabSz="969963">
              <a:defRPr>
                <a:solidFill>
                  <a:schemeClr val="tx1"/>
                </a:solidFill>
                <a:latin typeface="Arial" panose="020B0604020202020204" pitchFamily="34" charset="0"/>
              </a:defRPr>
            </a:lvl3pPr>
            <a:lvl4pPr marL="1454150" defTabSz="969963">
              <a:defRPr>
                <a:solidFill>
                  <a:schemeClr val="tx1"/>
                </a:solidFill>
                <a:latin typeface="Arial" panose="020B0604020202020204" pitchFamily="34" charset="0"/>
              </a:defRPr>
            </a:lvl4pPr>
            <a:lvl5pPr marL="1939925" defTabSz="969963">
              <a:defRPr>
                <a:solidFill>
                  <a:schemeClr val="tx1"/>
                </a:solidFill>
                <a:latin typeface="Arial" panose="020B0604020202020204" pitchFamily="34" charset="0"/>
              </a:defRPr>
            </a:lvl5pPr>
            <a:lvl6pPr marL="2397125" defTabSz="969963" fontAlgn="base">
              <a:spcBef>
                <a:spcPct val="0"/>
              </a:spcBef>
              <a:spcAft>
                <a:spcPct val="0"/>
              </a:spcAft>
              <a:defRPr>
                <a:solidFill>
                  <a:schemeClr val="tx1"/>
                </a:solidFill>
                <a:latin typeface="Arial" panose="020B0604020202020204" pitchFamily="34" charset="0"/>
              </a:defRPr>
            </a:lvl6pPr>
            <a:lvl7pPr marL="2854325" defTabSz="969963" fontAlgn="base">
              <a:spcBef>
                <a:spcPct val="0"/>
              </a:spcBef>
              <a:spcAft>
                <a:spcPct val="0"/>
              </a:spcAft>
              <a:defRPr>
                <a:solidFill>
                  <a:schemeClr val="tx1"/>
                </a:solidFill>
                <a:latin typeface="Arial" panose="020B0604020202020204" pitchFamily="34" charset="0"/>
              </a:defRPr>
            </a:lvl7pPr>
            <a:lvl8pPr marL="3311525" defTabSz="969963" fontAlgn="base">
              <a:spcBef>
                <a:spcPct val="0"/>
              </a:spcBef>
              <a:spcAft>
                <a:spcPct val="0"/>
              </a:spcAft>
              <a:defRPr>
                <a:solidFill>
                  <a:schemeClr val="tx1"/>
                </a:solidFill>
                <a:latin typeface="Arial" panose="020B0604020202020204" pitchFamily="34" charset="0"/>
              </a:defRPr>
            </a:lvl8pPr>
            <a:lvl9pPr marL="3768725" defTabSz="969963" fontAlgn="base">
              <a:spcBef>
                <a:spcPct val="0"/>
              </a:spcBef>
              <a:spcAft>
                <a:spcPct val="0"/>
              </a:spcAft>
              <a:defRPr>
                <a:solidFill>
                  <a:schemeClr val="tx1"/>
                </a:solidFill>
                <a:latin typeface="Arial" panose="020B0604020202020204" pitchFamily="34" charset="0"/>
              </a:defRPr>
            </a:lvl9pPr>
          </a:lstStyle>
          <a:p>
            <a:pPr algn="ctr">
              <a:spcBef>
                <a:spcPct val="50000"/>
              </a:spcBef>
              <a:defRPr/>
            </a:pPr>
            <a:endParaRPr lang="en-US" altLang="en-US" sz="1900"/>
          </a:p>
        </p:txBody>
      </p:sp>
      <p:sp>
        <p:nvSpPr>
          <p:cNvPr id="2051" name="Rectangle 3"/>
          <p:cNvSpPr>
            <a:spLocks noGrp="1" noChangeArrowheads="1"/>
          </p:cNvSpPr>
          <p:nvPr>
            <p:ph type="ctrTitle" sz="quarter" hasCustomPrompt="1"/>
          </p:nvPr>
        </p:nvSpPr>
        <p:spPr>
          <a:xfrm>
            <a:off x="603505" y="3284439"/>
            <a:ext cx="10966453" cy="461665"/>
          </a:xfrm>
        </p:spPr>
        <p:txBody>
          <a:bodyPr anchor="t" anchorCtr="0">
            <a:spAutoFit/>
          </a:bodyPr>
          <a:lstStyle>
            <a:lvl1pPr>
              <a:defRPr/>
            </a:lvl1pPr>
          </a:lstStyle>
          <a:p>
            <a:pPr lvl="0"/>
            <a:r>
              <a:rPr lang="en-US" altLang="en-US" noProof="0"/>
              <a:t>Click to Edit Title of Presentation</a:t>
            </a:r>
          </a:p>
        </p:txBody>
      </p:sp>
      <p:pic>
        <p:nvPicPr>
          <p:cNvPr id="14" name="Picture 13">
            <a:extLst>
              <a:ext uri="{FF2B5EF4-FFF2-40B4-BE49-F238E27FC236}">
                <a16:creationId xmlns:a16="http://schemas.microsoft.com/office/drawing/2014/main" id="{81A97D23-F7C6-B046-ADCC-F1ACD792B17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85679"/>
          <a:stretch/>
        </p:blipFill>
        <p:spPr>
          <a:xfrm>
            <a:off x="605367" y="528365"/>
            <a:ext cx="3154870" cy="548456"/>
          </a:xfrm>
          <a:prstGeom prst="rect">
            <a:avLst/>
          </a:prstGeom>
        </p:spPr>
      </p:pic>
      <p:sp>
        <p:nvSpPr>
          <p:cNvPr id="20" name="Text Placeholder 19">
            <a:extLst>
              <a:ext uri="{FF2B5EF4-FFF2-40B4-BE49-F238E27FC236}">
                <a16:creationId xmlns:a16="http://schemas.microsoft.com/office/drawing/2014/main" id="{9B669413-AA1F-7B48-9EF7-51410D7110E3}"/>
              </a:ext>
            </a:extLst>
          </p:cNvPr>
          <p:cNvSpPr>
            <a:spLocks noGrp="1"/>
          </p:cNvSpPr>
          <p:nvPr>
            <p:ph type="body" sz="quarter" idx="10" hasCustomPrompt="1"/>
          </p:nvPr>
        </p:nvSpPr>
        <p:spPr>
          <a:xfrm>
            <a:off x="603504" y="2976470"/>
            <a:ext cx="10966453" cy="242039"/>
          </a:xfrm>
        </p:spPr>
        <p:txBody>
          <a:bodyPr tIns="0" bIns="0">
            <a:noAutofit/>
          </a:bodyPr>
          <a:lstStyle>
            <a:lvl1pPr marL="0" indent="0">
              <a:buNone/>
              <a:defRPr sz="1600" spc="300">
                <a:solidFill>
                  <a:schemeClr val="tx2"/>
                </a:solidFill>
              </a:defRPr>
            </a:lvl1pPr>
          </a:lstStyle>
          <a:p>
            <a:pPr lvl="0"/>
            <a:r>
              <a:rPr lang="en-US"/>
              <a:t>CLICK TO ADD DEPARTMENT OR SERVICE LINE</a:t>
            </a:r>
          </a:p>
          <a:p>
            <a:pPr lvl="0"/>
            <a:endParaRPr lang="en-US"/>
          </a:p>
        </p:txBody>
      </p:sp>
      <p:sp>
        <p:nvSpPr>
          <p:cNvPr id="22" name="Text Placeholder 21">
            <a:extLst>
              <a:ext uri="{FF2B5EF4-FFF2-40B4-BE49-F238E27FC236}">
                <a16:creationId xmlns:a16="http://schemas.microsoft.com/office/drawing/2014/main" id="{7D9F7EEA-6ACC-AA4C-B098-6FCE8583AAFF}"/>
              </a:ext>
            </a:extLst>
          </p:cNvPr>
          <p:cNvSpPr>
            <a:spLocks noGrp="1"/>
          </p:cNvSpPr>
          <p:nvPr>
            <p:ph type="body" sz="quarter" idx="11" hasCustomPrompt="1"/>
          </p:nvPr>
        </p:nvSpPr>
        <p:spPr>
          <a:xfrm>
            <a:off x="603250" y="4746216"/>
            <a:ext cx="10966450" cy="456535"/>
          </a:xfrm>
        </p:spPr>
        <p:txBody>
          <a:bodyPr tIns="0" bIns="0" anchor="b" anchorCtr="0"/>
          <a:lstStyle>
            <a:lvl1pPr marL="0" indent="0">
              <a:spcBef>
                <a:spcPts val="100"/>
              </a:spcBef>
              <a:spcAft>
                <a:spcPts val="100"/>
              </a:spcAft>
              <a:buFontTx/>
              <a:buNone/>
              <a:defRPr sz="1400" b="0">
                <a:solidFill>
                  <a:schemeClr val="bg1">
                    <a:lumMod val="50000"/>
                  </a:schemeClr>
                </a:solidFill>
              </a:defRPr>
            </a:lvl1pPr>
          </a:lstStyle>
          <a:p>
            <a:pPr lvl="0"/>
            <a:r>
              <a:rPr lang="en-US"/>
              <a:t>Presenter Name</a:t>
            </a:r>
          </a:p>
          <a:p>
            <a:pPr lvl="0"/>
            <a:r>
              <a:rPr lang="en-US"/>
              <a:t>Title</a:t>
            </a:r>
          </a:p>
        </p:txBody>
      </p:sp>
      <p:sp>
        <p:nvSpPr>
          <p:cNvPr id="25" name="Content Placeholder 24">
            <a:extLst>
              <a:ext uri="{FF2B5EF4-FFF2-40B4-BE49-F238E27FC236}">
                <a16:creationId xmlns:a16="http://schemas.microsoft.com/office/drawing/2014/main" id="{82640247-F5C8-854C-BFF2-F15A2B477F95}"/>
              </a:ext>
            </a:extLst>
          </p:cNvPr>
          <p:cNvSpPr>
            <a:spLocks noGrp="1"/>
          </p:cNvSpPr>
          <p:nvPr>
            <p:ph sz="quarter" idx="12" hasCustomPrompt="1"/>
          </p:nvPr>
        </p:nvSpPr>
        <p:spPr>
          <a:xfrm>
            <a:off x="603250" y="5546598"/>
            <a:ext cx="10966450" cy="213551"/>
          </a:xfrm>
        </p:spPr>
        <p:txBody>
          <a:bodyPr tIns="0" bIns="0" anchor="t" anchorCtr="0">
            <a:noAutofit/>
          </a:bodyPr>
          <a:lstStyle>
            <a:lvl1pPr marL="0" indent="0">
              <a:buFontTx/>
              <a:buNone/>
              <a:defRPr sz="1600"/>
            </a:lvl1pPr>
          </a:lstStyle>
          <a:p>
            <a:pPr lvl="0"/>
            <a:r>
              <a:rPr lang="en-US"/>
              <a:t>Month XX,2018</a:t>
            </a:r>
          </a:p>
        </p:txBody>
      </p:sp>
      <p:sp>
        <p:nvSpPr>
          <p:cNvPr id="35" name="Rectangle 34">
            <a:extLst>
              <a:ext uri="{FF2B5EF4-FFF2-40B4-BE49-F238E27FC236}">
                <a16:creationId xmlns:a16="http://schemas.microsoft.com/office/drawing/2014/main" id="{203563FC-0F09-0C4F-A98D-09A9A087BFFD}"/>
              </a:ext>
            </a:extLst>
          </p:cNvPr>
          <p:cNvSpPr/>
          <p:nvPr userDrawn="1"/>
        </p:nvSpPr>
        <p:spPr bwMode="auto">
          <a:xfrm>
            <a:off x="4272324" y="6073135"/>
            <a:ext cx="7919676" cy="18757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anose="020B0604020202020204" pitchFamily="34" charset="0"/>
            </a:endParaRPr>
          </a:p>
        </p:txBody>
      </p:sp>
      <p:sp>
        <p:nvSpPr>
          <p:cNvPr id="36" name="Rectangle 35">
            <a:extLst>
              <a:ext uri="{FF2B5EF4-FFF2-40B4-BE49-F238E27FC236}">
                <a16:creationId xmlns:a16="http://schemas.microsoft.com/office/drawing/2014/main" id="{DC4A80AC-0EE5-CE49-AC50-371B0BCEE030}"/>
              </a:ext>
            </a:extLst>
          </p:cNvPr>
          <p:cNvSpPr/>
          <p:nvPr userDrawn="1"/>
        </p:nvSpPr>
        <p:spPr bwMode="auto">
          <a:xfrm>
            <a:off x="3626865" y="6073135"/>
            <a:ext cx="589120" cy="18757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37" name="Rectangle 36">
            <a:extLst>
              <a:ext uri="{FF2B5EF4-FFF2-40B4-BE49-F238E27FC236}">
                <a16:creationId xmlns:a16="http://schemas.microsoft.com/office/drawing/2014/main" id="{E6EA6F35-CA1B-A642-9824-3B515D1BF591}"/>
              </a:ext>
            </a:extLst>
          </p:cNvPr>
          <p:cNvSpPr/>
          <p:nvPr userDrawn="1"/>
        </p:nvSpPr>
        <p:spPr bwMode="auto">
          <a:xfrm>
            <a:off x="2120793" y="6073135"/>
            <a:ext cx="1449733" cy="187570"/>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69B4247E-C5F1-3A4E-B4C6-26DD2EAF81A6}"/>
              </a:ext>
            </a:extLst>
          </p:cNvPr>
          <p:cNvSpPr/>
          <p:nvPr userDrawn="1"/>
        </p:nvSpPr>
        <p:spPr bwMode="auto">
          <a:xfrm>
            <a:off x="605367" y="6073135"/>
            <a:ext cx="1459087" cy="187570"/>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3826021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9488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0B4F123-30EB-A440-BB44-9D7F067693BF}"/>
              </a:ext>
            </a:extLst>
          </p:cNvPr>
          <p:cNvSpPr/>
          <p:nvPr userDrawn="1"/>
        </p:nvSpPr>
        <p:spPr bwMode="auto">
          <a:xfrm>
            <a:off x="4272324" y="6073135"/>
            <a:ext cx="7919676" cy="18757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anose="020B0604020202020204" pitchFamily="34" charset="0"/>
            </a:endParaRPr>
          </a:p>
        </p:txBody>
      </p:sp>
      <p:sp>
        <p:nvSpPr>
          <p:cNvPr id="4" name="Rectangle 5">
            <a:extLst>
              <a:ext uri="{FF2B5EF4-FFF2-40B4-BE49-F238E27FC236}">
                <a16:creationId xmlns:a16="http://schemas.microsoft.com/office/drawing/2014/main" id="{378EF57C-0683-8E48-AE13-6590CF43DEB6}"/>
              </a:ext>
            </a:extLst>
          </p:cNvPr>
          <p:cNvSpPr>
            <a:spLocks noChangeArrowheads="1"/>
          </p:cNvSpPr>
          <p:nvPr userDrawn="1"/>
        </p:nvSpPr>
        <p:spPr bwMode="auto">
          <a:xfrm>
            <a:off x="3689351" y="6564313"/>
            <a:ext cx="335068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648" tIns="48825" rIns="97648" bIns="48825">
            <a:spAutoFit/>
          </a:bodyPr>
          <a:lstStyle>
            <a:lvl1pPr defTabSz="969963">
              <a:defRPr>
                <a:solidFill>
                  <a:schemeClr val="tx1"/>
                </a:solidFill>
                <a:latin typeface="Arial" panose="020B0604020202020204" pitchFamily="34" charset="0"/>
              </a:defRPr>
            </a:lvl1pPr>
            <a:lvl2pPr marL="484188" defTabSz="969963">
              <a:defRPr>
                <a:solidFill>
                  <a:schemeClr val="tx1"/>
                </a:solidFill>
                <a:latin typeface="Arial" panose="020B0604020202020204" pitchFamily="34" charset="0"/>
              </a:defRPr>
            </a:lvl2pPr>
            <a:lvl3pPr marL="969963" defTabSz="969963">
              <a:defRPr>
                <a:solidFill>
                  <a:schemeClr val="tx1"/>
                </a:solidFill>
                <a:latin typeface="Arial" panose="020B0604020202020204" pitchFamily="34" charset="0"/>
              </a:defRPr>
            </a:lvl3pPr>
            <a:lvl4pPr marL="1454150" defTabSz="969963">
              <a:defRPr>
                <a:solidFill>
                  <a:schemeClr val="tx1"/>
                </a:solidFill>
                <a:latin typeface="Arial" panose="020B0604020202020204" pitchFamily="34" charset="0"/>
              </a:defRPr>
            </a:lvl4pPr>
            <a:lvl5pPr marL="1939925" defTabSz="969963">
              <a:defRPr>
                <a:solidFill>
                  <a:schemeClr val="tx1"/>
                </a:solidFill>
                <a:latin typeface="Arial" panose="020B0604020202020204" pitchFamily="34" charset="0"/>
              </a:defRPr>
            </a:lvl5pPr>
            <a:lvl6pPr marL="2397125" defTabSz="969963" fontAlgn="base">
              <a:spcBef>
                <a:spcPct val="0"/>
              </a:spcBef>
              <a:spcAft>
                <a:spcPct val="0"/>
              </a:spcAft>
              <a:defRPr>
                <a:solidFill>
                  <a:schemeClr val="tx1"/>
                </a:solidFill>
                <a:latin typeface="Arial" panose="020B0604020202020204" pitchFamily="34" charset="0"/>
              </a:defRPr>
            </a:lvl6pPr>
            <a:lvl7pPr marL="2854325" defTabSz="969963" fontAlgn="base">
              <a:spcBef>
                <a:spcPct val="0"/>
              </a:spcBef>
              <a:spcAft>
                <a:spcPct val="0"/>
              </a:spcAft>
              <a:defRPr>
                <a:solidFill>
                  <a:schemeClr val="tx1"/>
                </a:solidFill>
                <a:latin typeface="Arial" panose="020B0604020202020204" pitchFamily="34" charset="0"/>
              </a:defRPr>
            </a:lvl7pPr>
            <a:lvl8pPr marL="3311525" defTabSz="969963" fontAlgn="base">
              <a:spcBef>
                <a:spcPct val="0"/>
              </a:spcBef>
              <a:spcAft>
                <a:spcPct val="0"/>
              </a:spcAft>
              <a:defRPr>
                <a:solidFill>
                  <a:schemeClr val="tx1"/>
                </a:solidFill>
                <a:latin typeface="Arial" panose="020B0604020202020204" pitchFamily="34" charset="0"/>
              </a:defRPr>
            </a:lvl8pPr>
            <a:lvl9pPr marL="3768725" defTabSz="969963" fontAlgn="base">
              <a:spcBef>
                <a:spcPct val="0"/>
              </a:spcBef>
              <a:spcAft>
                <a:spcPct val="0"/>
              </a:spcAft>
              <a:defRPr>
                <a:solidFill>
                  <a:schemeClr val="tx1"/>
                </a:solidFill>
                <a:latin typeface="Arial" panose="020B0604020202020204" pitchFamily="34" charset="0"/>
              </a:defRPr>
            </a:lvl9pPr>
          </a:lstStyle>
          <a:p>
            <a:pPr algn="ctr">
              <a:spcBef>
                <a:spcPct val="50000"/>
              </a:spcBef>
              <a:defRPr/>
            </a:pPr>
            <a:endParaRPr lang="en-US" altLang="en-US" sz="1900"/>
          </a:p>
        </p:txBody>
      </p:sp>
      <p:sp>
        <p:nvSpPr>
          <p:cNvPr id="10" name="Rectangle 9">
            <a:extLst>
              <a:ext uri="{FF2B5EF4-FFF2-40B4-BE49-F238E27FC236}">
                <a16:creationId xmlns:a16="http://schemas.microsoft.com/office/drawing/2014/main" id="{2CBED2D5-3D21-F846-9AB1-F18C83362D57}"/>
              </a:ext>
            </a:extLst>
          </p:cNvPr>
          <p:cNvSpPr/>
          <p:nvPr userDrawn="1"/>
        </p:nvSpPr>
        <p:spPr bwMode="auto">
          <a:xfrm>
            <a:off x="4272325" y="0"/>
            <a:ext cx="7919676" cy="6858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A0C13092-8DB7-0B4F-ABD0-D6BD93629201}"/>
              </a:ext>
            </a:extLst>
          </p:cNvPr>
          <p:cNvSpPr>
            <a:spLocks noGrp="1"/>
          </p:cNvSpPr>
          <p:nvPr>
            <p:ph type="title" hasCustomPrompt="1"/>
          </p:nvPr>
        </p:nvSpPr>
        <p:spPr>
          <a:xfrm>
            <a:off x="4901133" y="3198167"/>
            <a:ext cx="6662057" cy="461665"/>
          </a:xfrm>
        </p:spPr>
        <p:txBody>
          <a:bodyPr anchor="ctr" anchorCtr="0"/>
          <a:lstStyle>
            <a:lvl1pPr>
              <a:defRPr>
                <a:solidFill>
                  <a:schemeClr val="bg1"/>
                </a:solidFill>
              </a:defRPr>
            </a:lvl1pPr>
          </a:lstStyle>
          <a:p>
            <a:r>
              <a:rPr lang="en-US"/>
              <a:t>Section Divider Title</a:t>
            </a:r>
          </a:p>
        </p:txBody>
      </p:sp>
      <p:sp>
        <p:nvSpPr>
          <p:cNvPr id="17" name="Rectangle 16">
            <a:extLst>
              <a:ext uri="{FF2B5EF4-FFF2-40B4-BE49-F238E27FC236}">
                <a16:creationId xmlns:a16="http://schemas.microsoft.com/office/drawing/2014/main" id="{206BB0AF-9056-B849-8AE6-C1E1BBA3E300}"/>
              </a:ext>
            </a:extLst>
          </p:cNvPr>
          <p:cNvSpPr/>
          <p:nvPr userDrawn="1"/>
        </p:nvSpPr>
        <p:spPr bwMode="auto">
          <a:xfrm>
            <a:off x="3626865" y="6073135"/>
            <a:ext cx="589120" cy="18757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1F111A79-FA5C-6C4A-9F3B-44ACE4907DA5}"/>
              </a:ext>
            </a:extLst>
          </p:cNvPr>
          <p:cNvSpPr/>
          <p:nvPr userDrawn="1"/>
        </p:nvSpPr>
        <p:spPr bwMode="auto">
          <a:xfrm>
            <a:off x="2120793" y="6073135"/>
            <a:ext cx="1449733" cy="187570"/>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19" name="Rectangle 18">
            <a:extLst>
              <a:ext uri="{FF2B5EF4-FFF2-40B4-BE49-F238E27FC236}">
                <a16:creationId xmlns:a16="http://schemas.microsoft.com/office/drawing/2014/main" id="{F59BD90C-2B1D-CE42-B14E-DB6FD23D2123}"/>
              </a:ext>
            </a:extLst>
          </p:cNvPr>
          <p:cNvSpPr/>
          <p:nvPr userDrawn="1"/>
        </p:nvSpPr>
        <p:spPr bwMode="auto">
          <a:xfrm>
            <a:off x="605367" y="6073135"/>
            <a:ext cx="1459087" cy="187570"/>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1601492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5368" y="1124081"/>
            <a:ext cx="5115984" cy="1743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05551" y="1124081"/>
            <a:ext cx="5374393" cy="1743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AC56170B-6943-F84C-A7CF-C98CC69F19FC}"/>
              </a:ext>
            </a:extLst>
          </p:cNvPr>
          <p:cNvSpPr>
            <a:spLocks noGrp="1" noChangeArrowheads="1"/>
          </p:cNvSpPr>
          <p:nvPr>
            <p:ph type="title"/>
          </p:nvPr>
        </p:nvSpPr>
        <p:spPr bwMode="auto">
          <a:xfrm>
            <a:off x="605368" y="476872"/>
            <a:ext cx="11074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title style</a:t>
            </a:r>
          </a:p>
        </p:txBody>
      </p:sp>
    </p:spTree>
    <p:extLst>
      <p:ext uri="{BB962C8B-B14F-4D97-AF65-F5344CB8AC3E}">
        <p14:creationId xmlns:p14="http://schemas.microsoft.com/office/powerpoint/2010/main" val="1982546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5367" y="1173430"/>
            <a:ext cx="5356893" cy="5665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5368" y="1739965"/>
            <a:ext cx="5356892" cy="17566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0171" y="1173430"/>
            <a:ext cx="5409773" cy="5665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70171" y="1739965"/>
            <a:ext cx="5409773" cy="17566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FD98137F-E053-8749-A48F-5E7A87B94F85}"/>
              </a:ext>
            </a:extLst>
          </p:cNvPr>
          <p:cNvSpPr>
            <a:spLocks noGrp="1" noChangeArrowheads="1"/>
          </p:cNvSpPr>
          <p:nvPr>
            <p:ph type="title"/>
          </p:nvPr>
        </p:nvSpPr>
        <p:spPr bwMode="auto">
          <a:xfrm>
            <a:off x="605368" y="476872"/>
            <a:ext cx="11074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title style</a:t>
            </a:r>
          </a:p>
        </p:txBody>
      </p:sp>
    </p:spTree>
    <p:extLst>
      <p:ext uri="{BB962C8B-B14F-4D97-AF65-F5344CB8AC3E}">
        <p14:creationId xmlns:p14="http://schemas.microsoft.com/office/powerpoint/2010/main" val="2386728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F67A72FA-85E0-1C47-93C3-EB1CF1E07A7A}"/>
              </a:ext>
            </a:extLst>
          </p:cNvPr>
          <p:cNvSpPr>
            <a:spLocks noGrp="1" noChangeArrowheads="1"/>
          </p:cNvSpPr>
          <p:nvPr>
            <p:ph type="title"/>
          </p:nvPr>
        </p:nvSpPr>
        <p:spPr bwMode="auto">
          <a:xfrm>
            <a:off x="605368" y="476872"/>
            <a:ext cx="11074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title style</a:t>
            </a:r>
          </a:p>
        </p:txBody>
      </p:sp>
    </p:spTree>
    <p:extLst>
      <p:ext uri="{BB962C8B-B14F-4D97-AF65-F5344CB8AC3E}">
        <p14:creationId xmlns:p14="http://schemas.microsoft.com/office/powerpoint/2010/main" val="3753437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694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378EF57C-0683-8E48-AE13-6590CF43DEB6}"/>
              </a:ext>
            </a:extLst>
          </p:cNvPr>
          <p:cNvSpPr>
            <a:spLocks noChangeArrowheads="1"/>
          </p:cNvSpPr>
          <p:nvPr userDrawn="1"/>
        </p:nvSpPr>
        <p:spPr bwMode="auto">
          <a:xfrm>
            <a:off x="3689351" y="6564313"/>
            <a:ext cx="335068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648" tIns="48825" rIns="97648" bIns="48825">
            <a:spAutoFit/>
          </a:bodyPr>
          <a:lstStyle>
            <a:lvl1pPr defTabSz="969963">
              <a:defRPr>
                <a:solidFill>
                  <a:schemeClr val="tx1"/>
                </a:solidFill>
                <a:latin typeface="Arial" panose="020B0604020202020204" pitchFamily="34" charset="0"/>
              </a:defRPr>
            </a:lvl1pPr>
            <a:lvl2pPr marL="484188" defTabSz="969963">
              <a:defRPr>
                <a:solidFill>
                  <a:schemeClr val="tx1"/>
                </a:solidFill>
                <a:latin typeface="Arial" panose="020B0604020202020204" pitchFamily="34" charset="0"/>
              </a:defRPr>
            </a:lvl2pPr>
            <a:lvl3pPr marL="969963" defTabSz="969963">
              <a:defRPr>
                <a:solidFill>
                  <a:schemeClr val="tx1"/>
                </a:solidFill>
                <a:latin typeface="Arial" panose="020B0604020202020204" pitchFamily="34" charset="0"/>
              </a:defRPr>
            </a:lvl3pPr>
            <a:lvl4pPr marL="1454150" defTabSz="969963">
              <a:defRPr>
                <a:solidFill>
                  <a:schemeClr val="tx1"/>
                </a:solidFill>
                <a:latin typeface="Arial" panose="020B0604020202020204" pitchFamily="34" charset="0"/>
              </a:defRPr>
            </a:lvl4pPr>
            <a:lvl5pPr marL="1939925" defTabSz="969963">
              <a:defRPr>
                <a:solidFill>
                  <a:schemeClr val="tx1"/>
                </a:solidFill>
                <a:latin typeface="Arial" panose="020B0604020202020204" pitchFamily="34" charset="0"/>
              </a:defRPr>
            </a:lvl5pPr>
            <a:lvl6pPr marL="2397125" defTabSz="969963" fontAlgn="base">
              <a:spcBef>
                <a:spcPct val="0"/>
              </a:spcBef>
              <a:spcAft>
                <a:spcPct val="0"/>
              </a:spcAft>
              <a:defRPr>
                <a:solidFill>
                  <a:schemeClr val="tx1"/>
                </a:solidFill>
                <a:latin typeface="Arial" panose="020B0604020202020204" pitchFamily="34" charset="0"/>
              </a:defRPr>
            </a:lvl6pPr>
            <a:lvl7pPr marL="2854325" defTabSz="969963" fontAlgn="base">
              <a:spcBef>
                <a:spcPct val="0"/>
              </a:spcBef>
              <a:spcAft>
                <a:spcPct val="0"/>
              </a:spcAft>
              <a:defRPr>
                <a:solidFill>
                  <a:schemeClr val="tx1"/>
                </a:solidFill>
                <a:latin typeface="Arial" panose="020B0604020202020204" pitchFamily="34" charset="0"/>
              </a:defRPr>
            </a:lvl7pPr>
            <a:lvl8pPr marL="3311525" defTabSz="969963" fontAlgn="base">
              <a:spcBef>
                <a:spcPct val="0"/>
              </a:spcBef>
              <a:spcAft>
                <a:spcPct val="0"/>
              </a:spcAft>
              <a:defRPr>
                <a:solidFill>
                  <a:schemeClr val="tx1"/>
                </a:solidFill>
                <a:latin typeface="Arial" panose="020B0604020202020204" pitchFamily="34" charset="0"/>
              </a:defRPr>
            </a:lvl8pPr>
            <a:lvl9pPr marL="3768725" defTabSz="969963" fontAlgn="base">
              <a:spcBef>
                <a:spcPct val="0"/>
              </a:spcBef>
              <a:spcAft>
                <a:spcPct val="0"/>
              </a:spcAft>
              <a:defRPr>
                <a:solidFill>
                  <a:schemeClr val="tx1"/>
                </a:solidFill>
                <a:latin typeface="Arial" panose="020B0604020202020204" pitchFamily="34" charset="0"/>
              </a:defRPr>
            </a:lvl9pPr>
          </a:lstStyle>
          <a:p>
            <a:pPr algn="ctr">
              <a:spcBef>
                <a:spcPct val="50000"/>
              </a:spcBef>
              <a:defRPr/>
            </a:pPr>
            <a:endParaRPr lang="en-US" altLang="en-US" sz="1900"/>
          </a:p>
        </p:txBody>
      </p:sp>
      <p:pic>
        <p:nvPicPr>
          <p:cNvPr id="14" name="Picture 13">
            <a:extLst>
              <a:ext uri="{FF2B5EF4-FFF2-40B4-BE49-F238E27FC236}">
                <a16:creationId xmlns:a16="http://schemas.microsoft.com/office/drawing/2014/main" id="{81A97D23-F7C6-B046-ADCC-F1ACD792B1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85679"/>
          <a:stretch/>
        </p:blipFill>
        <p:spPr>
          <a:xfrm>
            <a:off x="4306868" y="3084953"/>
            <a:ext cx="3154870" cy="548456"/>
          </a:xfrm>
          <a:prstGeom prst="rect">
            <a:avLst/>
          </a:prstGeom>
        </p:spPr>
      </p:pic>
      <p:sp>
        <p:nvSpPr>
          <p:cNvPr id="15" name="Rectangle 14">
            <a:extLst>
              <a:ext uri="{FF2B5EF4-FFF2-40B4-BE49-F238E27FC236}">
                <a16:creationId xmlns:a16="http://schemas.microsoft.com/office/drawing/2014/main" id="{A2562E6E-14D8-0F44-A50D-BEB5AA05E94A}"/>
              </a:ext>
            </a:extLst>
          </p:cNvPr>
          <p:cNvSpPr/>
          <p:nvPr userDrawn="1"/>
        </p:nvSpPr>
        <p:spPr bwMode="auto">
          <a:xfrm>
            <a:off x="4272324" y="6073135"/>
            <a:ext cx="7919676" cy="18757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D07A041C-85C9-D44B-987A-C8542A9F68E4}"/>
              </a:ext>
            </a:extLst>
          </p:cNvPr>
          <p:cNvSpPr/>
          <p:nvPr userDrawn="1"/>
        </p:nvSpPr>
        <p:spPr bwMode="auto">
          <a:xfrm>
            <a:off x="3626865" y="6073135"/>
            <a:ext cx="589120" cy="18757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4E4D422F-FE44-674C-AF4F-23C21B48453C}"/>
              </a:ext>
            </a:extLst>
          </p:cNvPr>
          <p:cNvSpPr/>
          <p:nvPr userDrawn="1"/>
        </p:nvSpPr>
        <p:spPr bwMode="auto">
          <a:xfrm>
            <a:off x="2120793" y="6073135"/>
            <a:ext cx="1449733" cy="187570"/>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5F87DA0F-8041-DB4E-818B-D170DFA1CCEB}"/>
              </a:ext>
            </a:extLst>
          </p:cNvPr>
          <p:cNvSpPr/>
          <p:nvPr userDrawn="1"/>
        </p:nvSpPr>
        <p:spPr bwMode="auto">
          <a:xfrm>
            <a:off x="605367" y="6073135"/>
            <a:ext cx="1459087" cy="187570"/>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307300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B60C43DA-1A5C-A446-A959-2598C0B24E77}"/>
              </a:ext>
            </a:extLst>
          </p:cNvPr>
          <p:cNvSpPr>
            <a:spLocks noGrp="1" noChangeArrowheads="1"/>
          </p:cNvSpPr>
          <p:nvPr>
            <p:ph type="body" idx="1"/>
          </p:nvPr>
        </p:nvSpPr>
        <p:spPr bwMode="auto">
          <a:xfrm>
            <a:off x="607997" y="1114750"/>
            <a:ext cx="11071946" cy="172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p>
            <a:pPr lvl="0"/>
            <a:r>
              <a:rPr lang="en-US" altLang="en-US"/>
              <a:t>Level 1</a:t>
            </a:r>
          </a:p>
          <a:p>
            <a:pPr lvl="1"/>
            <a:r>
              <a:rPr lang="en-US" altLang="en-US"/>
              <a:t>Level two</a:t>
            </a:r>
          </a:p>
          <a:p>
            <a:pPr lvl="2"/>
            <a:r>
              <a:rPr lang="en-US" altLang="en-US"/>
              <a:t>Level three</a:t>
            </a:r>
          </a:p>
          <a:p>
            <a:pPr lvl="3"/>
            <a:r>
              <a:rPr lang="en-US" altLang="en-US"/>
              <a:t>Level four</a:t>
            </a:r>
          </a:p>
          <a:p>
            <a:pPr lvl="4"/>
            <a:r>
              <a:rPr lang="en-US" altLang="en-US"/>
              <a:t>Level five</a:t>
            </a:r>
          </a:p>
        </p:txBody>
      </p:sp>
      <p:sp>
        <p:nvSpPr>
          <p:cNvPr id="1028" name="Rectangle 4">
            <a:extLst>
              <a:ext uri="{FF2B5EF4-FFF2-40B4-BE49-F238E27FC236}">
                <a16:creationId xmlns:a16="http://schemas.microsoft.com/office/drawing/2014/main" id="{01684BA7-7381-CC48-B7B4-6B25FA5DDCE4}"/>
              </a:ext>
            </a:extLst>
          </p:cNvPr>
          <p:cNvSpPr>
            <a:spLocks noChangeArrowheads="1"/>
          </p:cNvSpPr>
          <p:nvPr/>
        </p:nvSpPr>
        <p:spPr bwMode="auto">
          <a:xfrm>
            <a:off x="11679943" y="6448248"/>
            <a:ext cx="30678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oAutofit/>
          </a:bodyPr>
          <a:lstStyle>
            <a:lvl1pPr defTabSz="901700">
              <a:defRPr>
                <a:solidFill>
                  <a:schemeClr val="tx1"/>
                </a:solidFill>
                <a:latin typeface="Arial" panose="020B0604020202020204" pitchFamily="34" charset="0"/>
              </a:defRPr>
            </a:lvl1pPr>
            <a:lvl2pPr marL="450850" defTabSz="901700">
              <a:defRPr>
                <a:solidFill>
                  <a:schemeClr val="tx1"/>
                </a:solidFill>
                <a:latin typeface="Arial" panose="020B0604020202020204" pitchFamily="34" charset="0"/>
              </a:defRPr>
            </a:lvl2pPr>
            <a:lvl3pPr marL="901700" defTabSz="901700">
              <a:defRPr>
                <a:solidFill>
                  <a:schemeClr val="tx1"/>
                </a:solidFill>
                <a:latin typeface="Arial" panose="020B0604020202020204" pitchFamily="34" charset="0"/>
              </a:defRPr>
            </a:lvl3pPr>
            <a:lvl4pPr marL="1354138" defTabSz="901700">
              <a:defRPr>
                <a:solidFill>
                  <a:schemeClr val="tx1"/>
                </a:solidFill>
                <a:latin typeface="Arial" panose="020B0604020202020204" pitchFamily="34" charset="0"/>
              </a:defRPr>
            </a:lvl4pPr>
            <a:lvl5pPr marL="1803400" defTabSz="901700">
              <a:defRPr>
                <a:solidFill>
                  <a:schemeClr val="tx1"/>
                </a:solidFill>
                <a:latin typeface="Arial" panose="020B0604020202020204" pitchFamily="34" charset="0"/>
              </a:defRPr>
            </a:lvl5pPr>
            <a:lvl6pPr marL="2260600" defTabSz="901700" fontAlgn="base">
              <a:spcBef>
                <a:spcPct val="0"/>
              </a:spcBef>
              <a:spcAft>
                <a:spcPct val="0"/>
              </a:spcAft>
              <a:defRPr>
                <a:solidFill>
                  <a:schemeClr val="tx1"/>
                </a:solidFill>
                <a:latin typeface="Arial" panose="020B0604020202020204" pitchFamily="34" charset="0"/>
              </a:defRPr>
            </a:lvl6pPr>
            <a:lvl7pPr marL="2717800" defTabSz="901700" fontAlgn="base">
              <a:spcBef>
                <a:spcPct val="0"/>
              </a:spcBef>
              <a:spcAft>
                <a:spcPct val="0"/>
              </a:spcAft>
              <a:defRPr>
                <a:solidFill>
                  <a:schemeClr val="tx1"/>
                </a:solidFill>
                <a:latin typeface="Arial" panose="020B0604020202020204" pitchFamily="34" charset="0"/>
              </a:defRPr>
            </a:lvl7pPr>
            <a:lvl8pPr marL="3175000" defTabSz="901700" fontAlgn="base">
              <a:spcBef>
                <a:spcPct val="0"/>
              </a:spcBef>
              <a:spcAft>
                <a:spcPct val="0"/>
              </a:spcAft>
              <a:defRPr>
                <a:solidFill>
                  <a:schemeClr val="tx1"/>
                </a:solidFill>
                <a:latin typeface="Arial" panose="020B0604020202020204" pitchFamily="34" charset="0"/>
              </a:defRPr>
            </a:lvl8pPr>
            <a:lvl9pPr marL="3632200" defTabSz="901700" fontAlgn="base">
              <a:spcBef>
                <a:spcPct val="0"/>
              </a:spcBef>
              <a:spcAft>
                <a:spcPct val="0"/>
              </a:spcAft>
              <a:defRPr>
                <a:solidFill>
                  <a:schemeClr val="tx1"/>
                </a:solidFill>
                <a:latin typeface="Arial" panose="020B0604020202020204" pitchFamily="34" charset="0"/>
              </a:defRPr>
            </a:lvl9pPr>
          </a:lstStyle>
          <a:p>
            <a:pPr algn="r">
              <a:defRPr/>
            </a:pPr>
            <a:fld id="{5B4467E9-E984-A945-AC32-61228A8C1F5F}" type="slidenum">
              <a:rPr lang="en-US" altLang="en-US" sz="1200" b="0" smtClean="0">
                <a:solidFill>
                  <a:schemeClr val="bg1">
                    <a:lumMod val="65000"/>
                  </a:schemeClr>
                </a:solidFill>
                <a:latin typeface="Arial" panose="020B0604020202020204" pitchFamily="34" charset="0"/>
                <a:cs typeface="Arial" panose="020B0604020202020204" pitchFamily="34" charset="0"/>
              </a:rPr>
              <a:pPr algn="r">
                <a:defRPr/>
              </a:pPr>
              <a:t>‹#›</a:t>
            </a:fld>
            <a:endParaRPr lang="en-US" altLang="en-US" sz="1200" b="0">
              <a:solidFill>
                <a:schemeClr val="bg1">
                  <a:lumMod val="65000"/>
                </a:schemeClr>
              </a:solidFill>
              <a:latin typeface="Arial" panose="020B0604020202020204" pitchFamily="34" charset="0"/>
              <a:cs typeface="Arial" panose="020B0604020202020204" pitchFamily="34" charset="0"/>
            </a:endParaRPr>
          </a:p>
        </p:txBody>
      </p:sp>
      <p:sp>
        <p:nvSpPr>
          <p:cNvPr id="2" name="Rectangle 6">
            <a:extLst>
              <a:ext uri="{FF2B5EF4-FFF2-40B4-BE49-F238E27FC236}">
                <a16:creationId xmlns:a16="http://schemas.microsoft.com/office/drawing/2014/main" id="{425B6A2B-1598-5242-AF8F-0A570BD4E3F5}"/>
              </a:ext>
            </a:extLst>
          </p:cNvPr>
          <p:cNvSpPr>
            <a:spLocks noGrp="1" noChangeArrowheads="1"/>
          </p:cNvSpPr>
          <p:nvPr>
            <p:ph type="title"/>
          </p:nvPr>
        </p:nvSpPr>
        <p:spPr bwMode="auto">
          <a:xfrm>
            <a:off x="605368" y="476872"/>
            <a:ext cx="11074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title style</a:t>
            </a:r>
          </a:p>
        </p:txBody>
      </p:sp>
      <p:sp>
        <p:nvSpPr>
          <p:cNvPr id="1032" name="Rectangle 8">
            <a:extLst>
              <a:ext uri="{FF2B5EF4-FFF2-40B4-BE49-F238E27FC236}">
                <a16:creationId xmlns:a16="http://schemas.microsoft.com/office/drawing/2014/main" id="{26F14E00-C21C-8644-9056-518E0CF27DF9}"/>
              </a:ext>
            </a:extLst>
          </p:cNvPr>
          <p:cNvSpPr>
            <a:spLocks noChangeArrowheads="1"/>
          </p:cNvSpPr>
          <p:nvPr/>
        </p:nvSpPr>
        <p:spPr bwMode="auto">
          <a:xfrm>
            <a:off x="3689351" y="6564313"/>
            <a:ext cx="335068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648" tIns="48825" rIns="97648" bIns="48825">
            <a:spAutoFit/>
          </a:bodyPr>
          <a:lstStyle>
            <a:lvl1pPr defTabSz="969963">
              <a:defRPr>
                <a:solidFill>
                  <a:schemeClr val="tx1"/>
                </a:solidFill>
                <a:latin typeface="Arial" panose="020B0604020202020204" pitchFamily="34" charset="0"/>
              </a:defRPr>
            </a:lvl1pPr>
            <a:lvl2pPr marL="484188" defTabSz="969963">
              <a:defRPr>
                <a:solidFill>
                  <a:schemeClr val="tx1"/>
                </a:solidFill>
                <a:latin typeface="Arial" panose="020B0604020202020204" pitchFamily="34" charset="0"/>
              </a:defRPr>
            </a:lvl2pPr>
            <a:lvl3pPr marL="969963" defTabSz="969963">
              <a:defRPr>
                <a:solidFill>
                  <a:schemeClr val="tx1"/>
                </a:solidFill>
                <a:latin typeface="Arial" panose="020B0604020202020204" pitchFamily="34" charset="0"/>
              </a:defRPr>
            </a:lvl3pPr>
            <a:lvl4pPr marL="1454150" defTabSz="969963">
              <a:defRPr>
                <a:solidFill>
                  <a:schemeClr val="tx1"/>
                </a:solidFill>
                <a:latin typeface="Arial" panose="020B0604020202020204" pitchFamily="34" charset="0"/>
              </a:defRPr>
            </a:lvl4pPr>
            <a:lvl5pPr marL="1939925" defTabSz="969963">
              <a:defRPr>
                <a:solidFill>
                  <a:schemeClr val="tx1"/>
                </a:solidFill>
                <a:latin typeface="Arial" panose="020B0604020202020204" pitchFamily="34" charset="0"/>
              </a:defRPr>
            </a:lvl5pPr>
            <a:lvl6pPr marL="2397125" defTabSz="969963" fontAlgn="base">
              <a:spcBef>
                <a:spcPct val="0"/>
              </a:spcBef>
              <a:spcAft>
                <a:spcPct val="0"/>
              </a:spcAft>
              <a:defRPr>
                <a:solidFill>
                  <a:schemeClr val="tx1"/>
                </a:solidFill>
                <a:latin typeface="Arial" panose="020B0604020202020204" pitchFamily="34" charset="0"/>
              </a:defRPr>
            </a:lvl6pPr>
            <a:lvl7pPr marL="2854325" defTabSz="969963" fontAlgn="base">
              <a:spcBef>
                <a:spcPct val="0"/>
              </a:spcBef>
              <a:spcAft>
                <a:spcPct val="0"/>
              </a:spcAft>
              <a:defRPr>
                <a:solidFill>
                  <a:schemeClr val="tx1"/>
                </a:solidFill>
                <a:latin typeface="Arial" panose="020B0604020202020204" pitchFamily="34" charset="0"/>
              </a:defRPr>
            </a:lvl7pPr>
            <a:lvl8pPr marL="3311525" defTabSz="969963" fontAlgn="base">
              <a:spcBef>
                <a:spcPct val="0"/>
              </a:spcBef>
              <a:spcAft>
                <a:spcPct val="0"/>
              </a:spcAft>
              <a:defRPr>
                <a:solidFill>
                  <a:schemeClr val="tx1"/>
                </a:solidFill>
                <a:latin typeface="Arial" panose="020B0604020202020204" pitchFamily="34" charset="0"/>
              </a:defRPr>
            </a:lvl8pPr>
            <a:lvl9pPr marL="3768725" defTabSz="969963" fontAlgn="base">
              <a:spcBef>
                <a:spcPct val="0"/>
              </a:spcBef>
              <a:spcAft>
                <a:spcPct val="0"/>
              </a:spcAft>
              <a:defRPr>
                <a:solidFill>
                  <a:schemeClr val="tx1"/>
                </a:solidFill>
                <a:latin typeface="Arial" panose="020B0604020202020204" pitchFamily="34" charset="0"/>
              </a:defRPr>
            </a:lvl9pPr>
          </a:lstStyle>
          <a:p>
            <a:pPr algn="ctr">
              <a:spcBef>
                <a:spcPct val="50000"/>
              </a:spcBef>
              <a:defRPr/>
            </a:pPr>
            <a:endParaRPr lang="en-US" altLang="en-US" sz="1900"/>
          </a:p>
        </p:txBody>
      </p:sp>
      <p:pic>
        <p:nvPicPr>
          <p:cNvPr id="15" name="Picture 14">
            <a:extLst>
              <a:ext uri="{FF2B5EF4-FFF2-40B4-BE49-F238E27FC236}">
                <a16:creationId xmlns:a16="http://schemas.microsoft.com/office/drawing/2014/main" id="{2E2E0A31-819C-9143-859F-CC5CDD40C926}"/>
              </a:ext>
            </a:extLst>
          </p:cNvPr>
          <p:cNvPicPr>
            <a:picLocks noChangeAspect="1"/>
          </p:cNvPicPr>
          <p:nvPr userDrawn="1"/>
        </p:nvPicPr>
        <p:blipFill rotWithShape="1">
          <a:blip r:embed="rId10" cstate="hqprint">
            <a:extLst>
              <a:ext uri="{28A0092B-C50C-407E-A947-70E740481C1C}">
                <a14:useLocalDpi xmlns:a14="http://schemas.microsoft.com/office/drawing/2010/main" val="0"/>
              </a:ext>
            </a:extLst>
          </a:blip>
          <a:srcRect b="85679"/>
          <a:stretch/>
        </p:blipFill>
        <p:spPr>
          <a:xfrm>
            <a:off x="9709391" y="6412091"/>
            <a:ext cx="1902387" cy="330719"/>
          </a:xfrm>
          <a:prstGeom prst="rect">
            <a:avLst/>
          </a:prstGeom>
        </p:spPr>
      </p:pic>
      <p:sp>
        <p:nvSpPr>
          <p:cNvPr id="46" name="Rectangle 45">
            <a:extLst>
              <a:ext uri="{FF2B5EF4-FFF2-40B4-BE49-F238E27FC236}">
                <a16:creationId xmlns:a16="http://schemas.microsoft.com/office/drawing/2014/main" id="{54EFA743-63F0-4B47-A850-8785F92E96BE}"/>
              </a:ext>
            </a:extLst>
          </p:cNvPr>
          <p:cNvSpPr/>
          <p:nvPr userDrawn="1"/>
        </p:nvSpPr>
        <p:spPr bwMode="auto">
          <a:xfrm>
            <a:off x="4272324" y="6073135"/>
            <a:ext cx="7919676" cy="18757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anose="020B0604020202020204" pitchFamily="34" charset="0"/>
            </a:endParaRPr>
          </a:p>
        </p:txBody>
      </p:sp>
      <p:sp>
        <p:nvSpPr>
          <p:cNvPr id="47" name="Rectangle 46">
            <a:extLst>
              <a:ext uri="{FF2B5EF4-FFF2-40B4-BE49-F238E27FC236}">
                <a16:creationId xmlns:a16="http://schemas.microsoft.com/office/drawing/2014/main" id="{C7E024AA-066E-4A4F-81B6-327E570F3A29}"/>
              </a:ext>
            </a:extLst>
          </p:cNvPr>
          <p:cNvSpPr/>
          <p:nvPr userDrawn="1"/>
        </p:nvSpPr>
        <p:spPr bwMode="auto">
          <a:xfrm>
            <a:off x="3626865" y="6073135"/>
            <a:ext cx="589120" cy="18757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DFBC9060-1F5C-B745-BC70-10DC006B7B24}"/>
              </a:ext>
            </a:extLst>
          </p:cNvPr>
          <p:cNvSpPr/>
          <p:nvPr userDrawn="1"/>
        </p:nvSpPr>
        <p:spPr bwMode="auto">
          <a:xfrm>
            <a:off x="2120793" y="6073135"/>
            <a:ext cx="1449733" cy="187570"/>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
        <p:nvSpPr>
          <p:cNvPr id="49" name="Rectangle 48">
            <a:extLst>
              <a:ext uri="{FF2B5EF4-FFF2-40B4-BE49-F238E27FC236}">
                <a16:creationId xmlns:a16="http://schemas.microsoft.com/office/drawing/2014/main" id="{AF40AAF1-9FC3-A148-A6CA-B55E87F31084}"/>
              </a:ext>
            </a:extLst>
          </p:cNvPr>
          <p:cNvSpPr/>
          <p:nvPr userDrawn="1"/>
        </p:nvSpPr>
        <p:spPr bwMode="auto">
          <a:xfrm>
            <a:off x="605367" y="6073135"/>
            <a:ext cx="1459087" cy="187570"/>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73" r:id="rId3"/>
    <p:sldLayoutId id="2147483663" r:id="rId4"/>
    <p:sldLayoutId id="2147483664" r:id="rId5"/>
    <p:sldLayoutId id="2147483665" r:id="rId6"/>
    <p:sldLayoutId id="2147483666" r:id="rId7"/>
    <p:sldLayoutId id="2147483672" r:id="rId8"/>
  </p:sldLayoutIdLst>
  <p:txStyles>
    <p:title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p:titleStyle>
    <p:body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94D4-7881-B748-A059-2510940478FA}"/>
              </a:ext>
            </a:extLst>
          </p:cNvPr>
          <p:cNvSpPr>
            <a:spLocks noGrp="1"/>
          </p:cNvSpPr>
          <p:nvPr>
            <p:ph type="ctrTitle" sz="quarter"/>
          </p:nvPr>
        </p:nvSpPr>
        <p:spPr>
          <a:xfrm>
            <a:off x="603505" y="3284439"/>
            <a:ext cx="10966453" cy="923330"/>
          </a:xfrm>
        </p:spPr>
        <p:txBody>
          <a:bodyPr/>
          <a:lstStyle/>
          <a:p>
            <a:r>
              <a:rPr lang="en-US"/>
              <a:t>TG 218: Tolerance limits and methodologies for IMRT measurement-based verification QA</a:t>
            </a:r>
          </a:p>
        </p:txBody>
      </p:sp>
      <p:sp>
        <p:nvSpPr>
          <p:cNvPr id="3" name="Text Placeholder 2">
            <a:extLst>
              <a:ext uri="{FF2B5EF4-FFF2-40B4-BE49-F238E27FC236}">
                <a16:creationId xmlns:a16="http://schemas.microsoft.com/office/drawing/2014/main" id="{E71A99DC-376E-314E-9AB9-7B0DC82B2763}"/>
              </a:ext>
            </a:extLst>
          </p:cNvPr>
          <p:cNvSpPr>
            <a:spLocks noGrp="1"/>
          </p:cNvSpPr>
          <p:nvPr>
            <p:ph type="body" sz="quarter" idx="10"/>
          </p:nvPr>
        </p:nvSpPr>
        <p:spPr/>
        <p:txBody>
          <a:bodyPr/>
          <a:lstStyle/>
          <a:p>
            <a:r>
              <a:rPr lang="en-US"/>
              <a:t>Radiation Oncology</a:t>
            </a:r>
          </a:p>
        </p:txBody>
      </p:sp>
      <p:sp>
        <p:nvSpPr>
          <p:cNvPr id="4" name="Text Placeholder 3">
            <a:extLst>
              <a:ext uri="{FF2B5EF4-FFF2-40B4-BE49-F238E27FC236}">
                <a16:creationId xmlns:a16="http://schemas.microsoft.com/office/drawing/2014/main" id="{800FB138-FDCA-B540-80A4-ADDF0489667A}"/>
              </a:ext>
            </a:extLst>
          </p:cNvPr>
          <p:cNvSpPr>
            <a:spLocks noGrp="1"/>
          </p:cNvSpPr>
          <p:nvPr>
            <p:ph type="body" sz="quarter" idx="11"/>
          </p:nvPr>
        </p:nvSpPr>
        <p:spPr>
          <a:xfrm>
            <a:off x="603250" y="4746216"/>
            <a:ext cx="10966450" cy="456535"/>
          </a:xfrm>
        </p:spPr>
        <p:txBody>
          <a:bodyPr/>
          <a:lstStyle/>
          <a:p>
            <a:r>
              <a:rPr lang="en-US" dirty="0" smtClean="0"/>
              <a:t>Daniel Alexander</a:t>
            </a:r>
            <a:endParaRPr lang="en-US" dirty="0"/>
          </a:p>
          <a:p>
            <a:r>
              <a:rPr lang="en-US" dirty="0" smtClean="0">
                <a:cs typeface="Arial"/>
              </a:rPr>
              <a:t>(Presentation adapted from Julia </a:t>
            </a:r>
            <a:r>
              <a:rPr lang="en-US" dirty="0" err="1" smtClean="0">
                <a:cs typeface="Arial"/>
              </a:rPr>
              <a:t>Pakela</a:t>
            </a:r>
            <a:r>
              <a:rPr lang="en-US" dirty="0" smtClean="0">
                <a:cs typeface="Arial"/>
              </a:rPr>
              <a:t> and Khayrullo Shoniyozov)</a:t>
            </a:r>
            <a:endParaRPr lang="en-US" dirty="0">
              <a:cs typeface="Arial"/>
            </a:endParaRPr>
          </a:p>
        </p:txBody>
      </p:sp>
      <p:sp>
        <p:nvSpPr>
          <p:cNvPr id="5" name="Content Placeholder 4">
            <a:extLst>
              <a:ext uri="{FF2B5EF4-FFF2-40B4-BE49-F238E27FC236}">
                <a16:creationId xmlns:a16="http://schemas.microsoft.com/office/drawing/2014/main" id="{3F0D2EAE-CCC1-9B49-BE60-56184D88E7E5}"/>
              </a:ext>
            </a:extLst>
          </p:cNvPr>
          <p:cNvSpPr>
            <a:spLocks noGrp="1"/>
          </p:cNvSpPr>
          <p:nvPr>
            <p:ph sz="quarter" idx="12"/>
          </p:nvPr>
        </p:nvSpPr>
        <p:spPr/>
        <p:txBody>
          <a:bodyPr/>
          <a:lstStyle/>
          <a:p>
            <a:r>
              <a:rPr lang="en-US" dirty="0" smtClean="0"/>
              <a:t>July 20</a:t>
            </a:r>
            <a:r>
              <a:rPr lang="en-US" baseline="30000" dirty="0" smtClean="0"/>
              <a:t>th</a:t>
            </a:r>
            <a:r>
              <a:rPr lang="en-US" dirty="0"/>
              <a:t>, </a:t>
            </a:r>
            <a:r>
              <a:rPr lang="en-US" dirty="0" smtClean="0"/>
              <a:t>2023</a:t>
            </a:r>
            <a:endParaRPr lang="en-US" dirty="0"/>
          </a:p>
        </p:txBody>
      </p:sp>
    </p:spTree>
    <p:extLst>
      <p:ext uri="{BB962C8B-B14F-4D97-AF65-F5344CB8AC3E}">
        <p14:creationId xmlns:p14="http://schemas.microsoft.com/office/powerpoint/2010/main" val="7856621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346205"/>
            <a:ext cx="11074576" cy="447908"/>
          </a:xfrm>
        </p:spPr>
        <p:txBody>
          <a:bodyPr/>
          <a:lstStyle/>
          <a:p>
            <a:r>
              <a:rPr lang="en-US">
                <a:solidFill>
                  <a:schemeClr val="accent5">
                    <a:lumMod val="75000"/>
                  </a:schemeClr>
                </a:solidFill>
                <a:latin typeface="Arial"/>
                <a:cs typeface="Arial"/>
              </a:rPr>
              <a:t>History of IMRT</a:t>
            </a:r>
          </a:p>
        </p:txBody>
      </p:sp>
      <p:sp>
        <p:nvSpPr>
          <p:cNvPr id="3" name="Content Placeholder 2"/>
          <p:cNvSpPr>
            <a:spLocks noGrp="1"/>
          </p:cNvSpPr>
          <p:nvPr>
            <p:ph idx="1"/>
          </p:nvPr>
        </p:nvSpPr>
        <p:spPr>
          <a:xfrm>
            <a:off x="646545" y="1123986"/>
            <a:ext cx="11036028" cy="4557371"/>
          </a:xfrm>
        </p:spPr>
        <p:txBody>
          <a:bodyPr/>
          <a:lstStyle/>
          <a:p>
            <a:pPr marL="242570" indent="-242570"/>
            <a:r>
              <a:rPr lang="en-US"/>
              <a:t>Conceptualized in early 90s; first clinical experiences and QA/commissioning reported in 1996</a:t>
            </a:r>
          </a:p>
          <a:p>
            <a:pPr marL="242570" indent="-242570"/>
            <a:endParaRPr lang="en-US"/>
          </a:p>
          <a:p>
            <a:pPr marL="242570" indent="-242570"/>
            <a:r>
              <a:rPr lang="en-US">
                <a:ea typeface="+mn-lt"/>
                <a:cs typeface="+mn-lt"/>
              </a:rPr>
              <a:t>IMRT treatments feature “complex” fluence modulation; provides additional degrees of freedom with which to optimize dose distribution </a:t>
            </a:r>
            <a:endParaRPr lang="en-US">
              <a:cs typeface="Arial"/>
            </a:endParaRPr>
          </a:p>
          <a:p>
            <a:pPr marL="0" indent="0">
              <a:buNone/>
            </a:pPr>
            <a:endParaRPr lang="en-US"/>
          </a:p>
          <a:p>
            <a:pPr marL="242570" indent="-242570"/>
            <a:r>
              <a:rPr lang="en-US">
                <a:cs typeface="Arial"/>
              </a:rPr>
              <a:t>Delivery methods: </a:t>
            </a:r>
          </a:p>
          <a:p>
            <a:pPr lvl="1" indent="-302895"/>
            <a:r>
              <a:rPr lang="en-US">
                <a:solidFill>
                  <a:srgbClr val="002243"/>
                </a:solidFill>
                <a:cs typeface="Arial"/>
              </a:rPr>
              <a:t>Fixed gantry (step and shoot, dynamic)</a:t>
            </a:r>
          </a:p>
          <a:p>
            <a:pPr lvl="1" indent="-302895">
              <a:buClr>
                <a:srgbClr val="002243"/>
              </a:buClr>
            </a:pPr>
            <a:r>
              <a:rPr lang="en-US">
                <a:solidFill>
                  <a:srgbClr val="002243"/>
                </a:solidFill>
                <a:cs typeface="Arial"/>
              </a:rPr>
              <a:t>Moving gantry (VMAT, </a:t>
            </a:r>
            <a:r>
              <a:rPr lang="en-US" err="1">
                <a:solidFill>
                  <a:srgbClr val="002243"/>
                </a:solidFill>
                <a:cs typeface="Arial"/>
              </a:rPr>
              <a:t>tomotherapy</a:t>
            </a:r>
            <a:r>
              <a:rPr lang="en-US">
                <a:solidFill>
                  <a:srgbClr val="002243"/>
                </a:solidFill>
                <a:cs typeface="Arial"/>
              </a:rPr>
              <a:t>)</a:t>
            </a:r>
          </a:p>
          <a:p>
            <a:pPr lvl="1" indent="-302895">
              <a:buClr>
                <a:srgbClr val="002243"/>
              </a:buClr>
            </a:pPr>
            <a:endParaRPr lang="en-US">
              <a:solidFill>
                <a:srgbClr val="002243"/>
              </a:solidFill>
              <a:cs typeface="Arial"/>
            </a:endParaRPr>
          </a:p>
          <a:p>
            <a:pPr marL="242570" indent="-242570">
              <a:buClr>
                <a:srgbClr val="800000"/>
              </a:buClr>
              <a:buFont typeface="Lucida Grande" panose="020B0604020202020204" pitchFamily="34" charset="0"/>
              <a:buChar char="‣"/>
            </a:pPr>
            <a:r>
              <a:rPr lang="en-US">
                <a:solidFill>
                  <a:schemeClr val="accent5">
                    <a:lumMod val="75000"/>
                  </a:schemeClr>
                </a:solidFill>
                <a:cs typeface="Arial"/>
              </a:rPr>
              <a:t>IMRT dose distributions are typically much more heterogeneous than those of 3D plans, employing complex fields that incorporate different degrees of modulation.</a:t>
            </a:r>
          </a:p>
          <a:p>
            <a:pPr lvl="1" indent="-302895">
              <a:buClr>
                <a:srgbClr val="002243"/>
              </a:buClr>
            </a:pPr>
            <a:endParaRPr lang="en-US" sz="600">
              <a:solidFill>
                <a:srgbClr val="7F7F7F"/>
              </a:solidFill>
              <a:cs typeface="Arial"/>
            </a:endParaRPr>
          </a:p>
          <a:p>
            <a:pPr marL="0" indent="0">
              <a:buClr>
                <a:srgbClr val="800000"/>
              </a:buClr>
              <a:buNone/>
            </a:pPr>
            <a:endParaRPr lang="en-US">
              <a:solidFill>
                <a:srgbClr val="002243"/>
              </a:solidFill>
              <a:cs typeface="Arial"/>
            </a:endParaRPr>
          </a:p>
        </p:txBody>
      </p:sp>
    </p:spTree>
    <p:extLst>
      <p:ext uri="{BB962C8B-B14F-4D97-AF65-F5344CB8AC3E}">
        <p14:creationId xmlns:p14="http://schemas.microsoft.com/office/powerpoint/2010/main" val="6784438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11480" y="346205"/>
            <a:ext cx="11074576" cy="461665"/>
          </a:xfrm>
        </p:spPr>
        <p:txBody>
          <a:bodyPr/>
          <a:lstStyle/>
          <a:p>
            <a:r>
              <a:rPr lang="en-US" altLang="en-US" dirty="0">
                <a:solidFill>
                  <a:schemeClr val="accent5">
                    <a:lumMod val="75000"/>
                  </a:schemeClr>
                </a:solidFill>
                <a:latin typeface="Arial"/>
                <a:cs typeface="Arial"/>
              </a:rPr>
              <a:t>Purpose of patient-specific IMRT verification QA</a:t>
            </a:r>
            <a:endParaRPr lang="en-US" dirty="0"/>
          </a:p>
        </p:txBody>
      </p:sp>
      <p:sp>
        <p:nvSpPr>
          <p:cNvPr id="11" name="Content Placeholder 2"/>
          <p:cNvSpPr>
            <a:spLocks noGrp="1"/>
          </p:cNvSpPr>
          <p:nvPr>
            <p:ph idx="1"/>
          </p:nvPr>
        </p:nvSpPr>
        <p:spPr>
          <a:xfrm>
            <a:off x="646545" y="1123986"/>
            <a:ext cx="11036028" cy="3649430"/>
          </a:xfrm>
        </p:spPr>
        <p:txBody>
          <a:bodyPr/>
          <a:lstStyle/>
          <a:p>
            <a:r>
              <a:rPr lang="en-US" altLang="en-US" dirty="0"/>
              <a:t>Determine discrepancies between the planned and delivered doses</a:t>
            </a:r>
          </a:p>
          <a:p>
            <a:endParaRPr lang="en-US" altLang="en-US" dirty="0"/>
          </a:p>
          <a:p>
            <a:r>
              <a:rPr lang="en-US" altLang="en-US" dirty="0"/>
              <a:t>Detect gross errors in radiation delivery</a:t>
            </a:r>
          </a:p>
          <a:p>
            <a:pPr marL="0" indent="0">
              <a:buNone/>
            </a:pPr>
            <a:endParaRPr lang="en-US" altLang="en-US" dirty="0"/>
          </a:p>
          <a:p>
            <a:r>
              <a:rPr lang="en-US" altLang="en-US" dirty="0"/>
              <a:t>‘Run through’ of the clinically delivered plan to ensure the safety of the patient</a:t>
            </a:r>
          </a:p>
          <a:p>
            <a:endParaRPr lang="en-US" altLang="en-US" dirty="0"/>
          </a:p>
          <a:p>
            <a:r>
              <a:rPr lang="en-US" altLang="en-US" dirty="0">
                <a:solidFill>
                  <a:schemeClr val="accent5">
                    <a:lumMod val="75000"/>
                  </a:schemeClr>
                </a:solidFill>
              </a:rPr>
              <a:t>IMRT QA does not check the TPS algorithm’s management of heterogeneities, segmentation errors, or patient position errors</a:t>
            </a:r>
          </a:p>
          <a:p>
            <a:pPr lvl="1" indent="-302895">
              <a:buClr>
                <a:srgbClr val="002243"/>
              </a:buClr>
            </a:pPr>
            <a:endParaRPr lang="en-US" sz="600" dirty="0">
              <a:solidFill>
                <a:srgbClr val="7F7F7F"/>
              </a:solidFill>
              <a:cs typeface="Arial"/>
            </a:endParaRPr>
          </a:p>
          <a:p>
            <a:pPr marL="0" indent="0">
              <a:buClr>
                <a:srgbClr val="800000"/>
              </a:buClr>
              <a:buNone/>
            </a:pPr>
            <a:endParaRPr lang="en-US" dirty="0">
              <a:solidFill>
                <a:srgbClr val="002243"/>
              </a:solidFill>
              <a:cs typeface="Arial"/>
            </a:endParaRPr>
          </a:p>
        </p:txBody>
      </p:sp>
    </p:spTree>
    <p:extLst>
      <p:ext uri="{BB962C8B-B14F-4D97-AF65-F5344CB8AC3E}">
        <p14:creationId xmlns:p14="http://schemas.microsoft.com/office/powerpoint/2010/main" val="2402595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72203" y="347472"/>
            <a:ext cx="11074576" cy="461665"/>
          </a:xfrm>
        </p:spPr>
        <p:txBody>
          <a:bodyPr/>
          <a:lstStyle/>
          <a:p>
            <a:r>
              <a:rPr lang="en-US" altLang="en-US">
                <a:solidFill>
                  <a:schemeClr val="accent5">
                    <a:lumMod val="75000"/>
                  </a:schemeClr>
                </a:solidFill>
                <a:latin typeface="Arial"/>
                <a:cs typeface="Arial"/>
              </a:rPr>
              <a:t>Topics of TG 218: Review the different ways to perform IMRT QA</a:t>
            </a:r>
          </a:p>
        </p:txBody>
      </p:sp>
      <p:sp>
        <p:nvSpPr>
          <p:cNvPr id="5" name="Content Placeholder 2"/>
          <p:cNvSpPr>
            <a:spLocks noGrp="1"/>
          </p:cNvSpPr>
          <p:nvPr>
            <p:ph idx="1"/>
          </p:nvPr>
        </p:nvSpPr>
        <p:spPr>
          <a:xfrm>
            <a:off x="472203" y="809137"/>
            <a:ext cx="11036028" cy="5275516"/>
          </a:xfrm>
        </p:spPr>
        <p:txBody>
          <a:bodyPr/>
          <a:lstStyle/>
          <a:p>
            <a:pPr marL="242570" indent="-242570"/>
            <a:r>
              <a:rPr lang="en-US" altLang="en-US" dirty="0"/>
              <a:t>Review of verification metrics (dose difference, DTA, </a:t>
            </a:r>
            <a:r>
              <a:rPr lang="el-GR" dirty="0"/>
              <a:t>γ analysis) </a:t>
            </a:r>
            <a:endParaRPr lang="el-GR" dirty="0">
              <a:cs typeface="Arial"/>
            </a:endParaRPr>
          </a:p>
          <a:p>
            <a:pPr marL="242570" indent="-242570"/>
            <a:endParaRPr lang="en-US" altLang="en-US" dirty="0"/>
          </a:p>
          <a:p>
            <a:pPr marL="242570" indent="-242570"/>
            <a:r>
              <a:rPr lang="en-US" altLang="en-US" dirty="0"/>
              <a:t>Review of plan measurement methods: Composite beam, perpendicular composite, and perpendicular field by field</a:t>
            </a:r>
            <a:endParaRPr lang="en-US" altLang="en-US" dirty="0">
              <a:cs typeface="Arial"/>
            </a:endParaRPr>
          </a:p>
          <a:p>
            <a:pPr marL="242570" indent="-242570"/>
            <a:endParaRPr lang="en-US" altLang="en-US" dirty="0"/>
          </a:p>
          <a:p>
            <a:pPr marL="242570" indent="-242570"/>
            <a:r>
              <a:rPr lang="en-US" altLang="en-US" dirty="0"/>
              <a:t>Review absolute dose verification methods:  single point, 1D/2D analysis methodologies for absolute dose difference with ion chamber or 2D detector arrays</a:t>
            </a:r>
            <a:endParaRPr lang="en-US" altLang="en-US" dirty="0">
              <a:cs typeface="Arial"/>
            </a:endParaRPr>
          </a:p>
          <a:p>
            <a:pPr marL="242570" indent="-242570"/>
            <a:endParaRPr lang="en-US" altLang="en-US" dirty="0"/>
          </a:p>
          <a:p>
            <a:pPr marL="242570" indent="-242570"/>
            <a:r>
              <a:rPr lang="en-US" altLang="en-US" dirty="0"/>
              <a:t>Review literature on expected achievable agreement between measured and calculated dose for different vendor systems and implementations </a:t>
            </a:r>
            <a:r>
              <a:rPr lang="en-US" altLang="en-US" dirty="0" smtClean="0"/>
              <a:t>(see extra slides)</a:t>
            </a:r>
            <a:endParaRPr lang="en-US" altLang="en-US" dirty="0">
              <a:solidFill>
                <a:srgbClr val="002243"/>
              </a:solidFill>
              <a:cs typeface="Arial"/>
            </a:endParaRPr>
          </a:p>
          <a:p>
            <a:pPr marL="242570" indent="-242570"/>
            <a:endParaRPr lang="en-US" altLang="en-US" dirty="0">
              <a:solidFill>
                <a:srgbClr val="002243"/>
              </a:solidFill>
              <a:cs typeface="Arial"/>
            </a:endParaRPr>
          </a:p>
          <a:p>
            <a:pPr marL="242570" indent="-242570"/>
            <a:r>
              <a:rPr lang="en-US" altLang="en-US" dirty="0" smtClean="0">
                <a:solidFill>
                  <a:srgbClr val="002243"/>
                </a:solidFill>
                <a:cs typeface="Arial"/>
              </a:rPr>
              <a:t>Recommend Methods and Tolerance/Action Limits for Implementing IMRT QA</a:t>
            </a:r>
          </a:p>
          <a:p>
            <a:pPr marL="242570" indent="-242570"/>
            <a:endParaRPr lang="en-US" altLang="en-US" dirty="0">
              <a:solidFill>
                <a:srgbClr val="002243"/>
              </a:solidFill>
              <a:cs typeface="Arial"/>
            </a:endParaRPr>
          </a:p>
          <a:p>
            <a:pPr marL="242570" indent="-242570"/>
            <a:r>
              <a:rPr lang="en-US" altLang="en-US" dirty="0" smtClean="0">
                <a:solidFill>
                  <a:srgbClr val="002243"/>
                </a:solidFill>
                <a:cs typeface="Arial"/>
              </a:rPr>
              <a:t>*Everything in TG-218 assumes a proper commissioning of your IMRT program  (TG-119/120)</a:t>
            </a:r>
            <a:endParaRPr lang="en-US" altLang="en-US" dirty="0">
              <a:solidFill>
                <a:srgbClr val="002243"/>
              </a:solidFill>
              <a:cs typeface="Arial"/>
            </a:endParaRPr>
          </a:p>
        </p:txBody>
      </p:sp>
    </p:spTree>
    <p:extLst>
      <p:ext uri="{BB962C8B-B14F-4D97-AF65-F5344CB8AC3E}">
        <p14:creationId xmlns:p14="http://schemas.microsoft.com/office/powerpoint/2010/main" val="3370394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52ED3379-FD9C-9E47-ABC3-BC536BBB2051}"/>
              </a:ext>
            </a:extLst>
          </p:cNvPr>
          <p:cNvSpPr txBox="1">
            <a:spLocks/>
          </p:cNvSpPr>
          <p:nvPr/>
        </p:nvSpPr>
        <p:spPr bwMode="auto">
          <a:xfrm>
            <a:off x="605368" y="4676299"/>
            <a:ext cx="5063912" cy="121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smtClean="0"/>
              <a:t>Dose </a:t>
            </a:r>
            <a:r>
              <a:rPr lang="en-US" b="1" dirty="0"/>
              <a:t>difference</a:t>
            </a:r>
          </a:p>
          <a:p>
            <a:pPr>
              <a:buFont typeface="Arial" panose="020B0604020202020204" pitchFamily="34" charset="0"/>
              <a:buChar char="•"/>
            </a:pPr>
            <a:r>
              <a:rPr lang="en-US" sz="1800" dirty="0">
                <a:solidFill>
                  <a:schemeClr val="bg1">
                    <a:lumMod val="50000"/>
                  </a:schemeClr>
                </a:solidFill>
              </a:rPr>
              <a:t>Very (overly) sensitive in steep dose gradients</a:t>
            </a:r>
          </a:p>
          <a:p>
            <a:pPr marL="0" indent="0">
              <a:buNone/>
            </a:pPr>
            <a:endParaRPr lang="en-US" sz="1800" dirty="0">
              <a:solidFill>
                <a:schemeClr val="bg1">
                  <a:lumMod val="50000"/>
                </a:schemeClr>
              </a:solidFill>
            </a:endParaRPr>
          </a:p>
        </p:txBody>
      </p:sp>
      <p:sp>
        <p:nvSpPr>
          <p:cNvPr id="5" name="Text Placeholder 3">
            <a:extLst>
              <a:ext uri="{FF2B5EF4-FFF2-40B4-BE49-F238E27FC236}">
                <a16:creationId xmlns:a16="http://schemas.microsoft.com/office/drawing/2014/main" id="{B4CC30F9-3A1A-C242-89BC-F99A6C65076F}"/>
              </a:ext>
            </a:extLst>
          </p:cNvPr>
          <p:cNvSpPr txBox="1">
            <a:spLocks/>
          </p:cNvSpPr>
          <p:nvPr/>
        </p:nvSpPr>
        <p:spPr>
          <a:xfrm>
            <a:off x="5734396" y="4676299"/>
            <a:ext cx="6160423" cy="1388926"/>
          </a:xfrm>
          <a:prstGeom prst="rect">
            <a:avLst/>
          </a:prstGeom>
        </p:spPr>
        <p:txBody>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smtClean="0"/>
              <a:t>Distance to agreement (DTA) or contour overlay</a:t>
            </a:r>
            <a:endParaRPr lang="en-US" b="1" dirty="0"/>
          </a:p>
          <a:p>
            <a:pPr>
              <a:buFont typeface="Arial" panose="020B0604020202020204" pitchFamily="34" charset="0"/>
              <a:buChar char="•"/>
            </a:pPr>
            <a:r>
              <a:rPr lang="en-US" sz="1800" dirty="0" smtClean="0">
                <a:solidFill>
                  <a:schemeClr val="bg1">
                    <a:lumMod val="50000"/>
                  </a:schemeClr>
                </a:solidFill>
              </a:rPr>
              <a:t>Overly sensitive in low dose gradient regions</a:t>
            </a:r>
            <a:endParaRPr lang="en-US" sz="1800" dirty="0">
              <a:solidFill>
                <a:schemeClr val="bg1">
                  <a:lumMod val="50000"/>
                </a:schemeClr>
              </a:solidFill>
            </a:endParaRPr>
          </a:p>
          <a:p>
            <a:pPr marL="0" indent="0">
              <a:buNone/>
            </a:pPr>
            <a:endParaRPr lang="en-US" dirty="0"/>
          </a:p>
        </p:txBody>
      </p:sp>
      <p:sp>
        <p:nvSpPr>
          <p:cNvPr id="7" name="Content Placeholder 6"/>
          <p:cNvSpPr>
            <a:spLocks noGrp="1"/>
          </p:cNvSpPr>
          <p:nvPr>
            <p:ph idx="1"/>
          </p:nvPr>
        </p:nvSpPr>
        <p:spPr>
          <a:xfrm>
            <a:off x="607998" y="1114751"/>
            <a:ext cx="9363722" cy="3085173"/>
          </a:xfrm>
        </p:spPr>
        <p:txBody>
          <a:bodyPr/>
          <a:lstStyle/>
          <a:p>
            <a:pPr marL="242570" indent="-242570">
              <a:buClr>
                <a:srgbClr val="800000"/>
              </a:buClr>
              <a:buFont typeface="Lucida Grande,Sans-Serif" panose="020B0600040502020204" pitchFamily="34" charset="0"/>
            </a:pPr>
            <a:r>
              <a:rPr lang="en-US" dirty="0">
                <a:solidFill>
                  <a:srgbClr val="002243"/>
                </a:solidFill>
                <a:ea typeface="+mn-lt"/>
                <a:cs typeface="+mn-lt"/>
              </a:rPr>
              <a:t>Dose distribution = array of points with location and dose value </a:t>
            </a:r>
            <a:endParaRPr lang="en-US" dirty="0">
              <a:solidFill>
                <a:srgbClr val="7F7F7F"/>
              </a:solidFill>
              <a:ea typeface="+mn-lt"/>
              <a:cs typeface="+mn-lt"/>
            </a:endParaRPr>
          </a:p>
          <a:p>
            <a:pPr lvl="1" indent="-302895">
              <a:buClr>
                <a:srgbClr val="002243"/>
              </a:buClr>
              <a:buFont typeface="Lucida Grande,Sans-Serif" panose="020B0600040502020204" pitchFamily="34" charset="0"/>
            </a:pPr>
            <a:r>
              <a:rPr lang="en-US" dirty="0">
                <a:solidFill>
                  <a:schemeClr val="bg2">
                    <a:lumMod val="75000"/>
                  </a:schemeClr>
                </a:solidFill>
                <a:ea typeface="+mn-lt"/>
                <a:cs typeface="+mn-lt"/>
              </a:rPr>
              <a:t>Spatial resolution does not need to be isotropic</a:t>
            </a:r>
          </a:p>
          <a:p>
            <a:pPr lvl="1" indent="-302895">
              <a:buClr>
                <a:srgbClr val="002243"/>
              </a:buClr>
              <a:buFont typeface="Lucida Grande,Sans-Serif" panose="020B0600040502020204" pitchFamily="34" charset="0"/>
            </a:pPr>
            <a:r>
              <a:rPr lang="en-US" dirty="0">
                <a:ea typeface="+mn-lt"/>
                <a:cs typeface="+mn-lt"/>
              </a:rPr>
              <a:t>Interpolation occurs for displays with dose wash or </a:t>
            </a:r>
            <a:r>
              <a:rPr lang="en-US" dirty="0" err="1">
                <a:ea typeface="+mn-lt"/>
                <a:cs typeface="+mn-lt"/>
              </a:rPr>
              <a:t>isodose</a:t>
            </a:r>
            <a:r>
              <a:rPr lang="en-US" dirty="0">
                <a:ea typeface="+mn-lt"/>
                <a:cs typeface="+mn-lt"/>
              </a:rPr>
              <a:t> lines</a:t>
            </a:r>
            <a:endParaRPr lang="en-US" dirty="0"/>
          </a:p>
          <a:p>
            <a:pPr marL="357505" lvl="1" indent="0">
              <a:buClr>
                <a:srgbClr val="002243"/>
              </a:buClr>
              <a:buNone/>
            </a:pPr>
            <a:endParaRPr lang="en-US" dirty="0">
              <a:solidFill>
                <a:srgbClr val="7F7F7F"/>
              </a:solidFill>
              <a:cs typeface="Arial"/>
            </a:endParaRPr>
          </a:p>
          <a:p>
            <a:pPr marL="242570" indent="-242570"/>
            <a:r>
              <a:rPr lang="en-US" dirty="0"/>
              <a:t>Comparing two dose distributions – a “reference’ and an “evaluated” dose.</a:t>
            </a:r>
            <a:endParaRPr lang="en-US" dirty="0">
              <a:cs typeface="Arial"/>
            </a:endParaRPr>
          </a:p>
          <a:p>
            <a:pPr lvl="1" indent="-302895"/>
            <a:r>
              <a:rPr lang="en-US" dirty="0"/>
              <a:t>Do reference and evaluated dose distributions agree to within limits that are clinically relevant?</a:t>
            </a:r>
            <a:endParaRPr lang="en-US" dirty="0">
              <a:ea typeface="+mn-lt"/>
              <a:cs typeface="+mn-lt"/>
            </a:endParaRPr>
          </a:p>
          <a:p>
            <a:pPr lvl="1" indent="-302895"/>
            <a:r>
              <a:rPr lang="en-US" dirty="0">
                <a:cs typeface="Arial"/>
              </a:rPr>
              <a:t>Some techniques are invariant with respect to the selection of the reference and evaluation distribution, others are </a:t>
            </a:r>
            <a:r>
              <a:rPr lang="en-US" dirty="0" smtClean="0">
                <a:cs typeface="Arial"/>
              </a:rPr>
              <a:t>not</a:t>
            </a:r>
            <a:endParaRPr lang="en-US" dirty="0">
              <a:ea typeface="+mn-lt"/>
              <a:cs typeface="+mn-lt"/>
            </a:endParaRPr>
          </a:p>
        </p:txBody>
      </p:sp>
      <p:sp>
        <p:nvSpPr>
          <p:cNvPr id="6" name="Title 1">
            <a:extLst>
              <a:ext uri="{FF2B5EF4-FFF2-40B4-BE49-F238E27FC236}">
                <a16:creationId xmlns:a16="http://schemas.microsoft.com/office/drawing/2014/main" id="{FA21B91B-BE29-E9B6-EBD8-6558A5FBF755}"/>
              </a:ext>
            </a:extLst>
          </p:cNvPr>
          <p:cNvSpPr>
            <a:spLocks noGrp="1"/>
          </p:cNvSpPr>
          <p:nvPr>
            <p:ph type="title"/>
          </p:nvPr>
        </p:nvSpPr>
        <p:spPr>
          <a:xfrm>
            <a:off x="489958" y="347472"/>
            <a:ext cx="11074576" cy="461665"/>
          </a:xfrm>
        </p:spPr>
        <p:txBody>
          <a:bodyPr/>
          <a:lstStyle/>
          <a:p>
            <a:r>
              <a:rPr lang="en-US">
                <a:solidFill>
                  <a:schemeClr val="accent5">
                    <a:lumMod val="75000"/>
                  </a:schemeClr>
                </a:solidFill>
                <a:latin typeface="Arial"/>
                <a:cs typeface="Arial"/>
              </a:rPr>
              <a:t>IMRT QA - What are we analyzing?</a:t>
            </a:r>
            <a:endParaRPr lang="en-US">
              <a:solidFill>
                <a:schemeClr val="accent5">
                  <a:lumMod val="75000"/>
                </a:schemeClr>
              </a:solidFill>
            </a:endParaRPr>
          </a:p>
        </p:txBody>
      </p:sp>
      <p:pic>
        <p:nvPicPr>
          <p:cNvPr id="2" name="Picture 1"/>
          <p:cNvPicPr>
            <a:picLocks noChangeAspect="1"/>
          </p:cNvPicPr>
          <p:nvPr/>
        </p:nvPicPr>
        <p:blipFill>
          <a:blip r:embed="rId3"/>
          <a:stretch>
            <a:fillRect/>
          </a:stretch>
        </p:blipFill>
        <p:spPr>
          <a:xfrm>
            <a:off x="10584491" y="2580527"/>
            <a:ext cx="1460353" cy="1548399"/>
          </a:xfrm>
          <a:prstGeom prst="rect">
            <a:avLst/>
          </a:prstGeom>
        </p:spPr>
      </p:pic>
      <p:pic>
        <p:nvPicPr>
          <p:cNvPr id="3" name="Picture 2"/>
          <p:cNvPicPr>
            <a:picLocks noChangeAspect="1"/>
          </p:cNvPicPr>
          <p:nvPr/>
        </p:nvPicPr>
        <p:blipFill>
          <a:blip r:embed="rId4"/>
          <a:stretch>
            <a:fillRect/>
          </a:stretch>
        </p:blipFill>
        <p:spPr>
          <a:xfrm>
            <a:off x="9973902" y="759187"/>
            <a:ext cx="1473917" cy="1559717"/>
          </a:xfrm>
          <a:prstGeom prst="rect">
            <a:avLst/>
          </a:prstGeom>
        </p:spPr>
      </p:pic>
      <p:sp>
        <p:nvSpPr>
          <p:cNvPr id="8" name="TextBox 7">
            <a:extLst>
              <a:ext uri="{FF2B5EF4-FFF2-40B4-BE49-F238E27FC236}">
                <a16:creationId xmlns:a16="http://schemas.microsoft.com/office/drawing/2014/main" id="{EA1D0EA4-CD34-1707-CA51-712365D0DEDA}"/>
              </a:ext>
            </a:extLst>
          </p:cNvPr>
          <p:cNvSpPr txBox="1"/>
          <p:nvPr/>
        </p:nvSpPr>
        <p:spPr bwMode="auto">
          <a:xfrm>
            <a:off x="2744931" y="4346955"/>
            <a:ext cx="6277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L="356870" lvl="1">
              <a:spcBef>
                <a:spcPts val="200"/>
              </a:spcBef>
              <a:spcAft>
                <a:spcPts val="200"/>
              </a:spcAft>
            </a:pPr>
            <a:r>
              <a:rPr lang="en-US" sz="1800" dirty="0">
                <a:solidFill>
                  <a:schemeClr val="accent5">
                    <a:lumMod val="75000"/>
                  </a:schemeClr>
                </a:solidFill>
                <a:latin typeface="Arial"/>
                <a:cs typeface="Arial"/>
              </a:rPr>
              <a:t>Two approaches to comparing dose distributions</a:t>
            </a:r>
          </a:p>
        </p:txBody>
      </p:sp>
    </p:spTree>
    <p:extLst>
      <p:ext uri="{BB962C8B-B14F-4D97-AF65-F5344CB8AC3E}">
        <p14:creationId xmlns:p14="http://schemas.microsoft.com/office/powerpoint/2010/main" val="5990145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347472"/>
            <a:ext cx="11074576" cy="461665"/>
          </a:xfrm>
        </p:spPr>
        <p:txBody>
          <a:bodyPr/>
          <a:lstStyle/>
          <a:p>
            <a:r>
              <a:rPr lang="en-US">
                <a:solidFill>
                  <a:schemeClr val="accent5">
                    <a:lumMod val="75000"/>
                  </a:schemeClr>
                </a:solidFill>
              </a:rPr>
              <a:t>The dose difference test</a:t>
            </a:r>
          </a:p>
        </p:txBody>
      </p:sp>
      <p:sp>
        <p:nvSpPr>
          <p:cNvPr id="3" name="Content Placeholder 2"/>
          <p:cNvSpPr>
            <a:spLocks noGrp="1"/>
          </p:cNvSpPr>
          <p:nvPr>
            <p:ph idx="1"/>
          </p:nvPr>
        </p:nvSpPr>
        <p:spPr>
          <a:xfrm>
            <a:off x="782564" y="2785608"/>
            <a:ext cx="11071946" cy="1274421"/>
          </a:xfrm>
        </p:spPr>
        <p:txBody>
          <a:bodyPr/>
          <a:lstStyle/>
          <a:p>
            <a:endParaRPr lang="en-US"/>
          </a:p>
          <a:p>
            <a:endParaRPr lang="en-US"/>
          </a:p>
          <a:p>
            <a:pPr marL="0" indent="0">
              <a:buNone/>
            </a:pPr>
            <a:endParaRPr lang="en-US"/>
          </a:p>
        </p:txBody>
      </p:sp>
      <mc:AlternateContent xmlns:mc="http://schemas.openxmlformats.org/markup-compatibility/2006" xmlns:a14="http://schemas.microsoft.com/office/drawing/2010/main">
        <mc:Choice Requires="a14">
          <p:sp>
            <p:nvSpPr>
              <p:cNvPr id="5" name="Content Placeholder 2"/>
              <p:cNvSpPr txBox="1">
                <a:spLocks/>
              </p:cNvSpPr>
              <p:nvPr/>
            </p:nvSpPr>
            <p:spPr bwMode="auto">
              <a:xfrm>
                <a:off x="782564" y="1387246"/>
                <a:ext cx="11036028" cy="353144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Difference at a location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𝒓</m:t>
                        </m:r>
                      </m:e>
                    </m:acc>
                  </m:oMath>
                </a14:m>
                <a:r>
                  <a:rPr lang="en-US" dirty="0"/>
                  <a:t>) between the evaluation dose and the reference dose</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𝜹</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𝒓</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rPr>
                            <m:t> =</m:t>
                          </m:r>
                          <m:r>
                            <a:rPr lang="en-US" b="1" i="1">
                              <a:latin typeface="Cambria Math" panose="02040503050406030204" pitchFamily="18" charset="0"/>
                            </a:rPr>
                            <m:t>𝑫</m:t>
                          </m:r>
                        </m:e>
                        <m:sub>
                          <m:r>
                            <a:rPr lang="en-US" b="1" i="1">
                              <a:latin typeface="Cambria Math" panose="02040503050406030204" pitchFamily="18" charset="0"/>
                            </a:rPr>
                            <m:t>𝒆</m:t>
                          </m:r>
                        </m:sub>
                      </m:sSub>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𝒓</m:t>
                              </m:r>
                            </m:e>
                          </m:acc>
                        </m:e>
                      </m:d>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𝑫</m:t>
                          </m:r>
                        </m:e>
                        <m:sub>
                          <m:r>
                            <a:rPr lang="en-US" b="1" i="1">
                              <a:latin typeface="Cambria Math" panose="02040503050406030204" pitchFamily="18" charset="0"/>
                            </a:rPr>
                            <m:t>𝒓</m:t>
                          </m:r>
                        </m:sub>
                      </m:sSub>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𝒓</m:t>
                              </m:r>
                            </m:e>
                          </m:acc>
                        </m:e>
                      </m:d>
                    </m:oMath>
                  </m:oMathPara>
                </a14:m>
                <a:endParaRPr lang="en-US" dirty="0"/>
              </a:p>
              <a:p>
                <a:endParaRPr lang="en-US" dirty="0"/>
              </a:p>
              <a:p>
                <a:pPr marL="0" indent="0">
                  <a:buNone/>
                </a:pPr>
                <a:endParaRPr lang="en-US" dirty="0"/>
              </a:p>
              <a:p>
                <a:r>
                  <a:rPr lang="en-US" dirty="0"/>
                  <a:t>Requires sampling at same grid resolution (or interpolation)</a:t>
                </a:r>
              </a:p>
              <a:p>
                <a:r>
                  <a:rPr lang="en-US" dirty="0"/>
                  <a:t>Invariant with respect to evaluated and reference (just a sign change)</a:t>
                </a:r>
              </a:p>
              <a:p>
                <a:r>
                  <a:rPr lang="en-US" b="1" dirty="0"/>
                  <a:t>Works well in low dose gradient </a:t>
                </a:r>
                <a:r>
                  <a:rPr lang="en-US" b="1" dirty="0" smtClean="0"/>
                  <a:t>regions</a:t>
                </a:r>
              </a:p>
              <a:p>
                <a:r>
                  <a:rPr lang="en-US" b="1" dirty="0" smtClean="0"/>
                  <a:t>Overly sensitive in high dose gradient regions</a:t>
                </a:r>
                <a:endParaRPr lang="en-US" b="1" dirty="0"/>
              </a:p>
            </p:txBody>
          </p:sp>
        </mc:Choice>
        <mc:Fallback xmlns="">
          <p:sp>
            <p:nvSpPr>
              <p:cNvPr id="5" name="Content Placeholder 2"/>
              <p:cNvSpPr txBox="1">
                <a:spLocks noRot="1" noChangeAspect="1" noMove="1" noResize="1" noEditPoints="1" noAdjustHandles="1" noChangeArrowheads="1" noChangeShapeType="1" noTextEdit="1"/>
              </p:cNvSpPr>
              <p:nvPr/>
            </p:nvSpPr>
            <p:spPr bwMode="auto">
              <a:xfrm>
                <a:off x="782564" y="1387246"/>
                <a:ext cx="11036028" cy="3531449"/>
              </a:xfrm>
              <a:prstGeom prst="rect">
                <a:avLst/>
              </a:prstGeom>
              <a:blipFill>
                <a:blip r:embed="rId3"/>
                <a:stretch>
                  <a:fillRect l="-1657" b="-15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cxnSp>
        <p:nvCxnSpPr>
          <p:cNvPr id="6" name="Straight Arrow Connector 5"/>
          <p:cNvCxnSpPr/>
          <p:nvPr/>
        </p:nvCxnSpPr>
        <p:spPr bwMode="auto">
          <a:xfrm flipH="1">
            <a:off x="9682842" y="3535136"/>
            <a:ext cx="0" cy="2334985"/>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Arrow Connector 6"/>
          <p:cNvCxnSpPr/>
          <p:nvPr/>
        </p:nvCxnSpPr>
        <p:spPr bwMode="auto">
          <a:xfrm flipH="1">
            <a:off x="8516982" y="4716236"/>
            <a:ext cx="2331720" cy="0"/>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bwMode="auto">
          <a:xfrm>
            <a:off x="10749316" y="4804480"/>
            <a:ext cx="9938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a:solidFill>
                  <a:schemeClr val="bg1">
                    <a:lumMod val="50000"/>
                  </a:schemeClr>
                </a:solidFill>
              </a:rPr>
              <a:t>x</a:t>
            </a:r>
            <a:endParaRPr lang="en-US" sz="1400" b="1" dirty="0" smtClean="0">
              <a:solidFill>
                <a:schemeClr val="bg1">
                  <a:lumMod val="50000"/>
                </a:schemeClr>
              </a:solidFill>
            </a:endParaRPr>
          </a:p>
        </p:txBody>
      </p:sp>
      <p:sp>
        <p:nvSpPr>
          <p:cNvPr id="9" name="TextBox 8"/>
          <p:cNvSpPr txBox="1"/>
          <p:nvPr/>
        </p:nvSpPr>
        <p:spPr bwMode="auto">
          <a:xfrm>
            <a:off x="9758716" y="3315096"/>
            <a:ext cx="12984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smtClean="0">
                <a:solidFill>
                  <a:schemeClr val="bg1">
                    <a:lumMod val="50000"/>
                  </a:schemeClr>
                </a:solidFill>
              </a:rPr>
              <a:t>D</a:t>
            </a:r>
            <a:endParaRPr lang="en-US" sz="1400" b="1" dirty="0" smtClean="0">
              <a:solidFill>
                <a:schemeClr val="bg1">
                  <a:lumMod val="50000"/>
                </a:schemeClr>
              </a:solidFill>
            </a:endParaRPr>
          </a:p>
        </p:txBody>
      </p:sp>
      <p:cxnSp>
        <p:nvCxnSpPr>
          <p:cNvPr id="11" name="Straight Connector 10"/>
          <p:cNvCxnSpPr/>
          <p:nvPr/>
        </p:nvCxnSpPr>
        <p:spPr bwMode="auto">
          <a:xfrm>
            <a:off x="9569740" y="3675712"/>
            <a:ext cx="377952" cy="2053831"/>
          </a:xfrm>
          <a:prstGeom prst="line">
            <a:avLst/>
          </a:prstGeom>
          <a:noFill/>
          <a:ln w="9525" cap="flat" cmpd="sng" algn="ctr">
            <a:solidFill>
              <a:schemeClr val="tx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p:cNvCxnSpPr/>
          <p:nvPr/>
        </p:nvCxnSpPr>
        <p:spPr bwMode="auto">
          <a:xfrm>
            <a:off x="9752554" y="3671116"/>
            <a:ext cx="377952" cy="2053831"/>
          </a:xfrm>
          <a:prstGeom prst="line">
            <a:avLst/>
          </a:prstGeom>
          <a:noFill/>
          <a:ln w="9525" cap="flat" cmpd="sng" algn="ctr">
            <a:solidFill>
              <a:schemeClr val="tx2">
                <a:lumMod val="60000"/>
                <a:lumOff val="4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a:off x="9852528" y="4317546"/>
            <a:ext cx="0" cy="797379"/>
          </a:xfrm>
          <a:prstGeom prst="straightConnector1">
            <a:avLst/>
          </a:prstGeom>
          <a:noFill/>
          <a:ln w="9525" cap="flat" cmpd="sng" algn="ctr">
            <a:solidFill>
              <a:schemeClr val="accent3">
                <a:lumMod val="60000"/>
                <a:lumOff val="40000"/>
              </a:schemeClr>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6201419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957E-BE0C-356F-B1A0-0E080FDB8748}"/>
              </a:ext>
            </a:extLst>
          </p:cNvPr>
          <p:cNvSpPr>
            <a:spLocks noGrp="1"/>
          </p:cNvSpPr>
          <p:nvPr>
            <p:ph type="title"/>
          </p:nvPr>
        </p:nvSpPr>
        <p:spPr>
          <a:xfrm>
            <a:off x="411480" y="347472"/>
            <a:ext cx="11074576" cy="461665"/>
          </a:xfrm>
        </p:spPr>
        <p:txBody>
          <a:bodyPr/>
          <a:lstStyle/>
          <a:p>
            <a:r>
              <a:rPr lang="en-US">
                <a:solidFill>
                  <a:schemeClr val="accent5">
                    <a:lumMod val="75000"/>
                  </a:schemeClr>
                </a:solidFill>
              </a:rPr>
              <a:t>Dose to agreement (DTA)</a:t>
            </a:r>
          </a:p>
        </p:txBody>
      </p:sp>
      <p:sp>
        <p:nvSpPr>
          <p:cNvPr id="4" name="TextBox 3"/>
          <p:cNvSpPr txBox="1"/>
          <p:nvPr/>
        </p:nvSpPr>
        <p:spPr bwMode="auto">
          <a:xfrm>
            <a:off x="3025833" y="6459676"/>
            <a:ext cx="625117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pPr algn="ctr"/>
            <a:r>
              <a:rPr lang="en-US" altLang="en-US" dirty="0"/>
              <a:t>Van </a:t>
            </a:r>
            <a:r>
              <a:rPr lang="en-US" altLang="en-US" dirty="0" err="1"/>
              <a:t>Dyk</a:t>
            </a:r>
            <a:r>
              <a:rPr lang="en-US" altLang="en-US" dirty="0"/>
              <a:t> et al., 1993; Harms et al., 1998</a:t>
            </a:r>
            <a:endParaRPr lang="en-US" sz="1400" b="1" dirty="0">
              <a:solidFill>
                <a:schemeClr val="bg1">
                  <a:lumMod val="50000"/>
                </a:schemeClr>
              </a:solidFill>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646545" y="1123986"/>
                <a:ext cx="8630459" cy="4595651"/>
              </a:xfrm>
            </p:spPr>
            <p:txBody>
              <a:bodyPr/>
              <a:lstStyle/>
              <a:p>
                <a:r>
                  <a:rPr lang="en-US" altLang="en-US" dirty="0"/>
                  <a:t>For a given point in the reference distribution, find the closest location in the evaluated dose distribution with the same dose.</a:t>
                </a:r>
                <a:endParaRPr lang="en-US" dirty="0"/>
              </a:p>
              <a:p>
                <a:pPr lvl="1"/>
                <a:r>
                  <a:rPr lang="en-US" dirty="0" err="1"/>
                  <a:t>i.e</a:t>
                </a:r>
                <a:endParaRPr lang="en-US" dirty="0"/>
              </a:p>
              <a:p>
                <a:pPr marL="774700" lvl="2" indent="0">
                  <a:buNone/>
                </a:pPr>
                <a:r>
                  <a:rPr lang="en-US" dirty="0">
                    <a:solidFill>
                      <a:schemeClr val="tx1"/>
                    </a:solidFill>
                  </a:rPr>
                  <a:t>For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𝑫</m:t>
                        </m:r>
                      </m:e>
                      <m:sub>
                        <m:r>
                          <a:rPr lang="en-US" b="1" i="1">
                            <a:solidFill>
                              <a:schemeClr val="tx1"/>
                            </a:solidFill>
                            <a:latin typeface="Cambria Math" panose="02040503050406030204" pitchFamily="18" charset="0"/>
                          </a:rPr>
                          <m:t>𝒓</m:t>
                        </m:r>
                      </m:sub>
                    </m:sSub>
                    <m:d>
                      <m:dPr>
                        <m:ctrlPr>
                          <a:rPr lang="en-US" b="1" i="1">
                            <a:solidFill>
                              <a:schemeClr val="tx1"/>
                            </a:solidFill>
                            <a:latin typeface="Cambria Math" panose="02040503050406030204" pitchFamily="18" charset="0"/>
                          </a:rPr>
                        </m:ctrlPr>
                      </m:dPr>
                      <m:e>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𝒓</m:t>
                            </m:r>
                          </m:sub>
                        </m:sSub>
                      </m:e>
                    </m:d>
                  </m:oMath>
                </a14:m>
                <a:r>
                  <a:rPr lang="en-US" dirty="0">
                    <a:solidFill>
                      <a:schemeClr val="tx1"/>
                    </a:solidFill>
                  </a:rPr>
                  <a:t> in </a:t>
                </a:r>
                <a14:m>
                  <m:oMath xmlns:m="http://schemas.openxmlformats.org/officeDocument/2006/math">
                    <m:r>
                      <a:rPr lang="en-US" b="1" i="1">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𝑹</m:t>
                    </m:r>
                  </m:oMath>
                </a14:m>
                <a:r>
                  <a:rPr lang="en-US" dirty="0">
                    <a:solidFill>
                      <a:schemeClr val="tx1"/>
                    </a:solidFill>
                  </a:rPr>
                  <a:t>: </a:t>
                </a:r>
              </a:p>
              <a:p>
                <a:pPr marL="774700" lvl="2" indent="0">
                  <a:buNone/>
                </a:pPr>
                <a:r>
                  <a:rPr lang="en-US" dirty="0">
                    <a:solidFill>
                      <a:schemeClr val="tx1"/>
                    </a:solidFill>
                  </a:rPr>
                  <a:t>Find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𝑫</m:t>
                        </m:r>
                      </m:e>
                      <m:sub>
                        <m:r>
                          <a:rPr lang="en-US" b="1" i="1">
                            <a:solidFill>
                              <a:schemeClr val="tx1"/>
                            </a:solidFill>
                            <a:latin typeface="Cambria Math" panose="02040503050406030204" pitchFamily="18" charset="0"/>
                          </a:rPr>
                          <m:t>𝒆</m:t>
                        </m:r>
                      </m:sub>
                    </m:sSub>
                    <m:d>
                      <m:dPr>
                        <m:ctrlPr>
                          <a:rPr lang="en-US" b="1" i="1">
                            <a:solidFill>
                              <a:schemeClr val="tx1"/>
                            </a:solidFill>
                            <a:latin typeface="Cambria Math" panose="02040503050406030204" pitchFamily="18" charset="0"/>
                          </a:rPr>
                        </m:ctrlPr>
                      </m:dPr>
                      <m:e>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𝒆</m:t>
                            </m:r>
                          </m:sub>
                        </m:sSub>
                      </m:e>
                    </m:d>
                  </m:oMath>
                </a14:m>
                <a:r>
                  <a:rPr lang="en-US" dirty="0">
                    <a:solidFill>
                      <a:schemeClr val="tx1"/>
                    </a:solidFill>
                  </a:rPr>
                  <a:t>, such that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𝑫</m:t>
                        </m:r>
                      </m:e>
                      <m:sub>
                        <m:r>
                          <a:rPr lang="en-US" b="1" i="1">
                            <a:solidFill>
                              <a:schemeClr val="tx1"/>
                            </a:solidFill>
                            <a:latin typeface="Cambria Math" panose="02040503050406030204" pitchFamily="18" charset="0"/>
                          </a:rPr>
                          <m:t>𝒆</m:t>
                        </m:r>
                      </m:sub>
                    </m:sSub>
                    <m:d>
                      <m:dPr>
                        <m:ctrlPr>
                          <a:rPr lang="en-US" b="1" i="1">
                            <a:solidFill>
                              <a:schemeClr val="tx1"/>
                            </a:solidFill>
                            <a:latin typeface="Cambria Math" panose="02040503050406030204" pitchFamily="18" charset="0"/>
                          </a:rPr>
                        </m:ctrlPr>
                      </m:dPr>
                      <m:e>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𝒆</m:t>
                            </m:r>
                          </m:sub>
                        </m:sSub>
                      </m:e>
                    </m:d>
                    <m:r>
                      <a:rPr lang="en-US">
                        <a:solidFill>
                          <a:schemeClr val="tx1"/>
                        </a:solidFill>
                        <a:latin typeface="Cambria Math" panose="02040503050406030204" pitchFamily="18" charset="0"/>
                      </a:rPr>
                      <m:t>=</m:t>
                    </m:r>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𝑫</m:t>
                        </m:r>
                      </m:e>
                      <m:sub>
                        <m:r>
                          <a:rPr lang="en-US" b="1" i="1">
                            <a:solidFill>
                              <a:schemeClr val="tx1"/>
                            </a:solidFill>
                            <a:latin typeface="Cambria Math" panose="02040503050406030204" pitchFamily="18" charset="0"/>
                          </a:rPr>
                          <m:t>𝒓</m:t>
                        </m:r>
                      </m:sub>
                    </m:sSub>
                    <m:d>
                      <m:dPr>
                        <m:ctrlPr>
                          <a:rPr lang="en-US" b="1" i="1">
                            <a:solidFill>
                              <a:schemeClr val="tx1"/>
                            </a:solidFill>
                            <a:latin typeface="Cambria Math" panose="02040503050406030204" pitchFamily="18" charset="0"/>
                          </a:rPr>
                        </m:ctrlPr>
                      </m:dPr>
                      <m:e>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𝒓</m:t>
                            </m:r>
                          </m:sub>
                        </m:sSub>
                      </m:e>
                    </m:d>
                  </m:oMath>
                </a14:m>
                <a:r>
                  <a:rPr lang="en-US" dirty="0">
                    <a:solidFill>
                      <a:schemeClr val="tx1"/>
                    </a:solidFill>
                  </a:rPr>
                  <a:t> &amp; </a:t>
                </a:r>
                <a14:m>
                  <m:oMath xmlns:m="http://schemas.openxmlformats.org/officeDocument/2006/math">
                    <m:func>
                      <m:funcPr>
                        <m:ctrlPr>
                          <a:rPr lang="en-US" i="1">
                            <a:solidFill>
                              <a:schemeClr val="tx1"/>
                            </a:solidFill>
                            <a:latin typeface="Cambria Math" panose="02040503050406030204" pitchFamily="18" charset="0"/>
                          </a:rPr>
                        </m:ctrlPr>
                      </m:funcPr>
                      <m:fName>
                        <m:limLow>
                          <m:limLowPr>
                            <m:ctrlPr>
                              <a:rPr lang="en-US" i="1">
                                <a:solidFill>
                                  <a:schemeClr val="tx1"/>
                                </a:solidFill>
                                <a:latin typeface="Cambria Math" panose="02040503050406030204" pitchFamily="18" charset="0"/>
                              </a:rPr>
                            </m:ctrlPr>
                          </m:limLowPr>
                          <m:e>
                            <m:r>
                              <m:rPr>
                                <m:sty m:val="p"/>
                              </m:rPr>
                              <a:rPr lang="en-US">
                                <a:solidFill>
                                  <a:schemeClr val="tx1"/>
                                </a:solidFill>
                                <a:latin typeface="Cambria Math" panose="02040503050406030204" pitchFamily="18" charset="0"/>
                              </a:rPr>
                              <m:t>min</m:t>
                            </m:r>
                          </m:e>
                          <m:lim>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𝒆</m:t>
                                </m:r>
                              </m:sub>
                            </m:sSub>
                          </m:lim>
                        </m:limLow>
                      </m:fName>
                      <m:e>
                        <m:r>
                          <a:rPr lang="en-US">
                            <a:solidFill>
                              <a:schemeClr val="tx1"/>
                            </a:solidFill>
                            <a:latin typeface="Cambria Math" panose="02040503050406030204" pitchFamily="18" charset="0"/>
                          </a:rPr>
                          <m:t>(</m:t>
                        </m:r>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𝒆</m:t>
                            </m:r>
                          </m:sub>
                        </m:sSub>
                        <m:r>
                          <a:rPr lang="en-US">
                            <a:solidFill>
                              <a:schemeClr val="tx1"/>
                            </a:solidFill>
                            <a:latin typeface="Cambria Math" panose="02040503050406030204" pitchFamily="18" charset="0"/>
                          </a:rPr>
                          <m:t>−</m:t>
                        </m:r>
                        <m:sSub>
                          <m:sSubPr>
                            <m:ctrlPr>
                              <a:rPr lang="en-US" b="1" i="1">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𝒓</m:t>
                                </m:r>
                              </m:e>
                            </m:acc>
                          </m:e>
                          <m:sub>
                            <m:r>
                              <a:rPr lang="en-US" b="1" i="1">
                                <a:solidFill>
                                  <a:schemeClr val="tx1"/>
                                </a:solidFill>
                                <a:latin typeface="Cambria Math" panose="02040503050406030204" pitchFamily="18" charset="0"/>
                              </a:rPr>
                              <m:t>𝒓</m:t>
                            </m:r>
                          </m:sub>
                        </m:sSub>
                        <m:r>
                          <a:rPr lang="en-US" b="1" i="1">
                            <a:solidFill>
                              <a:schemeClr val="tx1"/>
                            </a:solidFill>
                            <a:latin typeface="Cambria Math" panose="02040503050406030204" pitchFamily="18" charset="0"/>
                          </a:rPr>
                          <m:t>|)</m:t>
                        </m:r>
                        <m:r>
                          <m:rPr>
                            <m:nor/>
                          </m:rPr>
                          <a:rPr lang="en-US" dirty="0">
                            <a:solidFill>
                              <a:schemeClr val="tx1"/>
                            </a:solidFill>
                          </a:rPr>
                          <m:t> </m:t>
                        </m:r>
                      </m:e>
                    </m:func>
                  </m:oMath>
                </a14:m>
                <a:endParaRPr lang="en-US" dirty="0">
                  <a:solidFill>
                    <a:schemeClr val="tx1"/>
                  </a:solidFill>
                </a:endParaRPr>
              </a:p>
              <a:p>
                <a:pPr marL="357187" lvl="1" indent="0">
                  <a:buNone/>
                </a:pPr>
                <a:endParaRPr lang="en-US" dirty="0">
                  <a:solidFill>
                    <a:schemeClr val="tx1"/>
                  </a:solidFill>
                </a:endParaRPr>
              </a:p>
              <a:p>
                <a:r>
                  <a:rPr lang="en-US" b="1" dirty="0"/>
                  <a:t>Ideal for measuring separation between steep dose gradients</a:t>
                </a:r>
              </a:p>
              <a:p>
                <a:r>
                  <a:rPr lang="en-US" dirty="0" smtClean="0"/>
                  <a:t>Not </a:t>
                </a:r>
                <a:r>
                  <a:rPr lang="en-US" dirty="0"/>
                  <a:t>invariant to selection of reference distribution</a:t>
                </a:r>
              </a:p>
              <a:p>
                <a:r>
                  <a:rPr lang="en-US" dirty="0"/>
                  <a:t>Evaluated distribution usually has at least the same or greater resolution and dimensionality than the </a:t>
                </a:r>
                <a:r>
                  <a:rPr lang="en-US" dirty="0" smtClean="0"/>
                  <a:t>reference</a:t>
                </a:r>
              </a:p>
              <a:p>
                <a:r>
                  <a:rPr lang="en-US" b="1" dirty="0"/>
                  <a:t>Oversensitive in low dose gradient regions</a:t>
                </a:r>
                <a:r>
                  <a:rPr lang="en-US" b="1" dirty="0" smtClean="0"/>
                  <a:t>.</a:t>
                </a:r>
                <a:endParaRPr lang="en-US" b="1" dirty="0"/>
              </a:p>
              <a:p>
                <a:pPr lvl="1" indent="-302895">
                  <a:buClr>
                    <a:srgbClr val="002243"/>
                  </a:buClr>
                </a:pPr>
                <a:endParaRPr lang="en-US" sz="600" dirty="0">
                  <a:solidFill>
                    <a:srgbClr val="7F7F7F"/>
                  </a:solidFill>
                  <a:cs typeface="Arial"/>
                </a:endParaRPr>
              </a:p>
              <a:p>
                <a:pPr marL="0" indent="0">
                  <a:buClr>
                    <a:srgbClr val="800000"/>
                  </a:buClr>
                  <a:buNone/>
                </a:pPr>
                <a:endParaRPr lang="en-US" dirty="0">
                  <a:solidFill>
                    <a:srgbClr val="002243"/>
                  </a:solidFill>
                  <a:cs typeface="Arial"/>
                </a:endParaRP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646545" y="1123986"/>
                <a:ext cx="8630459" cy="4595651"/>
              </a:xfrm>
              <a:blipFill>
                <a:blip r:embed="rId3"/>
                <a:stretch>
                  <a:fillRect l="-2119" t="-1061"/>
                </a:stretch>
              </a:blipFill>
            </p:spPr>
            <p:txBody>
              <a:bodyPr/>
              <a:lstStyle/>
              <a:p>
                <a:r>
                  <a:rPr lang="en-US">
                    <a:noFill/>
                  </a:rPr>
                  <a:t> </a:t>
                </a:r>
              </a:p>
            </p:txBody>
          </p:sp>
        </mc:Fallback>
      </mc:AlternateContent>
      <p:cxnSp>
        <p:nvCxnSpPr>
          <p:cNvPr id="5" name="Straight Arrow Connector 4"/>
          <p:cNvCxnSpPr/>
          <p:nvPr/>
        </p:nvCxnSpPr>
        <p:spPr bwMode="auto">
          <a:xfrm flipH="1">
            <a:off x="10442864" y="3314700"/>
            <a:ext cx="0" cy="2334985"/>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p:cNvCxnSpPr/>
          <p:nvPr/>
        </p:nvCxnSpPr>
        <p:spPr bwMode="auto">
          <a:xfrm flipH="1">
            <a:off x="9277004" y="4495800"/>
            <a:ext cx="2331720" cy="0"/>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bwMode="auto">
          <a:xfrm>
            <a:off x="11509338" y="4584044"/>
            <a:ext cx="9938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a:solidFill>
                  <a:schemeClr val="bg1">
                    <a:lumMod val="50000"/>
                  </a:schemeClr>
                </a:solidFill>
              </a:rPr>
              <a:t>x</a:t>
            </a:r>
            <a:endParaRPr lang="en-US" sz="1400" b="1" dirty="0" smtClean="0">
              <a:solidFill>
                <a:schemeClr val="bg1">
                  <a:lumMod val="50000"/>
                </a:schemeClr>
              </a:solidFill>
            </a:endParaRPr>
          </a:p>
        </p:txBody>
      </p:sp>
      <p:sp>
        <p:nvSpPr>
          <p:cNvPr id="9" name="TextBox 8"/>
          <p:cNvSpPr txBox="1"/>
          <p:nvPr/>
        </p:nvSpPr>
        <p:spPr bwMode="auto">
          <a:xfrm>
            <a:off x="10518738" y="3094660"/>
            <a:ext cx="12984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smtClean="0">
                <a:solidFill>
                  <a:schemeClr val="bg1">
                    <a:lumMod val="50000"/>
                  </a:schemeClr>
                </a:solidFill>
              </a:rPr>
              <a:t>D</a:t>
            </a:r>
            <a:endParaRPr lang="en-US" sz="1400" b="1" dirty="0" smtClean="0">
              <a:solidFill>
                <a:schemeClr val="bg1">
                  <a:lumMod val="50000"/>
                </a:schemeClr>
              </a:solidFill>
            </a:endParaRPr>
          </a:p>
        </p:txBody>
      </p:sp>
      <p:cxnSp>
        <p:nvCxnSpPr>
          <p:cNvPr id="12" name="Straight Arrow Connector 11"/>
          <p:cNvCxnSpPr/>
          <p:nvPr/>
        </p:nvCxnSpPr>
        <p:spPr bwMode="auto">
          <a:xfrm flipH="1">
            <a:off x="9794544" y="4406900"/>
            <a:ext cx="854038" cy="0"/>
          </a:xfrm>
          <a:prstGeom prst="straightConnector1">
            <a:avLst/>
          </a:prstGeom>
          <a:noFill/>
          <a:ln w="9525" cap="flat" cmpd="sng" algn="ctr">
            <a:solidFill>
              <a:schemeClr val="accent3">
                <a:lumMod val="60000"/>
                <a:lumOff val="40000"/>
              </a:schemeClr>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p:nvCxnSpPr>
        <p:spPr bwMode="auto">
          <a:xfrm>
            <a:off x="9349179" y="4145339"/>
            <a:ext cx="2097127" cy="394584"/>
          </a:xfrm>
          <a:prstGeom prst="line">
            <a:avLst/>
          </a:prstGeom>
          <a:noFill/>
          <a:ln w="9525" cap="flat" cmpd="sng" algn="ctr">
            <a:solidFill>
              <a:schemeClr val="tx2">
                <a:lumMod val="60000"/>
                <a:lumOff val="4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Connector 18"/>
          <p:cNvCxnSpPr/>
          <p:nvPr/>
        </p:nvCxnSpPr>
        <p:spPr bwMode="auto">
          <a:xfrm>
            <a:off x="9349179" y="4339933"/>
            <a:ext cx="2097127" cy="394584"/>
          </a:xfrm>
          <a:prstGeom prst="line">
            <a:avLst/>
          </a:prstGeom>
          <a:noFill/>
          <a:ln w="9525" cap="flat" cmpd="sng" algn="ctr">
            <a:solidFill>
              <a:schemeClr val="tx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519100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347472"/>
            <a:ext cx="11074576" cy="461665"/>
          </a:xfrm>
        </p:spPr>
        <p:txBody>
          <a:bodyPr/>
          <a:lstStyle/>
          <a:p>
            <a:r>
              <a:rPr lang="en-US">
                <a:solidFill>
                  <a:schemeClr val="accent5">
                    <a:lumMod val="75000"/>
                  </a:schemeClr>
                </a:solidFill>
              </a:rPr>
              <a:t>Composite test</a:t>
            </a:r>
          </a:p>
        </p:txBody>
      </p:sp>
      <p:grpSp>
        <p:nvGrpSpPr>
          <p:cNvPr id="19" name="Group 18"/>
          <p:cNvGrpSpPr/>
          <p:nvPr/>
        </p:nvGrpSpPr>
        <p:grpSpPr>
          <a:xfrm>
            <a:off x="7238596" y="914599"/>
            <a:ext cx="4047066" cy="4244623"/>
            <a:chOff x="3112910" y="2329742"/>
            <a:chExt cx="4047066" cy="4244623"/>
          </a:xfrm>
        </p:grpSpPr>
        <p:sp>
          <p:nvSpPr>
            <p:cNvPr id="10" name="Rectangle: Rounded Corners 9">
              <a:extLst>
                <a:ext uri="{FF2B5EF4-FFF2-40B4-BE49-F238E27FC236}">
                  <a16:creationId xmlns:a16="http://schemas.microsoft.com/office/drawing/2014/main" id="{546482AA-EEEA-3045-50C8-607C1CC7808D}"/>
                </a:ext>
              </a:extLst>
            </p:cNvPr>
            <p:cNvSpPr/>
            <p:nvPr/>
          </p:nvSpPr>
          <p:spPr bwMode="auto">
            <a:xfrm>
              <a:off x="3112910" y="5659966"/>
              <a:ext cx="914399" cy="914399"/>
            </a:xfrm>
            <a:prstGeom prst="roundRect">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a:solidFill>
                    <a:schemeClr val="accent3">
                      <a:lumMod val="50000"/>
                    </a:schemeClr>
                  </a:solidFill>
                  <a:latin typeface="Arial"/>
                  <a:cs typeface="Arial"/>
                </a:rPr>
                <a:t>Fail</a:t>
              </a:r>
              <a:r>
                <a:rPr lang="en-US">
                  <a:latin typeface="Arial"/>
                  <a:cs typeface="Arial"/>
                </a:rPr>
                <a:t> </a:t>
              </a:r>
            </a:p>
            <a:p>
              <a:pPr algn="ctr"/>
              <a:r>
                <a:rPr lang="en-US">
                  <a:solidFill>
                    <a:schemeClr val="accent3">
                      <a:lumMod val="50000"/>
                    </a:schemeClr>
                  </a:solidFill>
                  <a:latin typeface="Arial"/>
                  <a:cs typeface="Arial"/>
                </a:rPr>
                <a:t>DTA</a:t>
              </a:r>
            </a:p>
          </p:txBody>
        </p:sp>
        <p:grpSp>
          <p:nvGrpSpPr>
            <p:cNvPr id="18" name="Group 17"/>
            <p:cNvGrpSpPr/>
            <p:nvPr/>
          </p:nvGrpSpPr>
          <p:grpSpPr>
            <a:xfrm>
              <a:off x="3112910" y="2329742"/>
              <a:ext cx="4047066" cy="4244623"/>
              <a:chOff x="3112910" y="2329742"/>
              <a:chExt cx="4047066" cy="4244623"/>
            </a:xfrm>
          </p:grpSpPr>
          <p:sp>
            <p:nvSpPr>
              <p:cNvPr id="4" name="Rectangle: Rounded Corners 3">
                <a:extLst>
                  <a:ext uri="{FF2B5EF4-FFF2-40B4-BE49-F238E27FC236}">
                    <a16:creationId xmlns:a16="http://schemas.microsoft.com/office/drawing/2014/main" id="{7E164397-FC0A-00D9-BFAD-5DA85537BA0A}"/>
                  </a:ext>
                </a:extLst>
              </p:cNvPr>
              <p:cNvSpPr/>
              <p:nvPr/>
            </p:nvSpPr>
            <p:spPr bwMode="auto">
              <a:xfrm>
                <a:off x="3112911" y="2329742"/>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accent3">
                        <a:lumMod val="50000"/>
                      </a:schemeClr>
                    </a:solidFill>
                    <a:latin typeface="Arial"/>
                    <a:cs typeface="Arial"/>
                  </a:rPr>
                  <a:t>Pass </a:t>
                </a:r>
              </a:p>
              <a:p>
                <a:pPr algn="ctr"/>
                <a:r>
                  <a:rPr lang="en-US">
                    <a:solidFill>
                      <a:schemeClr val="accent3">
                        <a:lumMod val="50000"/>
                      </a:schemeClr>
                    </a:solidFill>
                    <a:latin typeface="Arial"/>
                    <a:cs typeface="Arial"/>
                  </a:rPr>
                  <a:t>DTA</a:t>
                </a:r>
              </a:p>
            </p:txBody>
          </p:sp>
          <p:sp>
            <p:nvSpPr>
              <p:cNvPr id="5" name="Rectangle: Rounded Corners 4">
                <a:extLst>
                  <a:ext uri="{FF2B5EF4-FFF2-40B4-BE49-F238E27FC236}">
                    <a16:creationId xmlns:a16="http://schemas.microsoft.com/office/drawing/2014/main" id="{F9ECFAF3-2293-35EA-A80E-5C81C5958E49}"/>
                  </a:ext>
                </a:extLst>
              </p:cNvPr>
              <p:cNvSpPr/>
              <p:nvPr/>
            </p:nvSpPr>
            <p:spPr bwMode="auto">
              <a:xfrm>
                <a:off x="4665133" y="2329742"/>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rtl="0"/>
                <a:r>
                  <a:rPr lang="en-US">
                    <a:solidFill>
                      <a:srgbClr val="01163B"/>
                    </a:solidFill>
                    <a:latin typeface="Arial"/>
                    <a:ea typeface="Segoe UI"/>
                    <a:cs typeface="Segoe UI"/>
                  </a:rPr>
                  <a:t>Pass </a:t>
                </a:r>
                <a:r>
                  <a:rPr lang="en-US">
                    <a:solidFill>
                      <a:srgbClr val="002243"/>
                    </a:solidFill>
                    <a:latin typeface="Arial"/>
                    <a:ea typeface="Segoe UI"/>
                    <a:cs typeface="Segoe UI"/>
                  </a:rPr>
                  <a:t>​</a:t>
                </a:r>
              </a:p>
              <a:p>
                <a:pPr algn="ctr" rtl="0"/>
                <a:r>
                  <a:rPr lang="en-US">
                    <a:solidFill>
                      <a:srgbClr val="01163B"/>
                    </a:solidFill>
                    <a:cs typeface="Segoe UI"/>
                  </a:rPr>
                  <a:t>Dose</a:t>
                </a:r>
              </a:p>
            </p:txBody>
          </p:sp>
          <p:sp>
            <p:nvSpPr>
              <p:cNvPr id="6" name="Rectangle: Rounded Corners 5">
                <a:extLst>
                  <a:ext uri="{FF2B5EF4-FFF2-40B4-BE49-F238E27FC236}">
                    <a16:creationId xmlns:a16="http://schemas.microsoft.com/office/drawing/2014/main" id="{9460AD68-5355-8767-7E41-AC6F7948FB18}"/>
                  </a:ext>
                </a:extLst>
              </p:cNvPr>
              <p:cNvSpPr/>
              <p:nvPr/>
            </p:nvSpPr>
            <p:spPr bwMode="auto">
              <a:xfrm>
                <a:off x="6245577" y="2329742"/>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rtl="0"/>
                <a:r>
                  <a:rPr lang="en-US">
                    <a:solidFill>
                      <a:srgbClr val="01163B"/>
                    </a:solidFill>
                    <a:latin typeface="Arial"/>
                    <a:ea typeface="Segoe UI"/>
                    <a:cs typeface="Segoe UI"/>
                  </a:rPr>
                  <a:t>Pass </a:t>
                </a:r>
                <a:endParaRPr lang="en-US">
                  <a:solidFill>
                    <a:srgbClr val="002243"/>
                  </a:solidFill>
                  <a:latin typeface="Arial"/>
                  <a:ea typeface="Segoe UI"/>
                  <a:cs typeface="Segoe UI"/>
                </a:endParaRPr>
              </a:p>
              <a:p>
                <a:pPr algn="ctr" rtl="0"/>
                <a:r>
                  <a:rPr lang="en-US">
                    <a:solidFill>
                      <a:srgbClr val="01163B"/>
                    </a:solidFill>
                    <a:latin typeface="Arial"/>
                    <a:ea typeface="Segoe UI"/>
                    <a:cs typeface="Segoe UI"/>
                  </a:rPr>
                  <a:t>Test</a:t>
                </a:r>
                <a:endParaRPr lang="en-US">
                  <a:cs typeface="Arial"/>
                </a:endParaRPr>
              </a:p>
            </p:txBody>
          </p:sp>
          <p:sp>
            <p:nvSpPr>
              <p:cNvPr id="7" name="Rectangle: Rounded Corners 6">
                <a:extLst>
                  <a:ext uri="{FF2B5EF4-FFF2-40B4-BE49-F238E27FC236}">
                    <a16:creationId xmlns:a16="http://schemas.microsoft.com/office/drawing/2014/main" id="{5086780C-3F42-EA2E-A810-0AF928E3C715}"/>
                  </a:ext>
                </a:extLst>
              </p:cNvPr>
              <p:cNvSpPr/>
              <p:nvPr/>
            </p:nvSpPr>
            <p:spPr bwMode="auto">
              <a:xfrm>
                <a:off x="3112911" y="3430409"/>
                <a:ext cx="914399" cy="914399"/>
              </a:xfrm>
              <a:prstGeom prst="roundRect">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a:solidFill>
                      <a:schemeClr val="accent3">
                        <a:lumMod val="50000"/>
                      </a:schemeClr>
                    </a:solidFill>
                    <a:latin typeface="Arial"/>
                    <a:cs typeface="Arial"/>
                  </a:rPr>
                  <a:t>Fail </a:t>
                </a:r>
                <a:endParaRPr lang="en-US">
                  <a:solidFill>
                    <a:schemeClr val="accent3">
                      <a:lumMod val="50000"/>
                    </a:schemeClr>
                  </a:solidFill>
                  <a:cs typeface="Arial"/>
                </a:endParaRPr>
              </a:p>
              <a:p>
                <a:pPr algn="ctr"/>
                <a:r>
                  <a:rPr lang="en-US">
                    <a:solidFill>
                      <a:schemeClr val="accent3">
                        <a:lumMod val="50000"/>
                      </a:schemeClr>
                    </a:solidFill>
                    <a:latin typeface="Arial"/>
                    <a:cs typeface="Arial"/>
                  </a:rPr>
                  <a:t>DTA</a:t>
                </a:r>
              </a:p>
            </p:txBody>
          </p:sp>
          <p:sp>
            <p:nvSpPr>
              <p:cNvPr id="8" name="Rectangle: Rounded Corners 7">
                <a:extLst>
                  <a:ext uri="{FF2B5EF4-FFF2-40B4-BE49-F238E27FC236}">
                    <a16:creationId xmlns:a16="http://schemas.microsoft.com/office/drawing/2014/main" id="{A0814B53-B60D-634F-4825-A142FE254899}"/>
                  </a:ext>
                </a:extLst>
              </p:cNvPr>
              <p:cNvSpPr/>
              <p:nvPr/>
            </p:nvSpPr>
            <p:spPr bwMode="auto">
              <a:xfrm>
                <a:off x="4665133" y="3430409"/>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rtl="0"/>
                <a:r>
                  <a:rPr lang="en-US">
                    <a:solidFill>
                      <a:srgbClr val="01163B"/>
                    </a:solidFill>
                    <a:latin typeface="Arial"/>
                    <a:ea typeface="Segoe UI"/>
                    <a:cs typeface="Segoe UI"/>
                  </a:rPr>
                  <a:t>Pass </a:t>
                </a:r>
                <a:r>
                  <a:rPr lang="en-US">
                    <a:solidFill>
                      <a:srgbClr val="002243"/>
                    </a:solidFill>
                    <a:latin typeface="Arial"/>
                    <a:ea typeface="Segoe UI"/>
                    <a:cs typeface="Segoe UI"/>
                  </a:rPr>
                  <a:t>​​</a:t>
                </a:r>
              </a:p>
              <a:p>
                <a:pPr algn="ctr" rtl="0"/>
                <a:r>
                  <a:rPr lang="en-US">
                    <a:solidFill>
                      <a:srgbClr val="01163B"/>
                    </a:solidFill>
                    <a:latin typeface="Arial"/>
                    <a:ea typeface="Segoe UI"/>
                    <a:cs typeface="Segoe UI"/>
                  </a:rPr>
                  <a:t>Dose</a:t>
                </a:r>
                <a:endParaRPr lang="en-US">
                  <a:cs typeface="Arial"/>
                </a:endParaRPr>
              </a:p>
            </p:txBody>
          </p:sp>
          <p:sp>
            <p:nvSpPr>
              <p:cNvPr id="9" name="Rectangle: Rounded Corners 8">
                <a:extLst>
                  <a:ext uri="{FF2B5EF4-FFF2-40B4-BE49-F238E27FC236}">
                    <a16:creationId xmlns:a16="http://schemas.microsoft.com/office/drawing/2014/main" id="{1C2605F3-13EC-EE92-232C-9C3DEC378025}"/>
                  </a:ext>
                </a:extLst>
              </p:cNvPr>
              <p:cNvSpPr/>
              <p:nvPr/>
            </p:nvSpPr>
            <p:spPr bwMode="auto">
              <a:xfrm>
                <a:off x="6245577" y="3444520"/>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rtl="0"/>
                <a:r>
                  <a:rPr lang="en-US">
                    <a:solidFill>
                      <a:srgbClr val="01163B"/>
                    </a:solidFill>
                    <a:latin typeface="Arial"/>
                    <a:ea typeface="Segoe UI"/>
                    <a:cs typeface="Segoe UI"/>
                  </a:rPr>
                  <a:t>Pass </a:t>
                </a:r>
                <a:r>
                  <a:rPr lang="en-US">
                    <a:solidFill>
                      <a:srgbClr val="002243"/>
                    </a:solidFill>
                    <a:latin typeface="Arial"/>
                    <a:ea typeface="Segoe UI"/>
                    <a:cs typeface="Segoe UI"/>
                  </a:rPr>
                  <a:t>​</a:t>
                </a:r>
              </a:p>
              <a:p>
                <a:pPr algn="ctr" rtl="0"/>
                <a:r>
                  <a:rPr lang="en-US">
                    <a:solidFill>
                      <a:srgbClr val="01163B"/>
                    </a:solidFill>
                    <a:latin typeface="Arial"/>
                    <a:ea typeface="Segoe UI"/>
                    <a:cs typeface="Segoe UI"/>
                  </a:rPr>
                  <a:t>Test</a:t>
                </a:r>
                <a:endParaRPr lang="en-US">
                  <a:cs typeface="Arial"/>
                </a:endParaRPr>
              </a:p>
            </p:txBody>
          </p:sp>
          <p:sp>
            <p:nvSpPr>
              <p:cNvPr id="11" name="Rectangle: Rounded Corners 10">
                <a:extLst>
                  <a:ext uri="{FF2B5EF4-FFF2-40B4-BE49-F238E27FC236}">
                    <a16:creationId xmlns:a16="http://schemas.microsoft.com/office/drawing/2014/main" id="{7E7763FA-1D71-AADC-4A5F-277910BDC42E}"/>
                  </a:ext>
                </a:extLst>
              </p:cNvPr>
              <p:cNvSpPr/>
              <p:nvPr/>
            </p:nvSpPr>
            <p:spPr bwMode="auto">
              <a:xfrm>
                <a:off x="4665132" y="5659966"/>
                <a:ext cx="914399" cy="914399"/>
              </a:xfrm>
              <a:prstGeom prst="roundRect">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a:solidFill>
                      <a:schemeClr val="accent3">
                        <a:lumMod val="50000"/>
                      </a:schemeClr>
                    </a:solidFill>
                    <a:latin typeface="Arial"/>
                    <a:cs typeface="Arial"/>
                  </a:rPr>
                  <a:t>Fail </a:t>
                </a:r>
              </a:p>
              <a:p>
                <a:pPr marL="0" marR="0" indent="0" algn="ctr" defTabSz="914400">
                  <a:lnSpc>
                    <a:spcPct val="100000"/>
                  </a:lnSpc>
                  <a:spcBef>
                    <a:spcPct val="0"/>
                  </a:spcBef>
                  <a:spcAft>
                    <a:spcPct val="0"/>
                  </a:spcAft>
                  <a:buNone/>
                  <a:tabLst/>
                </a:pPr>
                <a:r>
                  <a:rPr lang="en-US">
                    <a:solidFill>
                      <a:schemeClr val="accent3">
                        <a:lumMod val="50000"/>
                      </a:schemeClr>
                    </a:solidFill>
                    <a:cs typeface="Arial"/>
                  </a:rPr>
                  <a:t>Dose</a:t>
                </a:r>
                <a:endParaRPr lang="en-US"/>
              </a:p>
            </p:txBody>
          </p:sp>
          <p:sp>
            <p:nvSpPr>
              <p:cNvPr id="12" name="Rectangle: Rounded Corners 11">
                <a:extLst>
                  <a:ext uri="{FF2B5EF4-FFF2-40B4-BE49-F238E27FC236}">
                    <a16:creationId xmlns:a16="http://schemas.microsoft.com/office/drawing/2014/main" id="{7EC479F2-F4C2-1412-7EF6-A9FD4CA49A2D}"/>
                  </a:ext>
                </a:extLst>
              </p:cNvPr>
              <p:cNvSpPr/>
              <p:nvPr/>
            </p:nvSpPr>
            <p:spPr bwMode="auto">
              <a:xfrm>
                <a:off x="6245577" y="5659965"/>
                <a:ext cx="914399" cy="914399"/>
              </a:xfrm>
              <a:prstGeom prst="roundRect">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a:solidFill>
                      <a:srgbClr val="01163B"/>
                    </a:solidFill>
                    <a:latin typeface="Arial"/>
                    <a:cs typeface="Arial"/>
                  </a:rPr>
                  <a:t>Fail Test</a:t>
                </a:r>
                <a:endParaRPr lang="en-US"/>
              </a:p>
            </p:txBody>
          </p:sp>
          <p:sp>
            <p:nvSpPr>
              <p:cNvPr id="13" name="Rectangle: Rounded Corners 12">
                <a:extLst>
                  <a:ext uri="{FF2B5EF4-FFF2-40B4-BE49-F238E27FC236}">
                    <a16:creationId xmlns:a16="http://schemas.microsoft.com/office/drawing/2014/main" id="{B3754186-9B1F-50F2-31F8-43B4584C89F7}"/>
                  </a:ext>
                </a:extLst>
              </p:cNvPr>
              <p:cNvSpPr/>
              <p:nvPr/>
            </p:nvSpPr>
            <p:spPr bwMode="auto">
              <a:xfrm>
                <a:off x="3112910" y="4531077"/>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accent3">
                        <a:lumMod val="50000"/>
                      </a:schemeClr>
                    </a:solidFill>
                    <a:latin typeface="Arial"/>
                    <a:cs typeface="Arial"/>
                  </a:rPr>
                  <a:t>Pass </a:t>
                </a:r>
              </a:p>
              <a:p>
                <a:pPr algn="ctr"/>
                <a:r>
                  <a:rPr lang="en-US">
                    <a:solidFill>
                      <a:schemeClr val="accent3">
                        <a:lumMod val="50000"/>
                      </a:schemeClr>
                    </a:solidFill>
                    <a:latin typeface="Arial"/>
                    <a:cs typeface="Arial"/>
                  </a:rPr>
                  <a:t>DTA</a:t>
                </a:r>
              </a:p>
            </p:txBody>
          </p:sp>
          <p:sp>
            <p:nvSpPr>
              <p:cNvPr id="14" name="Rectangle: Rounded Corners 13">
                <a:extLst>
                  <a:ext uri="{FF2B5EF4-FFF2-40B4-BE49-F238E27FC236}">
                    <a16:creationId xmlns:a16="http://schemas.microsoft.com/office/drawing/2014/main" id="{10D8AADC-9748-88AE-28B1-97A2A816E654}"/>
                  </a:ext>
                </a:extLst>
              </p:cNvPr>
              <p:cNvSpPr/>
              <p:nvPr/>
            </p:nvSpPr>
            <p:spPr bwMode="auto">
              <a:xfrm>
                <a:off x="4665133" y="4531076"/>
                <a:ext cx="914399" cy="914399"/>
              </a:xfrm>
              <a:prstGeom prst="roundRect">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accent3">
                        <a:lumMod val="50000"/>
                      </a:schemeClr>
                    </a:solidFill>
                    <a:latin typeface="Arial"/>
                    <a:cs typeface="Arial"/>
                  </a:rPr>
                  <a:t>Fail </a:t>
                </a:r>
              </a:p>
              <a:p>
                <a:pPr algn="ctr"/>
                <a:r>
                  <a:rPr lang="en-US">
                    <a:solidFill>
                      <a:schemeClr val="accent3">
                        <a:lumMod val="50000"/>
                      </a:schemeClr>
                    </a:solidFill>
                    <a:latin typeface="Arial"/>
                    <a:cs typeface="Arial"/>
                  </a:rPr>
                  <a:t>Dose</a:t>
                </a:r>
                <a:endParaRPr lang="en-US">
                  <a:solidFill>
                    <a:schemeClr val="accent3">
                      <a:lumMod val="50000"/>
                    </a:schemeClr>
                  </a:solidFill>
                  <a:cs typeface="Arial"/>
                </a:endParaRPr>
              </a:p>
            </p:txBody>
          </p:sp>
          <p:sp>
            <p:nvSpPr>
              <p:cNvPr id="15" name="Rectangle: Rounded Corners 14">
                <a:extLst>
                  <a:ext uri="{FF2B5EF4-FFF2-40B4-BE49-F238E27FC236}">
                    <a16:creationId xmlns:a16="http://schemas.microsoft.com/office/drawing/2014/main" id="{1022C539-9300-3587-A1EE-D476DEF2C2C8}"/>
                  </a:ext>
                </a:extLst>
              </p:cNvPr>
              <p:cNvSpPr/>
              <p:nvPr/>
            </p:nvSpPr>
            <p:spPr bwMode="auto">
              <a:xfrm>
                <a:off x="6245577" y="4531076"/>
                <a:ext cx="914399" cy="914399"/>
              </a:xfrm>
              <a:prstGeom prst="roundRect">
                <a:avLst/>
              </a:prstGeom>
              <a:solidFill>
                <a:srgbClr val="00B05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accent3">
                        <a:lumMod val="50000"/>
                      </a:schemeClr>
                    </a:solidFill>
                    <a:latin typeface="Arial"/>
                    <a:cs typeface="Arial"/>
                  </a:rPr>
                  <a:t>Pass </a:t>
                </a:r>
                <a:endParaRPr lang="en-US">
                  <a:solidFill>
                    <a:schemeClr val="accent3">
                      <a:lumMod val="50000"/>
                    </a:schemeClr>
                  </a:solidFill>
                  <a:cs typeface="Arial" panose="020B0604020202020204" pitchFamily="34" charset="0"/>
                </a:endParaRPr>
              </a:p>
              <a:p>
                <a:pPr algn="ctr"/>
                <a:r>
                  <a:rPr lang="en-US">
                    <a:solidFill>
                      <a:schemeClr val="accent3">
                        <a:lumMod val="50000"/>
                      </a:schemeClr>
                    </a:solidFill>
                    <a:latin typeface="Arial"/>
                    <a:cs typeface="Arial"/>
                  </a:rPr>
                  <a:t>Test</a:t>
                </a:r>
                <a:endParaRPr lang="en-US">
                  <a:solidFill>
                    <a:schemeClr val="accent3">
                      <a:lumMod val="50000"/>
                    </a:schemeClr>
                  </a:solidFill>
                  <a:cs typeface="Arial"/>
                </a:endParaRPr>
              </a:p>
            </p:txBody>
          </p:sp>
        </p:grpSp>
      </p:grpSp>
      <p:sp>
        <p:nvSpPr>
          <p:cNvPr id="17" name="Content Placeholder 2"/>
          <p:cNvSpPr>
            <a:spLocks noGrp="1"/>
          </p:cNvSpPr>
          <p:nvPr>
            <p:ph idx="1"/>
          </p:nvPr>
        </p:nvSpPr>
        <p:spPr>
          <a:xfrm>
            <a:off x="646545" y="1123986"/>
            <a:ext cx="6374741" cy="2803045"/>
          </a:xfrm>
        </p:spPr>
        <p:txBody>
          <a:bodyPr/>
          <a:lstStyle/>
          <a:p>
            <a:r>
              <a:rPr lang="en-US" dirty="0"/>
              <a:t>Takes advantage of fact that DTA and dose measurement tests are complimentary in respect to their usefulness in high/low dose gradient regions</a:t>
            </a:r>
          </a:p>
          <a:p>
            <a:endParaRPr lang="en-US" dirty="0"/>
          </a:p>
          <a:p>
            <a:r>
              <a:rPr lang="en-US" dirty="0"/>
              <a:t>Binary output – does not give quantitative information</a:t>
            </a:r>
          </a:p>
          <a:p>
            <a:pPr lvl="1"/>
            <a:r>
              <a:rPr lang="en-US" dirty="0"/>
              <a:t>By how much did we fail?</a:t>
            </a:r>
          </a:p>
          <a:p>
            <a:pPr lvl="1" indent="-302895">
              <a:buClr>
                <a:srgbClr val="002243"/>
              </a:buClr>
            </a:pPr>
            <a:endParaRPr lang="en-US" sz="600" dirty="0">
              <a:solidFill>
                <a:srgbClr val="7F7F7F"/>
              </a:solidFill>
              <a:cs typeface="Arial"/>
            </a:endParaRPr>
          </a:p>
          <a:p>
            <a:pPr marL="0" indent="0">
              <a:buClr>
                <a:srgbClr val="800000"/>
              </a:buClr>
              <a:buNone/>
            </a:pPr>
            <a:endParaRPr lang="en-US" dirty="0">
              <a:solidFill>
                <a:srgbClr val="002243"/>
              </a:solidFill>
              <a:cs typeface="Arial"/>
            </a:endParaRPr>
          </a:p>
        </p:txBody>
      </p:sp>
    </p:spTree>
    <p:extLst>
      <p:ext uri="{BB962C8B-B14F-4D97-AF65-F5344CB8AC3E}">
        <p14:creationId xmlns:p14="http://schemas.microsoft.com/office/powerpoint/2010/main" val="23166147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DD0D16-E9B0-284D-FA5D-DA4AF05198F4}"/>
              </a:ext>
            </a:extLst>
          </p:cNvPr>
          <p:cNvPicPr>
            <a:picLocks noChangeAspect="1"/>
          </p:cNvPicPr>
          <p:nvPr/>
        </p:nvPicPr>
        <p:blipFill>
          <a:blip r:embed="rId2"/>
          <a:stretch>
            <a:fillRect/>
          </a:stretch>
        </p:blipFill>
        <p:spPr>
          <a:xfrm>
            <a:off x="5204182" y="3490496"/>
            <a:ext cx="4175477" cy="800214"/>
          </a:xfrm>
          <a:prstGeom prst="rect">
            <a:avLst/>
          </a:prstGeom>
        </p:spPr>
      </p:pic>
      <p:pic>
        <p:nvPicPr>
          <p:cNvPr id="4" name="Content Placeholder 7">
            <a:extLst>
              <a:ext uri="{FF2B5EF4-FFF2-40B4-BE49-F238E27FC236}">
                <a16:creationId xmlns:a16="http://schemas.microsoft.com/office/drawing/2014/main" id="{B5C64AF4-A3B7-5928-178E-B1B04817F1F4}"/>
              </a:ext>
            </a:extLst>
          </p:cNvPr>
          <p:cNvPicPr>
            <a:picLocks noChangeAspect="1"/>
          </p:cNvPicPr>
          <p:nvPr/>
        </p:nvPicPr>
        <p:blipFill rotWithShape="1">
          <a:blip r:embed="rId3"/>
          <a:srcRect t="9510"/>
          <a:stretch/>
        </p:blipFill>
        <p:spPr>
          <a:xfrm>
            <a:off x="694489" y="3399742"/>
            <a:ext cx="4596185" cy="1175205"/>
          </a:xfrm>
          <a:prstGeom prst="rect">
            <a:avLst/>
          </a:prstGeom>
        </p:spPr>
      </p:pic>
      <p:sp>
        <p:nvSpPr>
          <p:cNvPr id="2" name="Title 1"/>
          <p:cNvSpPr>
            <a:spLocks noGrp="1"/>
          </p:cNvSpPr>
          <p:nvPr>
            <p:ph type="title"/>
          </p:nvPr>
        </p:nvSpPr>
        <p:spPr>
          <a:xfrm>
            <a:off x="411480" y="347472"/>
            <a:ext cx="11074576" cy="461665"/>
          </a:xfrm>
        </p:spPr>
        <p:txBody>
          <a:bodyPr/>
          <a:lstStyle/>
          <a:p>
            <a:r>
              <a:rPr lang="en-US" dirty="0">
                <a:solidFill>
                  <a:schemeClr val="accent5">
                    <a:lumMod val="75000"/>
                  </a:schemeClr>
                </a:solidFill>
                <a:latin typeface="Arial"/>
                <a:cs typeface="Arial"/>
              </a:rPr>
              <a:t>The </a:t>
            </a:r>
            <a:r>
              <a:rPr lang="el-GR" dirty="0">
                <a:solidFill>
                  <a:schemeClr val="accent5">
                    <a:lumMod val="75000"/>
                  </a:schemeClr>
                </a:solidFill>
                <a:latin typeface="Arial"/>
                <a:cs typeface="Arial"/>
              </a:rPr>
              <a:t>γ</a:t>
            </a:r>
            <a:r>
              <a:rPr lang="en-US" dirty="0">
                <a:solidFill>
                  <a:schemeClr val="accent5">
                    <a:lumMod val="75000"/>
                  </a:schemeClr>
                </a:solidFill>
                <a:latin typeface="Arial"/>
                <a:cs typeface="Arial"/>
              </a:rPr>
              <a:t> (gamma) test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7997" y="1114750"/>
                <a:ext cx="11071946" cy="2659416"/>
              </a:xfrm>
            </p:spPr>
            <p:txBody>
              <a:bodyPr/>
              <a:lstStyle/>
              <a:p>
                <a:pPr marL="242570" indent="-242570"/>
                <a:r>
                  <a:rPr lang="en-US" dirty="0">
                    <a:cs typeface="Arial"/>
                  </a:rPr>
                  <a:t>Generalization of composite test </a:t>
                </a:r>
                <a:endParaRPr lang="en-US" dirty="0" smtClean="0">
                  <a:cs typeface="Arial"/>
                </a:endParaRPr>
              </a:p>
              <a:p>
                <a:pPr marL="660082" lvl="1" indent="-242570"/>
                <a:r>
                  <a:rPr lang="en-US" dirty="0" smtClean="0">
                    <a:cs typeface="Arial"/>
                  </a:rPr>
                  <a:t>Can </a:t>
                </a:r>
                <a:r>
                  <a:rPr lang="en-US" dirty="0">
                    <a:cs typeface="Arial"/>
                  </a:rPr>
                  <a:t>conceptualize as adding the normalized dose difference and DTA metrics in quadrature</a:t>
                </a:r>
              </a:p>
              <a:p>
                <a:pPr marL="0" indent="0">
                  <a:buNone/>
                </a:pPr>
                <a:endParaRPr lang="en-US" kern="0" dirty="0"/>
              </a:p>
              <a:p>
                <a:r>
                  <a:rPr lang="en-US" kern="0" dirty="0"/>
                  <a:t>The displacement between two points, </a:t>
                </a:r>
                <a14:m>
                  <m:oMath xmlns:m="http://schemas.openxmlformats.org/officeDocument/2006/math">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𝒓</m:t>
                            </m:r>
                          </m:e>
                        </m:acc>
                      </m:e>
                      <m:sub>
                        <m:r>
                          <a:rPr lang="en-US" b="1" i="1">
                            <a:latin typeface="Cambria Math" panose="02040503050406030204" pitchFamily="18" charset="0"/>
                          </a:rPr>
                          <m:t>𝒆</m:t>
                        </m:r>
                      </m:sub>
                    </m:sSub>
                    <m:r>
                      <a:rPr lang="en-US" b="0" i="0" smtClean="0">
                        <a:latin typeface="Cambria Math" panose="02040503050406030204" pitchFamily="18" charset="0"/>
                      </a:rPr>
                      <m:t> &amp; </m:t>
                    </m:r>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𝒓</m:t>
                            </m:r>
                          </m:e>
                        </m:acc>
                      </m:e>
                      <m:sub>
                        <m:r>
                          <a:rPr lang="en-US" b="1" i="1">
                            <a:latin typeface="Cambria Math" panose="02040503050406030204" pitchFamily="18" charset="0"/>
                          </a:rPr>
                          <m:t>𝒓</m:t>
                        </m:r>
                      </m:sub>
                    </m:sSub>
                  </m:oMath>
                </a14:m>
                <a:r>
                  <a:rPr lang="en-US" kern="0" dirty="0"/>
                  <a:t>, in the reference and evaluated distributions calculated in a “renormalized space” (divided by the dose (</a:t>
                </a:r>
                <a14:m>
                  <m:oMath xmlns:m="http://schemas.openxmlformats.org/officeDocument/2006/math">
                    <m:r>
                      <m:rPr>
                        <m:sty m:val="p"/>
                      </m:rPr>
                      <a:rPr lang="el-GR" i="1" kern="0" smtClean="0">
                        <a:latin typeface="Cambria Math" panose="02040503050406030204" pitchFamily="18" charset="0"/>
                        <a:ea typeface="Cambria Math" panose="02040503050406030204" pitchFamily="18" charset="0"/>
                      </a:rPr>
                      <m:t>Δ</m:t>
                    </m:r>
                    <m:r>
                      <m:rPr>
                        <m:sty m:val="p"/>
                      </m:rPr>
                      <a:rPr lang="en-US" b="0" i="0" kern="0" smtClean="0">
                        <a:latin typeface="Cambria Math" panose="02040503050406030204" pitchFamily="18" charset="0"/>
                        <a:ea typeface="Cambria Math" panose="02040503050406030204" pitchFamily="18" charset="0"/>
                      </a:rPr>
                      <m:t>D</m:t>
                    </m:r>
                  </m:oMath>
                </a14:m>
                <a:r>
                  <a:rPr lang="en-US" kern="0" dirty="0"/>
                  <a:t>) and DTA (</a:t>
                </a:r>
                <a14:m>
                  <m:oMath xmlns:m="http://schemas.openxmlformats.org/officeDocument/2006/math">
                    <m:r>
                      <m:rPr>
                        <m:sty m:val="p"/>
                      </m:rPr>
                      <a:rPr lang="el-GR" i="1" kern="0">
                        <a:latin typeface="Cambria Math" panose="02040503050406030204" pitchFamily="18" charset="0"/>
                        <a:ea typeface="Cambria Math" panose="02040503050406030204" pitchFamily="18" charset="0"/>
                      </a:rPr>
                      <m:t>Δ</m:t>
                    </m:r>
                  </m:oMath>
                </a14:m>
                <a:r>
                  <a:rPr lang="en-US" kern="0" dirty="0"/>
                  <a:t>d) criteria respectively)</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7997" y="1114750"/>
                <a:ext cx="11071946" cy="2659416"/>
              </a:xfrm>
              <a:blipFill>
                <a:blip r:embed="rId4"/>
                <a:stretch>
                  <a:fillRect l="-1707" t="-2064"/>
                </a:stretch>
              </a:blipFill>
            </p:spPr>
            <p:txBody>
              <a:bodyPr/>
              <a:lstStyle/>
              <a:p>
                <a:r>
                  <a:rPr lang="en-US">
                    <a:noFill/>
                  </a:rPr>
                  <a:t> </a:t>
                </a:r>
              </a:p>
            </p:txBody>
          </p:sp>
        </mc:Fallback>
      </mc:AlternateContent>
      <p:pic>
        <p:nvPicPr>
          <p:cNvPr id="6"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82494" y="4576736"/>
            <a:ext cx="1189587" cy="567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p:cNvPicPr>
            <a:picLocks noChangeAspect="1"/>
          </p:cNvPicPr>
          <p:nvPr/>
        </p:nvPicPr>
        <p:blipFill rotWithShape="1">
          <a:blip r:embed="rId6">
            <a:extLst>
              <a:ext uri="{28A0092B-C50C-407E-A947-70E740481C1C}">
                <a14:useLocalDpi xmlns:a14="http://schemas.microsoft.com/office/drawing/2010/main" val="0"/>
              </a:ext>
            </a:extLst>
          </a:blip>
          <a:srcRect b="17093"/>
          <a:stretch/>
        </p:blipFill>
        <p:spPr bwMode="auto">
          <a:xfrm>
            <a:off x="1276359" y="5109512"/>
            <a:ext cx="1376917" cy="507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bwMode="auto">
          <a:xfrm>
            <a:off x="2572081" y="4761747"/>
            <a:ext cx="61680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r>
              <a:rPr lang="en-US" sz="1800" kern="0"/>
              <a:t>Distance between the reference and evaluated point</a:t>
            </a:r>
          </a:p>
        </p:txBody>
      </p:sp>
      <p:sp>
        <p:nvSpPr>
          <p:cNvPr id="9" name="TextBox 8"/>
          <p:cNvSpPr txBox="1"/>
          <p:nvPr/>
        </p:nvSpPr>
        <p:spPr bwMode="auto">
          <a:xfrm>
            <a:off x="2572081" y="5286353"/>
            <a:ext cx="574721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pPr>
              <a:defRPr/>
            </a:pPr>
            <a:r>
              <a:rPr lang="en-US" sz="1800" kern="0"/>
              <a:t>Dose difference between reference and evaluated point</a:t>
            </a:r>
          </a:p>
        </p:txBody>
      </p:sp>
      <p:sp>
        <p:nvSpPr>
          <p:cNvPr id="10" name="TextBox 9"/>
          <p:cNvSpPr txBox="1"/>
          <p:nvPr/>
        </p:nvSpPr>
        <p:spPr bwMode="auto">
          <a:xfrm>
            <a:off x="3200400" y="6535579"/>
            <a:ext cx="545374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pPr algn="ctr"/>
            <a:r>
              <a:rPr lang="en-US" sz="1600" b="1">
                <a:solidFill>
                  <a:schemeClr val="accent5">
                    <a:lumMod val="75000"/>
                  </a:schemeClr>
                </a:solidFill>
              </a:rPr>
              <a:t>Low et al. 1998, Low et al. 2003 </a:t>
            </a:r>
          </a:p>
        </p:txBody>
      </p:sp>
    </p:spTree>
    <p:extLst>
      <p:ext uri="{BB962C8B-B14F-4D97-AF65-F5344CB8AC3E}">
        <p14:creationId xmlns:p14="http://schemas.microsoft.com/office/powerpoint/2010/main" val="30917677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96188-8E09-5AB9-CAF2-F3D8CB210136}"/>
              </a:ext>
            </a:extLst>
          </p:cNvPr>
          <p:cNvSpPr>
            <a:spLocks noGrp="1"/>
          </p:cNvSpPr>
          <p:nvPr>
            <p:ph type="title"/>
          </p:nvPr>
        </p:nvSpPr>
        <p:spPr/>
        <p:txBody>
          <a:bodyPr/>
          <a:lstStyle/>
          <a:p>
            <a:r>
              <a:rPr lang="en-US" dirty="0">
                <a:solidFill>
                  <a:schemeClr val="accent5">
                    <a:lumMod val="75000"/>
                  </a:schemeClr>
                </a:solidFill>
                <a:latin typeface="Arial"/>
                <a:cs typeface="Arial"/>
              </a:rPr>
              <a:t>The </a:t>
            </a:r>
            <a:r>
              <a:rPr lang="el-GR" dirty="0">
                <a:solidFill>
                  <a:schemeClr val="accent5">
                    <a:lumMod val="75000"/>
                  </a:schemeClr>
                </a:solidFill>
                <a:latin typeface="Arial"/>
                <a:cs typeface="Arial"/>
              </a:rPr>
              <a:t>γ</a:t>
            </a:r>
            <a:r>
              <a:rPr lang="en-US" dirty="0">
                <a:solidFill>
                  <a:schemeClr val="accent5">
                    <a:lumMod val="75000"/>
                  </a:schemeClr>
                </a:solidFill>
                <a:latin typeface="Arial"/>
                <a:cs typeface="Arial"/>
              </a:rPr>
              <a:t> (gamma) test – visual representation </a:t>
            </a:r>
            <a:endParaRPr lang="en-US" dirty="0"/>
          </a:p>
        </p:txBody>
      </p:sp>
      <p:pic>
        <p:nvPicPr>
          <p:cNvPr id="1026" name="Picture 2" descr="6: Gamma Analysis Index Illustration From D. A. Low, W. B. Harms, S.... |  Download Scientific Diagram">
            <a:extLst>
              <a:ext uri="{FF2B5EF4-FFF2-40B4-BE49-F238E27FC236}">
                <a16:creationId xmlns:a16="http://schemas.microsoft.com/office/drawing/2014/main" id="{86EAFCBB-F6E9-71E7-702D-A2AC56201E3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51723" y="1176376"/>
            <a:ext cx="4095680" cy="22526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allenges in calculation of the gamma index in radiotherapy – Towards good  practice - ScienceDirect">
            <a:extLst>
              <a:ext uri="{FF2B5EF4-FFF2-40B4-BE49-F238E27FC236}">
                <a16:creationId xmlns:a16="http://schemas.microsoft.com/office/drawing/2014/main" id="{56656034-B079-29E3-E74A-667D3C34E32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518" y="2921997"/>
            <a:ext cx="3903447" cy="28484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7DECCB5-5BB0-E297-5317-DED421407706}"/>
              </a:ext>
            </a:extLst>
          </p:cNvPr>
          <p:cNvPicPr>
            <a:picLocks noChangeAspect="1"/>
          </p:cNvPicPr>
          <p:nvPr/>
        </p:nvPicPr>
        <p:blipFill>
          <a:blip r:embed="rId4"/>
          <a:stretch>
            <a:fillRect/>
          </a:stretch>
        </p:blipFill>
        <p:spPr>
          <a:xfrm>
            <a:off x="6196625" y="1359955"/>
            <a:ext cx="5669693" cy="4343890"/>
          </a:xfrm>
          <a:prstGeom prst="rect">
            <a:avLst/>
          </a:prstGeom>
        </p:spPr>
      </p:pic>
    </p:spTree>
    <p:extLst>
      <p:ext uri="{BB962C8B-B14F-4D97-AF65-F5344CB8AC3E}">
        <p14:creationId xmlns:p14="http://schemas.microsoft.com/office/powerpoint/2010/main" val="25936609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69C5-08DA-5697-8AEA-CEC0AEB7BD3E}"/>
              </a:ext>
            </a:extLst>
          </p:cNvPr>
          <p:cNvSpPr>
            <a:spLocks noGrp="1"/>
          </p:cNvSpPr>
          <p:nvPr>
            <p:ph type="title"/>
          </p:nvPr>
        </p:nvSpPr>
        <p:spPr/>
        <p:txBody>
          <a:bodyPr/>
          <a:lstStyle/>
          <a:p>
            <a:r>
              <a:rPr lang="en-US" dirty="0">
                <a:solidFill>
                  <a:schemeClr val="accent5">
                    <a:lumMod val="75000"/>
                  </a:schemeClr>
                </a:solidFill>
                <a:latin typeface="Arial"/>
                <a:cs typeface="Arial"/>
              </a:rPr>
              <a:t>Question for the audience:</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95F1A5-4259-DD53-0BC4-7A110AE0FCF1}"/>
                  </a:ext>
                </a:extLst>
              </p:cNvPr>
              <p:cNvSpPr txBox="1"/>
              <p:nvPr/>
            </p:nvSpPr>
            <p:spPr bwMode="auto">
              <a:xfrm>
                <a:off x="1853514" y="1274564"/>
                <a:ext cx="8279027" cy="215443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r>
                  <a:rPr lang="en-US" sz="2000" b="1" dirty="0">
                    <a:solidFill>
                      <a:schemeClr val="bg1">
                        <a:lumMod val="50000"/>
                      </a:schemeClr>
                    </a:solidFill>
                  </a:rPr>
                  <a:t>When reviewing the results of a gamma analysis with a 3%/2mm criteria, you find a pair of points in the reference and evaluated distributions which yielded a dose difference of 3% and a DTA of 2 mm. What is the value of </a:t>
                </a:r>
                <a14:m>
                  <m:oMath xmlns:m="http://schemas.openxmlformats.org/officeDocument/2006/math">
                    <m:r>
                      <a:rPr lang="en-US" sz="2000" b="1">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a:t>
                </a:r>
              </a:p>
              <a:p>
                <a:pPr marL="457200" indent="-457200" algn="l">
                  <a:buFont typeface="+mj-lt"/>
                  <a:buAutoNum type="alphaUcPeriod"/>
                </a:pP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 1</a:t>
                </a:r>
              </a:p>
              <a:p>
                <a:pPr marL="457200" indent="-457200" algn="l">
                  <a:buFont typeface="+mj-lt"/>
                  <a:buAutoNum type="alphaUcPeriod"/>
                </a:pPr>
                <a:r>
                  <a:rPr lang="en-US" sz="2000" b="1" dirty="0">
                    <a:solidFill>
                      <a:schemeClr val="bg1">
                        <a:lumMod val="50000"/>
                      </a:schemeClr>
                    </a:solidFill>
                  </a:rPr>
                  <a:t>1 &lt; </a:t>
                </a: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 2</a:t>
                </a:r>
              </a:p>
              <a:p>
                <a:pPr marL="457200" indent="-457200" algn="l">
                  <a:buFont typeface="+mj-lt"/>
                  <a:buAutoNum type="alphaUcPeriod"/>
                </a:pP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&gt; 2</a:t>
                </a:r>
              </a:p>
            </p:txBody>
          </p:sp>
        </mc:Choice>
        <mc:Fallback xmlns="">
          <p:sp>
            <p:nvSpPr>
              <p:cNvPr id="4" name="TextBox 3">
                <a:extLst>
                  <a:ext uri="{FF2B5EF4-FFF2-40B4-BE49-F238E27FC236}">
                    <a16:creationId xmlns:a16="http://schemas.microsoft.com/office/drawing/2014/main" id="{0195F1A5-4259-DD53-0BC4-7A110AE0FCF1}"/>
                  </a:ext>
                </a:extLst>
              </p:cNvPr>
              <p:cNvSpPr txBox="1">
                <a:spLocks noRot="1" noChangeAspect="1" noMove="1" noResize="1" noEditPoints="1" noAdjustHandles="1" noChangeArrowheads="1" noChangeShapeType="1" noTextEdit="1"/>
              </p:cNvSpPr>
              <p:nvPr/>
            </p:nvSpPr>
            <p:spPr bwMode="auto">
              <a:xfrm>
                <a:off x="1853514" y="1274564"/>
                <a:ext cx="8279027" cy="2154436"/>
              </a:xfrm>
              <a:prstGeom prst="rect">
                <a:avLst/>
              </a:prstGeom>
              <a:blipFill>
                <a:blip r:embed="rId2"/>
                <a:stretch>
                  <a:fillRect l="-1841" t="-2260" b="-73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7147237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69C5-08DA-5697-8AEA-CEC0AEB7BD3E}"/>
              </a:ext>
            </a:extLst>
          </p:cNvPr>
          <p:cNvSpPr>
            <a:spLocks noGrp="1"/>
          </p:cNvSpPr>
          <p:nvPr>
            <p:ph type="title"/>
          </p:nvPr>
        </p:nvSpPr>
        <p:spPr/>
        <p:txBody>
          <a:bodyPr/>
          <a:lstStyle/>
          <a:p>
            <a:r>
              <a:rPr lang="en-US" dirty="0">
                <a:solidFill>
                  <a:schemeClr val="accent5">
                    <a:lumMod val="75000"/>
                  </a:schemeClr>
                </a:solidFill>
                <a:latin typeface="Arial"/>
                <a:cs typeface="Arial"/>
              </a:rPr>
              <a:t>Question for the audience:</a:t>
            </a:r>
            <a:endParaRPr lang="en-US" dirty="0"/>
          </a:p>
        </p:txBody>
      </p:sp>
      <p:grpSp>
        <p:nvGrpSpPr>
          <p:cNvPr id="31" name="Group 30">
            <a:extLst>
              <a:ext uri="{FF2B5EF4-FFF2-40B4-BE49-F238E27FC236}">
                <a16:creationId xmlns:a16="http://schemas.microsoft.com/office/drawing/2014/main" id="{D9601AF6-20D6-B73A-73B1-BBDA3DBE21A3}"/>
              </a:ext>
            </a:extLst>
          </p:cNvPr>
          <p:cNvGrpSpPr/>
          <p:nvPr/>
        </p:nvGrpSpPr>
        <p:grpSpPr>
          <a:xfrm>
            <a:off x="6444050" y="131769"/>
            <a:ext cx="4912070" cy="4766803"/>
            <a:chOff x="6607401" y="991740"/>
            <a:chExt cx="4912070" cy="4766803"/>
          </a:xfrm>
        </p:grpSpPr>
        <p:cxnSp>
          <p:nvCxnSpPr>
            <p:cNvPr id="5" name="Straight Arrow Connector 4">
              <a:extLst>
                <a:ext uri="{FF2B5EF4-FFF2-40B4-BE49-F238E27FC236}">
                  <a16:creationId xmlns:a16="http://schemas.microsoft.com/office/drawing/2014/main" id="{BFB71BC1-827F-E81A-6C36-19CEC3DFC402}"/>
                </a:ext>
              </a:extLst>
            </p:cNvPr>
            <p:cNvCxnSpPr/>
            <p:nvPr/>
          </p:nvCxnSpPr>
          <p:spPr bwMode="auto">
            <a:xfrm>
              <a:off x="8798011" y="1210962"/>
              <a:ext cx="0" cy="4547581"/>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a:extLst>
                <a:ext uri="{FF2B5EF4-FFF2-40B4-BE49-F238E27FC236}">
                  <a16:creationId xmlns:a16="http://schemas.microsoft.com/office/drawing/2014/main" id="{FC7DC84F-2D66-5769-D9B3-010DC94762B8}"/>
                </a:ext>
              </a:extLst>
            </p:cNvPr>
            <p:cNvCxnSpPr/>
            <p:nvPr/>
          </p:nvCxnSpPr>
          <p:spPr bwMode="auto">
            <a:xfrm flipH="1">
              <a:off x="6607401" y="3429000"/>
              <a:ext cx="4381220" cy="0"/>
            </a:xfrm>
            <a:prstGeom prst="straightConnector1">
              <a:avLst/>
            </a:prstGeom>
            <a:noFill/>
            <a:ln w="9525" cap="flat" cmpd="sng" algn="ctr">
              <a:solidFill>
                <a:schemeClr val="tx1"/>
              </a:solidFill>
              <a:prstDash val="solid"/>
              <a:roun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a:extLst>
                <a:ext uri="{FF2B5EF4-FFF2-40B4-BE49-F238E27FC236}">
                  <a16:creationId xmlns:a16="http://schemas.microsoft.com/office/drawing/2014/main" id="{05142984-33EB-D8DE-8161-4B76BABA8C6E}"/>
                </a:ext>
              </a:extLst>
            </p:cNvPr>
            <p:cNvSpPr txBox="1"/>
            <p:nvPr/>
          </p:nvSpPr>
          <p:spPr bwMode="auto">
            <a:xfrm>
              <a:off x="10810944" y="3578080"/>
              <a:ext cx="70852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sz="1400" b="1" dirty="0">
                  <a:solidFill>
                    <a:schemeClr val="bg1">
                      <a:lumMod val="50000"/>
                    </a:schemeClr>
                  </a:solidFill>
                </a:rPr>
                <a:t>∆d [mm]</a:t>
              </a:r>
            </a:p>
          </p:txBody>
        </p:sp>
        <p:sp>
          <p:nvSpPr>
            <p:cNvPr id="12" name="TextBox 11">
              <a:extLst>
                <a:ext uri="{FF2B5EF4-FFF2-40B4-BE49-F238E27FC236}">
                  <a16:creationId xmlns:a16="http://schemas.microsoft.com/office/drawing/2014/main" id="{33ED7724-83AC-5B8B-AE4F-B8487A18FF8C}"/>
                </a:ext>
              </a:extLst>
            </p:cNvPr>
            <p:cNvSpPr txBox="1"/>
            <p:nvPr/>
          </p:nvSpPr>
          <p:spPr bwMode="auto">
            <a:xfrm>
              <a:off x="8798011" y="991740"/>
              <a:ext cx="56906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sz="1400" b="1" dirty="0">
                  <a:solidFill>
                    <a:schemeClr val="bg1">
                      <a:lumMod val="50000"/>
                    </a:schemeClr>
                  </a:solidFill>
                </a:rPr>
                <a:t>∆D [%]</a:t>
              </a:r>
            </a:p>
          </p:txBody>
        </p:sp>
        <p:sp>
          <p:nvSpPr>
            <p:cNvPr id="13" name="Oval 12">
              <a:extLst>
                <a:ext uri="{FF2B5EF4-FFF2-40B4-BE49-F238E27FC236}">
                  <a16:creationId xmlns:a16="http://schemas.microsoft.com/office/drawing/2014/main" id="{A31B958B-4420-311A-B296-197F296DC21A}"/>
                </a:ext>
              </a:extLst>
            </p:cNvPr>
            <p:cNvSpPr/>
            <p:nvPr/>
          </p:nvSpPr>
          <p:spPr bwMode="auto">
            <a:xfrm>
              <a:off x="7883611" y="2057400"/>
              <a:ext cx="1828800" cy="2743200"/>
            </a:xfrm>
            <a:prstGeom prst="ellipse">
              <a:avLst/>
            </a:prstGeom>
            <a:solidFill>
              <a:schemeClr val="accent4">
                <a:lumMod val="40000"/>
                <a:lumOff val="60000"/>
                <a:alpha val="56126"/>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cxnSp>
          <p:nvCxnSpPr>
            <p:cNvPr id="16" name="Straight Arrow Connector 15">
              <a:extLst>
                <a:ext uri="{FF2B5EF4-FFF2-40B4-BE49-F238E27FC236}">
                  <a16:creationId xmlns:a16="http://schemas.microsoft.com/office/drawing/2014/main" id="{25B325B1-9DED-9E52-6AB6-17882E7B0298}"/>
                </a:ext>
              </a:extLst>
            </p:cNvPr>
            <p:cNvCxnSpPr>
              <a:endCxn id="13" idx="6"/>
            </p:cNvCxnSpPr>
            <p:nvPr/>
          </p:nvCxnSpPr>
          <p:spPr bwMode="auto">
            <a:xfrm>
              <a:off x="8798011" y="3429000"/>
              <a:ext cx="914400" cy="0"/>
            </a:xfrm>
            <a:prstGeom prst="straightConnector1">
              <a:avLst/>
            </a:prstGeom>
            <a:noFill/>
            <a:ln w="9525" cap="flat" cmpd="sng" algn="ctr">
              <a:solidFill>
                <a:srgbClr val="00B050"/>
              </a:solidFill>
              <a:prstDash val="dash"/>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AF0A71A2-5064-2E34-0A76-55138A7B0EA7}"/>
                </a:ext>
              </a:extLst>
            </p:cNvPr>
            <p:cNvCxnSpPr>
              <a:endCxn id="13" idx="0"/>
            </p:cNvCxnSpPr>
            <p:nvPr/>
          </p:nvCxnSpPr>
          <p:spPr bwMode="auto">
            <a:xfrm flipV="1">
              <a:off x="8798011" y="2057400"/>
              <a:ext cx="0" cy="1371600"/>
            </a:xfrm>
            <a:prstGeom prst="straightConnector1">
              <a:avLst/>
            </a:prstGeom>
            <a:noFill/>
            <a:ln w="9525" cap="flat" cmpd="sng" algn="ctr">
              <a:solidFill>
                <a:srgbClr val="00B050"/>
              </a:solidFill>
              <a:prstDash val="dash"/>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598BEC82-5E29-0D2B-EB3F-EDA84060B381}"/>
                </a:ext>
              </a:extLst>
            </p:cNvPr>
            <p:cNvSpPr txBox="1"/>
            <p:nvPr/>
          </p:nvSpPr>
          <p:spPr bwMode="auto">
            <a:xfrm>
              <a:off x="8538325" y="2635478"/>
              <a:ext cx="25968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a:solidFill>
                    <a:srgbClr val="00B050"/>
                  </a:solidFill>
                </a:rPr>
                <a:t>3%</a:t>
              </a:r>
              <a:endParaRPr lang="en-US" sz="1400" b="1" dirty="0">
                <a:solidFill>
                  <a:srgbClr val="00B050"/>
                </a:solidFill>
              </a:endParaRPr>
            </a:p>
          </p:txBody>
        </p:sp>
        <p:sp>
          <p:nvSpPr>
            <p:cNvPr id="20" name="TextBox 19">
              <a:extLst>
                <a:ext uri="{FF2B5EF4-FFF2-40B4-BE49-F238E27FC236}">
                  <a16:creationId xmlns:a16="http://schemas.microsoft.com/office/drawing/2014/main" id="{4EDFEAF5-DCAC-9914-4C17-E15F7D5E15F9}"/>
                </a:ext>
              </a:extLst>
            </p:cNvPr>
            <p:cNvSpPr txBox="1"/>
            <p:nvPr/>
          </p:nvSpPr>
          <p:spPr bwMode="auto">
            <a:xfrm>
              <a:off x="9004007" y="3429000"/>
              <a:ext cx="46968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b="1" dirty="0">
                  <a:solidFill>
                    <a:srgbClr val="00B050"/>
                  </a:solidFill>
                </a:rPr>
                <a:t>2 mm</a:t>
              </a:r>
              <a:endParaRPr lang="en-US" sz="1400" b="1" dirty="0">
                <a:solidFill>
                  <a:srgbClr val="00B050"/>
                </a:solidFill>
              </a:endParaRPr>
            </a:p>
          </p:txBody>
        </p:sp>
        <p:cxnSp>
          <p:nvCxnSpPr>
            <p:cNvPr id="21" name="Straight Arrow Connector 20">
              <a:extLst>
                <a:ext uri="{FF2B5EF4-FFF2-40B4-BE49-F238E27FC236}">
                  <a16:creationId xmlns:a16="http://schemas.microsoft.com/office/drawing/2014/main" id="{EE1DF481-60C9-2ADF-FBCE-BD81BF214A07}"/>
                </a:ext>
              </a:extLst>
            </p:cNvPr>
            <p:cNvCxnSpPr/>
            <p:nvPr/>
          </p:nvCxnSpPr>
          <p:spPr bwMode="auto">
            <a:xfrm flipV="1">
              <a:off x="8800365" y="2155371"/>
              <a:ext cx="912046" cy="1273629"/>
            </a:xfrm>
            <a:prstGeom prst="straightConnector1">
              <a:avLst/>
            </a:prstGeom>
            <a:noFill/>
            <a:ln w="9525" cap="flat" cmpd="sng" algn="ctr">
              <a:solidFill>
                <a:schemeClr val="tx2">
                  <a:lumMod val="60000"/>
                  <a:lumOff val="40000"/>
                </a:schemeClr>
              </a:solidFill>
              <a:prstDash val="dash"/>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6" name="Graphic 25" descr="Target outline">
              <a:extLst>
                <a:ext uri="{FF2B5EF4-FFF2-40B4-BE49-F238E27FC236}">
                  <a16:creationId xmlns:a16="http://schemas.microsoft.com/office/drawing/2014/main" id="{E7E291B3-3D34-1128-ABC7-AE99024483E2}"/>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573653" y="2057399"/>
              <a:ext cx="241756" cy="241756"/>
            </a:xfrm>
            <a:prstGeom prst="rect">
              <a:avLst/>
            </a:prstGeom>
          </p:spPr>
        </p:pic>
        <p:sp>
          <p:nvSpPr>
            <p:cNvPr id="27" name="TextBox 26">
              <a:extLst>
                <a:ext uri="{FF2B5EF4-FFF2-40B4-BE49-F238E27FC236}">
                  <a16:creationId xmlns:a16="http://schemas.microsoft.com/office/drawing/2014/main" id="{6BF5DE81-E714-00D2-D32D-05380D403A44}"/>
                </a:ext>
              </a:extLst>
            </p:cNvPr>
            <p:cNvSpPr txBox="1"/>
            <p:nvPr/>
          </p:nvSpPr>
          <p:spPr bwMode="auto">
            <a:xfrm>
              <a:off x="9815409" y="2050529"/>
              <a:ext cx="94737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sz="1400" b="1" dirty="0">
                  <a:solidFill>
                    <a:schemeClr val="tx2">
                      <a:lumMod val="40000"/>
                      <a:lumOff val="60000"/>
                    </a:schemeClr>
                  </a:solidFill>
                </a:rPr>
                <a:t>(2 mm, 3%)</a:t>
              </a:r>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1539B46-7EB2-0CE0-DC74-7846E880FC82}"/>
                  </a:ext>
                </a:extLst>
              </p:cNvPr>
              <p:cNvSpPr txBox="1"/>
              <p:nvPr/>
            </p:nvSpPr>
            <p:spPr bwMode="auto">
              <a:xfrm>
                <a:off x="665230" y="1250483"/>
                <a:ext cx="5082722" cy="276998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pPr algn="l"/>
                <a:r>
                  <a:rPr lang="en-US" sz="2000" b="1" dirty="0">
                    <a:solidFill>
                      <a:schemeClr val="bg1">
                        <a:lumMod val="50000"/>
                      </a:schemeClr>
                    </a:solidFill>
                  </a:rPr>
                  <a:t>When reviewing the results of a gamma analysis with a 3%/2mm criteria, you find a pair of points in the reference and evaluated distributions which yielded a dose difference of 3% and a DTA of 2 mm. What is the value of </a:t>
                </a: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a:t>
                </a:r>
              </a:p>
              <a:p>
                <a:pPr marL="457200" indent="-457200" algn="l">
                  <a:buFont typeface="+mj-lt"/>
                  <a:buAutoNum type="alphaUcPeriod"/>
                </a:pP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 1</a:t>
                </a:r>
              </a:p>
              <a:p>
                <a:pPr marL="457200" indent="-457200" algn="l">
                  <a:buFont typeface="+mj-lt"/>
                  <a:buAutoNum type="alphaUcPeriod"/>
                </a:pPr>
                <a:r>
                  <a:rPr lang="en-US" sz="2000" b="1" dirty="0">
                    <a:solidFill>
                      <a:schemeClr val="bg1">
                        <a:lumMod val="50000"/>
                      </a:schemeClr>
                    </a:solidFill>
                  </a:rPr>
                  <a:t>1 &lt; </a:t>
                </a: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 2</a:t>
                </a:r>
              </a:p>
              <a:p>
                <a:pPr marL="457200" indent="-457200" algn="l">
                  <a:buFont typeface="+mj-lt"/>
                  <a:buAutoNum type="alphaUcPeriod"/>
                </a:pPr>
                <a14:m>
                  <m:oMath xmlns:m="http://schemas.openxmlformats.org/officeDocument/2006/math">
                    <m:r>
                      <a:rPr lang="en-US" sz="2000" b="1" i="0" smtClean="0">
                        <a:solidFill>
                          <a:schemeClr val="bg1">
                            <a:lumMod val="50000"/>
                          </a:schemeClr>
                        </a:solidFill>
                        <a:latin typeface="Cambria Math" panose="02040503050406030204" pitchFamily="18" charset="0"/>
                      </a:rPr>
                      <m:t>𝚪</m:t>
                    </m:r>
                  </m:oMath>
                </a14:m>
                <a:r>
                  <a:rPr lang="en-US" sz="2000" b="1" dirty="0">
                    <a:solidFill>
                      <a:schemeClr val="bg1">
                        <a:lumMod val="50000"/>
                      </a:schemeClr>
                    </a:solidFill>
                  </a:rPr>
                  <a:t> &gt; 2</a:t>
                </a:r>
              </a:p>
            </p:txBody>
          </p:sp>
        </mc:Choice>
        <mc:Fallback xmlns="">
          <p:sp>
            <p:nvSpPr>
              <p:cNvPr id="28" name="TextBox 27">
                <a:extLst>
                  <a:ext uri="{FF2B5EF4-FFF2-40B4-BE49-F238E27FC236}">
                    <a16:creationId xmlns:a16="http://schemas.microsoft.com/office/drawing/2014/main" id="{F1539B46-7EB2-0CE0-DC74-7846E880FC82}"/>
                  </a:ext>
                </a:extLst>
              </p:cNvPr>
              <p:cNvSpPr txBox="1">
                <a:spLocks noRot="1" noChangeAspect="1" noMove="1" noResize="1" noEditPoints="1" noAdjustHandles="1" noChangeArrowheads="1" noChangeShapeType="1" noTextEdit="1"/>
              </p:cNvSpPr>
              <p:nvPr/>
            </p:nvSpPr>
            <p:spPr bwMode="auto">
              <a:xfrm>
                <a:off x="665230" y="1250483"/>
                <a:ext cx="5082722" cy="2769989"/>
              </a:xfrm>
              <a:prstGeom prst="rect">
                <a:avLst/>
              </a:prstGeom>
              <a:blipFill>
                <a:blip r:embed="rId4"/>
                <a:stretch>
                  <a:fillRect l="-2993" t="-1826" r="-3491" b="-547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78A6996-6890-685E-BC54-13DDDEAD8B80}"/>
                  </a:ext>
                </a:extLst>
              </p:cNvPr>
              <p:cNvSpPr txBox="1"/>
              <p:nvPr/>
            </p:nvSpPr>
            <p:spPr bwMode="auto">
              <a:xfrm>
                <a:off x="933781" y="4391417"/>
                <a:ext cx="3091616" cy="81836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14:m>
                  <m:oMathPara xmlns:m="http://schemas.openxmlformats.org/officeDocument/2006/math">
                    <m:oMathParaPr>
                      <m:jc m:val="centerGroup"/>
                    </m:oMathParaPr>
                    <m:oMath xmlns:m="http://schemas.openxmlformats.org/officeDocument/2006/math">
                      <m:r>
                        <a:rPr lang="en-US" sz="1800" b="1" i="0" smtClean="0">
                          <a:solidFill>
                            <a:schemeClr val="bg1">
                              <a:lumMod val="50000"/>
                            </a:schemeClr>
                          </a:solidFill>
                          <a:latin typeface="Cambria Math" panose="02040503050406030204" pitchFamily="18" charset="0"/>
                        </a:rPr>
                        <m:t>𝚪</m:t>
                      </m:r>
                      <m:r>
                        <a:rPr lang="en-US" sz="1800" b="1" i="0" smtClean="0">
                          <a:solidFill>
                            <a:schemeClr val="bg1">
                              <a:lumMod val="50000"/>
                            </a:schemeClr>
                          </a:solidFill>
                          <a:latin typeface="Cambria Math" panose="02040503050406030204" pitchFamily="18" charset="0"/>
                        </a:rPr>
                        <m:t>=</m:t>
                      </m:r>
                      <m:rad>
                        <m:radPr>
                          <m:degHide m:val="on"/>
                          <m:ctrlPr>
                            <a:rPr lang="en-US" sz="1800" b="1" i="1" smtClean="0">
                              <a:solidFill>
                                <a:schemeClr val="bg1">
                                  <a:lumMod val="50000"/>
                                </a:schemeClr>
                              </a:solidFill>
                              <a:latin typeface="Cambria Math" panose="02040503050406030204" pitchFamily="18" charset="0"/>
                            </a:rPr>
                          </m:ctrlPr>
                        </m:radPr>
                        <m:deg/>
                        <m:e>
                          <m:f>
                            <m:fPr>
                              <m:ctrlPr>
                                <a:rPr lang="en-US" sz="1800" b="1" i="1" smtClean="0">
                                  <a:solidFill>
                                    <a:schemeClr val="bg1">
                                      <a:lumMod val="50000"/>
                                    </a:schemeClr>
                                  </a:solidFill>
                                  <a:latin typeface="Cambria Math" panose="02040503050406030204" pitchFamily="18" charset="0"/>
                                </a:rPr>
                              </m:ctrlPr>
                            </m:fPr>
                            <m:num>
                              <m:sSup>
                                <m:sSupPr>
                                  <m:ctrlPr>
                                    <a:rPr lang="en-US" sz="1800" b="1" i="1" smtClean="0">
                                      <a:solidFill>
                                        <a:schemeClr val="bg1">
                                          <a:lumMod val="50000"/>
                                        </a:schemeClr>
                                      </a:solidFill>
                                      <a:latin typeface="Cambria Math" panose="02040503050406030204" pitchFamily="18" charset="0"/>
                                    </a:rPr>
                                  </m:ctrlPr>
                                </m:sSupPr>
                                <m:e>
                                  <m:d>
                                    <m:dPr>
                                      <m:ctrlPr>
                                        <a:rPr lang="en-US" sz="1800" b="1" i="1" smtClean="0">
                                          <a:solidFill>
                                            <a:schemeClr val="bg1">
                                              <a:lumMod val="50000"/>
                                            </a:schemeClr>
                                          </a:solidFill>
                                          <a:latin typeface="Cambria Math" panose="02040503050406030204" pitchFamily="18" charset="0"/>
                                        </a:rPr>
                                      </m:ctrlPr>
                                    </m:dPr>
                                    <m:e>
                                      <m:r>
                                        <a:rPr lang="en-US" sz="1800" b="1" i="1" smtClean="0">
                                          <a:solidFill>
                                            <a:schemeClr val="bg1">
                                              <a:lumMod val="50000"/>
                                            </a:schemeClr>
                                          </a:solidFill>
                                          <a:latin typeface="Cambria Math" panose="02040503050406030204" pitchFamily="18" charset="0"/>
                                        </a:rPr>
                                        <m:t>𝟑</m:t>
                                      </m:r>
                                      <m:r>
                                        <a:rPr lang="en-US" sz="1800" b="1" i="1" smtClean="0">
                                          <a:solidFill>
                                            <a:schemeClr val="bg1">
                                              <a:lumMod val="50000"/>
                                            </a:schemeClr>
                                          </a:solidFill>
                                          <a:latin typeface="Cambria Math" panose="02040503050406030204" pitchFamily="18" charset="0"/>
                                        </a:rPr>
                                        <m:t>%</m:t>
                                      </m:r>
                                    </m:e>
                                  </m:d>
                                </m:e>
                                <m:sup>
                                  <m:r>
                                    <a:rPr lang="en-US" sz="1800" b="1" i="1" smtClean="0">
                                      <a:solidFill>
                                        <a:schemeClr val="bg1">
                                          <a:lumMod val="50000"/>
                                        </a:schemeClr>
                                      </a:solidFill>
                                      <a:latin typeface="Cambria Math" panose="02040503050406030204" pitchFamily="18" charset="0"/>
                                    </a:rPr>
                                    <m:t>𝟐</m:t>
                                  </m:r>
                                </m:sup>
                              </m:sSup>
                            </m:num>
                            <m:den>
                              <m:sSup>
                                <m:sSupPr>
                                  <m:ctrlPr>
                                    <a:rPr lang="en-US" sz="1800" b="1" i="1" smtClean="0">
                                      <a:solidFill>
                                        <a:schemeClr val="bg1">
                                          <a:lumMod val="50000"/>
                                        </a:schemeClr>
                                      </a:solidFill>
                                      <a:latin typeface="Cambria Math" panose="02040503050406030204" pitchFamily="18" charset="0"/>
                                    </a:rPr>
                                  </m:ctrlPr>
                                </m:sSupPr>
                                <m:e>
                                  <m:d>
                                    <m:dPr>
                                      <m:ctrlPr>
                                        <a:rPr lang="en-US" sz="1800" b="1" i="1" smtClean="0">
                                          <a:solidFill>
                                            <a:schemeClr val="bg1">
                                              <a:lumMod val="50000"/>
                                            </a:schemeClr>
                                          </a:solidFill>
                                          <a:latin typeface="Cambria Math" panose="02040503050406030204" pitchFamily="18" charset="0"/>
                                        </a:rPr>
                                      </m:ctrlPr>
                                    </m:dPr>
                                    <m:e>
                                      <m:r>
                                        <a:rPr lang="en-US" sz="1800" b="1" i="1" smtClean="0">
                                          <a:solidFill>
                                            <a:schemeClr val="bg1">
                                              <a:lumMod val="50000"/>
                                            </a:schemeClr>
                                          </a:solidFill>
                                          <a:latin typeface="Cambria Math" panose="02040503050406030204" pitchFamily="18" charset="0"/>
                                        </a:rPr>
                                        <m:t>𝟑</m:t>
                                      </m:r>
                                      <m:r>
                                        <a:rPr lang="en-US" sz="1800" b="1" i="1" smtClean="0">
                                          <a:solidFill>
                                            <a:schemeClr val="bg1">
                                              <a:lumMod val="50000"/>
                                            </a:schemeClr>
                                          </a:solidFill>
                                          <a:latin typeface="Cambria Math" panose="02040503050406030204" pitchFamily="18" charset="0"/>
                                        </a:rPr>
                                        <m:t>%</m:t>
                                      </m:r>
                                    </m:e>
                                  </m:d>
                                </m:e>
                                <m:sup>
                                  <m:r>
                                    <a:rPr lang="en-US" sz="1800" b="1" i="1" smtClean="0">
                                      <a:solidFill>
                                        <a:schemeClr val="bg1">
                                          <a:lumMod val="50000"/>
                                        </a:schemeClr>
                                      </a:solidFill>
                                      <a:latin typeface="Cambria Math" panose="02040503050406030204" pitchFamily="18" charset="0"/>
                                    </a:rPr>
                                    <m:t>𝟐</m:t>
                                  </m:r>
                                </m:sup>
                              </m:sSup>
                            </m:den>
                          </m:f>
                          <m:r>
                            <a:rPr lang="en-US" sz="1800" b="1" i="1" smtClean="0">
                              <a:solidFill>
                                <a:schemeClr val="bg1">
                                  <a:lumMod val="50000"/>
                                </a:schemeClr>
                              </a:solidFill>
                              <a:latin typeface="Cambria Math" panose="02040503050406030204" pitchFamily="18" charset="0"/>
                            </a:rPr>
                            <m:t>+</m:t>
                          </m:r>
                          <m:f>
                            <m:fPr>
                              <m:ctrlPr>
                                <a:rPr lang="en-US" sz="1800" b="1" i="1" smtClean="0">
                                  <a:solidFill>
                                    <a:schemeClr val="bg1">
                                      <a:lumMod val="50000"/>
                                    </a:schemeClr>
                                  </a:solidFill>
                                  <a:latin typeface="Cambria Math" panose="02040503050406030204" pitchFamily="18" charset="0"/>
                                </a:rPr>
                              </m:ctrlPr>
                            </m:fPr>
                            <m:num>
                              <m:sSup>
                                <m:sSupPr>
                                  <m:ctrlPr>
                                    <a:rPr lang="en-US" sz="1800" b="1" i="1" smtClean="0">
                                      <a:solidFill>
                                        <a:schemeClr val="bg1">
                                          <a:lumMod val="50000"/>
                                        </a:schemeClr>
                                      </a:solidFill>
                                      <a:latin typeface="Cambria Math" panose="02040503050406030204" pitchFamily="18" charset="0"/>
                                    </a:rPr>
                                  </m:ctrlPr>
                                </m:sSupPr>
                                <m:e>
                                  <m:d>
                                    <m:dPr>
                                      <m:ctrlPr>
                                        <a:rPr lang="en-US" sz="1800" b="1" i="1" smtClean="0">
                                          <a:solidFill>
                                            <a:schemeClr val="bg1">
                                              <a:lumMod val="50000"/>
                                            </a:schemeClr>
                                          </a:solidFill>
                                          <a:latin typeface="Cambria Math" panose="02040503050406030204" pitchFamily="18" charset="0"/>
                                        </a:rPr>
                                      </m:ctrlPr>
                                    </m:dPr>
                                    <m:e>
                                      <m:r>
                                        <a:rPr lang="en-US" sz="1800" b="1" i="0" smtClean="0">
                                          <a:solidFill>
                                            <a:schemeClr val="bg1">
                                              <a:lumMod val="50000"/>
                                            </a:schemeClr>
                                          </a:solidFill>
                                          <a:latin typeface="Cambria Math" panose="02040503050406030204" pitchFamily="18" charset="0"/>
                                        </a:rPr>
                                        <m:t>𝟐</m:t>
                                      </m:r>
                                      <m:r>
                                        <a:rPr lang="en-US" sz="1800" b="1" i="0" smtClean="0">
                                          <a:solidFill>
                                            <a:schemeClr val="bg1">
                                              <a:lumMod val="50000"/>
                                            </a:schemeClr>
                                          </a:solidFill>
                                          <a:latin typeface="Cambria Math" panose="02040503050406030204" pitchFamily="18" charset="0"/>
                                        </a:rPr>
                                        <m:t> </m:t>
                                      </m:r>
                                      <m:r>
                                        <a:rPr lang="en-US" sz="1800" b="1" i="0" smtClean="0">
                                          <a:solidFill>
                                            <a:schemeClr val="bg1">
                                              <a:lumMod val="50000"/>
                                            </a:schemeClr>
                                          </a:solidFill>
                                          <a:latin typeface="Cambria Math" panose="02040503050406030204" pitchFamily="18" charset="0"/>
                                        </a:rPr>
                                        <m:t>𝐦𝐦</m:t>
                                      </m:r>
                                    </m:e>
                                  </m:d>
                                </m:e>
                                <m:sup>
                                  <m:r>
                                    <a:rPr lang="en-US" sz="1800" b="1" i="1" smtClean="0">
                                      <a:solidFill>
                                        <a:schemeClr val="bg1">
                                          <a:lumMod val="50000"/>
                                        </a:schemeClr>
                                      </a:solidFill>
                                      <a:latin typeface="Cambria Math" panose="02040503050406030204" pitchFamily="18" charset="0"/>
                                    </a:rPr>
                                    <m:t>𝟐</m:t>
                                  </m:r>
                                </m:sup>
                              </m:sSup>
                            </m:num>
                            <m:den>
                              <m:sSup>
                                <m:sSupPr>
                                  <m:ctrlPr>
                                    <a:rPr lang="en-US" sz="1800" b="1" i="1" smtClean="0">
                                      <a:solidFill>
                                        <a:schemeClr val="bg1">
                                          <a:lumMod val="50000"/>
                                        </a:schemeClr>
                                      </a:solidFill>
                                      <a:latin typeface="Cambria Math" panose="02040503050406030204" pitchFamily="18" charset="0"/>
                                    </a:rPr>
                                  </m:ctrlPr>
                                </m:sSupPr>
                                <m:e>
                                  <m:d>
                                    <m:dPr>
                                      <m:ctrlPr>
                                        <a:rPr lang="en-US" sz="1800" b="1" i="1" smtClean="0">
                                          <a:solidFill>
                                            <a:schemeClr val="bg1">
                                              <a:lumMod val="50000"/>
                                            </a:schemeClr>
                                          </a:solidFill>
                                          <a:latin typeface="Cambria Math" panose="02040503050406030204" pitchFamily="18" charset="0"/>
                                        </a:rPr>
                                      </m:ctrlPr>
                                    </m:dPr>
                                    <m:e>
                                      <m:r>
                                        <a:rPr lang="en-US" sz="1800" b="1" i="0" smtClean="0">
                                          <a:solidFill>
                                            <a:schemeClr val="bg1">
                                              <a:lumMod val="50000"/>
                                            </a:schemeClr>
                                          </a:solidFill>
                                          <a:latin typeface="Cambria Math" panose="02040503050406030204" pitchFamily="18" charset="0"/>
                                        </a:rPr>
                                        <m:t>𝟐</m:t>
                                      </m:r>
                                      <m:r>
                                        <a:rPr lang="en-US" sz="1800" b="1" i="0" smtClean="0">
                                          <a:solidFill>
                                            <a:schemeClr val="bg1">
                                              <a:lumMod val="50000"/>
                                            </a:schemeClr>
                                          </a:solidFill>
                                          <a:latin typeface="Cambria Math" panose="02040503050406030204" pitchFamily="18" charset="0"/>
                                        </a:rPr>
                                        <m:t> </m:t>
                                      </m:r>
                                      <m:r>
                                        <a:rPr lang="en-US" sz="1800" b="1" i="0" smtClean="0">
                                          <a:solidFill>
                                            <a:schemeClr val="bg1">
                                              <a:lumMod val="50000"/>
                                            </a:schemeClr>
                                          </a:solidFill>
                                          <a:latin typeface="Cambria Math" panose="02040503050406030204" pitchFamily="18" charset="0"/>
                                        </a:rPr>
                                        <m:t>𝐦𝐦</m:t>
                                      </m:r>
                                    </m:e>
                                  </m:d>
                                </m:e>
                                <m:sup>
                                  <m:r>
                                    <a:rPr lang="en-US" sz="1800" b="1" i="1" smtClean="0">
                                      <a:solidFill>
                                        <a:schemeClr val="bg1">
                                          <a:lumMod val="50000"/>
                                        </a:schemeClr>
                                      </a:solidFill>
                                      <a:latin typeface="Cambria Math" panose="02040503050406030204" pitchFamily="18" charset="0"/>
                                    </a:rPr>
                                    <m:t>𝟐</m:t>
                                  </m:r>
                                </m:sup>
                              </m:sSup>
                            </m:den>
                          </m:f>
                        </m:e>
                      </m:rad>
                      <m:r>
                        <a:rPr lang="en-US" sz="1800" b="1" i="0" smtClean="0">
                          <a:solidFill>
                            <a:schemeClr val="bg1">
                              <a:lumMod val="50000"/>
                            </a:schemeClr>
                          </a:solidFill>
                          <a:latin typeface="Cambria Math" panose="02040503050406030204" pitchFamily="18" charset="0"/>
                        </a:rPr>
                        <m:t>=</m:t>
                      </m:r>
                      <m:rad>
                        <m:radPr>
                          <m:degHide m:val="on"/>
                          <m:ctrlPr>
                            <a:rPr lang="en-US" sz="1800" b="1" i="1" smtClean="0">
                              <a:solidFill>
                                <a:schemeClr val="bg1">
                                  <a:lumMod val="50000"/>
                                </a:schemeClr>
                              </a:solidFill>
                              <a:latin typeface="Cambria Math" panose="02040503050406030204" pitchFamily="18" charset="0"/>
                            </a:rPr>
                          </m:ctrlPr>
                        </m:radPr>
                        <m:deg/>
                        <m:e>
                          <m:r>
                            <a:rPr lang="en-US" sz="1800" b="1" i="1" smtClean="0">
                              <a:solidFill>
                                <a:schemeClr val="bg1">
                                  <a:lumMod val="50000"/>
                                </a:schemeClr>
                              </a:solidFill>
                              <a:latin typeface="Cambria Math" panose="02040503050406030204" pitchFamily="18" charset="0"/>
                            </a:rPr>
                            <m:t>𝟐</m:t>
                          </m:r>
                        </m:e>
                      </m:rad>
                    </m:oMath>
                  </m:oMathPara>
                </a14:m>
                <a:endParaRPr lang="en-US" sz="1800" b="1" dirty="0">
                  <a:solidFill>
                    <a:schemeClr val="bg1">
                      <a:lumMod val="50000"/>
                    </a:schemeClr>
                  </a:solidFill>
                </a:endParaRPr>
              </a:p>
            </p:txBody>
          </p:sp>
        </mc:Choice>
        <mc:Fallback xmlns="">
          <p:sp>
            <p:nvSpPr>
              <p:cNvPr id="29" name="TextBox 28">
                <a:extLst>
                  <a:ext uri="{FF2B5EF4-FFF2-40B4-BE49-F238E27FC236}">
                    <a16:creationId xmlns:a16="http://schemas.microsoft.com/office/drawing/2014/main" id="{278A6996-6890-685E-BC54-13DDDEAD8B80}"/>
                  </a:ext>
                </a:extLst>
              </p:cNvPr>
              <p:cNvSpPr txBox="1">
                <a:spLocks noRot="1" noChangeAspect="1" noMove="1" noResize="1" noEditPoints="1" noAdjustHandles="1" noChangeArrowheads="1" noChangeShapeType="1" noTextEdit="1"/>
              </p:cNvSpPr>
              <p:nvPr/>
            </p:nvSpPr>
            <p:spPr bwMode="auto">
              <a:xfrm>
                <a:off x="933781" y="4391417"/>
                <a:ext cx="3091616" cy="818366"/>
              </a:xfrm>
              <a:prstGeom prst="rect">
                <a:avLst/>
              </a:prstGeom>
              <a:blipFill>
                <a:blip r:embed="rId5"/>
                <a:stretch>
                  <a:fillRect l="-820" r="-1230" b="-30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2" name="TextBox 31">
            <a:extLst>
              <a:ext uri="{FF2B5EF4-FFF2-40B4-BE49-F238E27FC236}">
                <a16:creationId xmlns:a16="http://schemas.microsoft.com/office/drawing/2014/main" id="{59D12D0F-E967-B37C-997F-1DEC1CA897F8}"/>
              </a:ext>
            </a:extLst>
          </p:cNvPr>
          <p:cNvSpPr txBox="1"/>
          <p:nvPr/>
        </p:nvSpPr>
        <p:spPr bwMode="auto">
          <a:xfrm>
            <a:off x="6329533" y="5263344"/>
            <a:ext cx="48122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b" anchorCtr="0" compatLnSpc="1">
            <a:prstTxWarp prst="textNoShape">
              <a:avLst/>
            </a:prstTxWarp>
            <a:spAutoFit/>
          </a:bodyPr>
          <a:lstStyle/>
          <a:p>
            <a:pPr algn="l"/>
            <a:r>
              <a:rPr lang="en-US" sz="2000" b="1" dirty="0">
                <a:solidFill>
                  <a:schemeClr val="bg1">
                    <a:lumMod val="50000"/>
                  </a:schemeClr>
                </a:solidFill>
                <a:highlight>
                  <a:srgbClr val="FFFF00"/>
                </a:highlight>
              </a:rPr>
              <a:t>Bonus: Does this mean this point fails?</a:t>
            </a:r>
          </a:p>
        </p:txBody>
      </p:sp>
      <p:sp>
        <p:nvSpPr>
          <p:cNvPr id="33" name="Rectangle 32">
            <a:extLst>
              <a:ext uri="{FF2B5EF4-FFF2-40B4-BE49-F238E27FC236}">
                <a16:creationId xmlns:a16="http://schemas.microsoft.com/office/drawing/2014/main" id="{3A79CED7-4172-ABDF-469A-A237A2893165}"/>
              </a:ext>
            </a:extLst>
          </p:cNvPr>
          <p:cNvSpPr/>
          <p:nvPr/>
        </p:nvSpPr>
        <p:spPr bwMode="auto">
          <a:xfrm>
            <a:off x="933781" y="3429000"/>
            <a:ext cx="1417533" cy="272143"/>
          </a:xfrm>
          <a:prstGeom prst="rect">
            <a:avLst/>
          </a:prstGeom>
          <a:solidFill>
            <a:schemeClr val="accent4">
              <a:lumMod val="40000"/>
              <a:lumOff val="60000"/>
              <a:alpha val="39000"/>
            </a:schemeClr>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6177569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Gamma Index Values and their relation to DTA/DD</a:t>
            </a:r>
            <a:endParaRPr lang="en-US" dirty="0"/>
          </a:p>
        </p:txBody>
      </p:sp>
      <p:sp>
        <p:nvSpPr>
          <p:cNvPr id="4" name="Content Placeholder 3"/>
          <p:cNvSpPr>
            <a:spLocks noGrp="1"/>
          </p:cNvSpPr>
          <p:nvPr>
            <p:ph idx="1"/>
          </p:nvPr>
        </p:nvSpPr>
        <p:spPr>
          <a:xfrm>
            <a:off x="607997" y="1114750"/>
            <a:ext cx="11071946" cy="5044684"/>
          </a:xfrm>
        </p:spPr>
        <p:txBody>
          <a:bodyPr/>
          <a:lstStyle/>
          <a:p>
            <a:r>
              <a:rPr lang="en-US" b="1" dirty="0" smtClean="0"/>
              <a:t>For 3%/3mm criteria:</a:t>
            </a:r>
          </a:p>
          <a:p>
            <a:endParaRPr lang="en-US" b="1" dirty="0"/>
          </a:p>
          <a:p>
            <a:r>
              <a:rPr lang="en-US" dirty="0" smtClean="0"/>
              <a:t>DTA = 0 mm	|  DD = 1%  |  </a:t>
            </a:r>
            <a:r>
              <a:rPr lang="el-GR" dirty="0" smtClean="0"/>
              <a:t>γ</a:t>
            </a:r>
            <a:r>
              <a:rPr lang="en-US" dirty="0" smtClean="0"/>
              <a:t> = 0.33</a:t>
            </a:r>
          </a:p>
          <a:p>
            <a:r>
              <a:rPr lang="en-US" dirty="0" smtClean="0"/>
              <a:t>DTA = 1 mm	|  DD = 1%  |  </a:t>
            </a:r>
            <a:r>
              <a:rPr lang="el-GR" dirty="0" smtClean="0"/>
              <a:t>γ</a:t>
            </a:r>
            <a:r>
              <a:rPr lang="en-US" dirty="0" smtClean="0"/>
              <a:t> </a:t>
            </a:r>
            <a:r>
              <a:rPr lang="en-US" dirty="0"/>
              <a:t>= </a:t>
            </a:r>
            <a:r>
              <a:rPr lang="en-US" dirty="0" smtClean="0"/>
              <a:t>0.47</a:t>
            </a:r>
          </a:p>
          <a:p>
            <a:r>
              <a:rPr lang="en-US" dirty="0" smtClean="0"/>
              <a:t>DTA </a:t>
            </a:r>
            <a:r>
              <a:rPr lang="en-US" dirty="0"/>
              <a:t>= </a:t>
            </a:r>
            <a:r>
              <a:rPr lang="en-US" dirty="0" smtClean="0"/>
              <a:t>2 </a:t>
            </a:r>
            <a:r>
              <a:rPr lang="en-US" dirty="0"/>
              <a:t>mm	|  DD = 1%  |  </a:t>
            </a:r>
            <a:r>
              <a:rPr lang="el-GR" dirty="0"/>
              <a:t>γ</a:t>
            </a:r>
            <a:r>
              <a:rPr lang="en-US" dirty="0"/>
              <a:t> = </a:t>
            </a:r>
            <a:r>
              <a:rPr lang="en-US" dirty="0" smtClean="0"/>
              <a:t>0.75</a:t>
            </a:r>
          </a:p>
          <a:p>
            <a:r>
              <a:rPr lang="en-US" dirty="0"/>
              <a:t>DTA = </a:t>
            </a:r>
            <a:r>
              <a:rPr lang="en-US" dirty="0" smtClean="0"/>
              <a:t>2 </a:t>
            </a:r>
            <a:r>
              <a:rPr lang="en-US" dirty="0"/>
              <a:t>mm	|  DD = </a:t>
            </a:r>
            <a:r>
              <a:rPr lang="en-US" dirty="0" smtClean="0"/>
              <a:t>2%  </a:t>
            </a:r>
            <a:r>
              <a:rPr lang="en-US" dirty="0"/>
              <a:t>|  </a:t>
            </a:r>
            <a:r>
              <a:rPr lang="el-GR" dirty="0" smtClean="0"/>
              <a:t>γ</a:t>
            </a:r>
            <a:r>
              <a:rPr lang="en-US" dirty="0" smtClean="0"/>
              <a:t> = 0.94</a:t>
            </a:r>
            <a:endParaRPr lang="en-US" dirty="0"/>
          </a:p>
          <a:p>
            <a:r>
              <a:rPr lang="en-US" dirty="0"/>
              <a:t>DTA = </a:t>
            </a:r>
            <a:r>
              <a:rPr lang="en-US" dirty="0" smtClean="0"/>
              <a:t>3 </a:t>
            </a:r>
            <a:r>
              <a:rPr lang="en-US" dirty="0"/>
              <a:t>mm	|  DD = </a:t>
            </a:r>
            <a:r>
              <a:rPr lang="en-US" dirty="0" smtClean="0"/>
              <a:t>3%  </a:t>
            </a:r>
            <a:r>
              <a:rPr lang="en-US" dirty="0"/>
              <a:t>|  </a:t>
            </a:r>
            <a:r>
              <a:rPr lang="el-GR" dirty="0"/>
              <a:t>γ</a:t>
            </a:r>
            <a:r>
              <a:rPr lang="en-US" dirty="0"/>
              <a:t> = </a:t>
            </a:r>
            <a:r>
              <a:rPr lang="en-US" dirty="0" smtClean="0"/>
              <a:t>1.41</a:t>
            </a:r>
          </a:p>
          <a:p>
            <a:r>
              <a:rPr lang="en-US" dirty="0"/>
              <a:t>DTA = 3 mm	|  DD = 3%  |  </a:t>
            </a:r>
            <a:r>
              <a:rPr lang="el-GR" dirty="0"/>
              <a:t>γ</a:t>
            </a:r>
            <a:r>
              <a:rPr lang="en-US" dirty="0"/>
              <a:t> = 1.41</a:t>
            </a:r>
          </a:p>
          <a:p>
            <a:r>
              <a:rPr lang="en-US" dirty="0"/>
              <a:t>DTA = </a:t>
            </a:r>
            <a:r>
              <a:rPr lang="en-US" dirty="0" smtClean="0"/>
              <a:t>4.5 mm  |  </a:t>
            </a:r>
            <a:r>
              <a:rPr lang="en-US" dirty="0"/>
              <a:t>DD = 0</a:t>
            </a:r>
            <a:r>
              <a:rPr lang="en-US" dirty="0" smtClean="0"/>
              <a:t>%  </a:t>
            </a:r>
            <a:r>
              <a:rPr lang="en-US" dirty="0"/>
              <a:t>|  </a:t>
            </a:r>
            <a:r>
              <a:rPr lang="el-GR" dirty="0"/>
              <a:t>γ</a:t>
            </a:r>
            <a:r>
              <a:rPr lang="en-US" dirty="0"/>
              <a:t> = </a:t>
            </a:r>
            <a:r>
              <a:rPr lang="en-US" dirty="0" smtClean="0"/>
              <a:t>1.5</a:t>
            </a:r>
            <a:endParaRPr lang="en-US" dirty="0"/>
          </a:p>
          <a:p>
            <a:endParaRPr lang="en-US" dirty="0" smtClean="0"/>
          </a:p>
          <a:p>
            <a:pPr marL="0" indent="0">
              <a:buNone/>
            </a:pPr>
            <a:r>
              <a:rPr lang="en-US" dirty="0" smtClean="0"/>
              <a:t>In the extremes (either DTA or DD is 0), gamma index gives you the fractional value of the nonzero metric relative to its criterion</a:t>
            </a:r>
            <a:endParaRPr lang="en-US" dirty="0"/>
          </a:p>
          <a:p>
            <a:pPr marL="0" indent="0">
              <a:buNone/>
            </a:pPr>
            <a:endParaRPr lang="en-US" dirty="0"/>
          </a:p>
        </p:txBody>
      </p:sp>
    </p:spTree>
    <p:extLst>
      <p:ext uri="{BB962C8B-B14F-4D97-AF65-F5344CB8AC3E}">
        <p14:creationId xmlns:p14="http://schemas.microsoft.com/office/powerpoint/2010/main" val="39280238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347472"/>
            <a:ext cx="11074576" cy="461665"/>
          </a:xfrm>
        </p:spPr>
        <p:txBody>
          <a:bodyPr/>
          <a:lstStyle/>
          <a:p>
            <a:r>
              <a:rPr lang="en-US">
                <a:solidFill>
                  <a:schemeClr val="accent5">
                    <a:lumMod val="75000"/>
                  </a:schemeClr>
                </a:solidFill>
              </a:rPr>
              <a:t>The gamma test under different dose gradient conditions</a:t>
            </a:r>
            <a:endParaRPr lang="en-US"/>
          </a:p>
        </p:txBody>
      </p:sp>
      <p:pic>
        <p:nvPicPr>
          <p:cNvPr id="4" name="Picture 3"/>
          <p:cNvPicPr>
            <a:picLocks noChangeAspect="1"/>
          </p:cNvPicPr>
          <p:nvPr/>
        </p:nvPicPr>
        <p:blipFill>
          <a:blip r:embed="rId3"/>
          <a:stretch>
            <a:fillRect/>
          </a:stretch>
        </p:blipFill>
        <p:spPr>
          <a:xfrm>
            <a:off x="411480" y="2096484"/>
            <a:ext cx="11549364" cy="4515104"/>
          </a:xfrm>
          <a:prstGeom prst="rect">
            <a:avLst/>
          </a:prstGeom>
        </p:spPr>
      </p:pic>
      <p:sp>
        <p:nvSpPr>
          <p:cNvPr id="5" name="Content Placeholder 2"/>
          <p:cNvSpPr>
            <a:spLocks noGrp="1"/>
          </p:cNvSpPr>
          <p:nvPr>
            <p:ph idx="1"/>
          </p:nvPr>
        </p:nvSpPr>
        <p:spPr>
          <a:xfrm>
            <a:off x="499996" y="1013150"/>
            <a:ext cx="11036028" cy="1418050"/>
          </a:xfrm>
        </p:spPr>
        <p:txBody>
          <a:bodyPr/>
          <a:lstStyle/>
          <a:p>
            <a:r>
              <a:rPr lang="en-US"/>
              <a:t>In low dose gradient regions, the dose difference test dominates</a:t>
            </a:r>
          </a:p>
          <a:p>
            <a:r>
              <a:rPr lang="en-US"/>
              <a:t>In high dose gradient regions, the DTA test dominates</a:t>
            </a:r>
          </a:p>
          <a:p>
            <a:pPr lvl="1" indent="-302895">
              <a:buClr>
                <a:srgbClr val="002243"/>
              </a:buClr>
            </a:pPr>
            <a:endParaRPr lang="en-US" sz="600">
              <a:solidFill>
                <a:srgbClr val="7F7F7F"/>
              </a:solidFill>
              <a:cs typeface="Arial"/>
            </a:endParaRPr>
          </a:p>
          <a:p>
            <a:pPr marL="0" indent="0">
              <a:buClr>
                <a:srgbClr val="800000"/>
              </a:buClr>
              <a:buNone/>
            </a:pPr>
            <a:endParaRPr lang="en-US">
              <a:solidFill>
                <a:srgbClr val="002243"/>
              </a:solidFill>
              <a:cs typeface="Arial"/>
            </a:endParaRPr>
          </a:p>
        </p:txBody>
      </p:sp>
    </p:spTree>
    <p:extLst>
      <p:ext uri="{BB962C8B-B14F-4D97-AF65-F5344CB8AC3E}">
        <p14:creationId xmlns:p14="http://schemas.microsoft.com/office/powerpoint/2010/main" val="22310172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997" y="1404454"/>
            <a:ext cx="9914229" cy="3187765"/>
          </a:xfrm>
        </p:spPr>
        <p:txBody>
          <a:bodyPr/>
          <a:lstStyle/>
          <a:p>
            <a:pPr marL="0" indent="0">
              <a:buNone/>
            </a:pPr>
            <a:r>
              <a:rPr lang="en-US" dirty="0" smtClean="0"/>
              <a:t>Strengths</a:t>
            </a:r>
            <a:r>
              <a:rPr lang="en-US" dirty="0"/>
              <a:t>:</a:t>
            </a:r>
          </a:p>
          <a:p>
            <a:pPr marL="660082" lvl="1" indent="-242570"/>
            <a:r>
              <a:rPr lang="en-US" dirty="0">
                <a:cs typeface="Arial"/>
              </a:rPr>
              <a:t>Benefits of composite test with the addition of quantitative information</a:t>
            </a:r>
          </a:p>
          <a:p>
            <a:pPr marL="660082" lvl="1" indent="-242570"/>
            <a:r>
              <a:rPr lang="en-US" dirty="0">
                <a:cs typeface="Arial"/>
              </a:rPr>
              <a:t>Widely accepted QA metric across clinics</a:t>
            </a:r>
          </a:p>
          <a:p>
            <a:pPr marL="660082" lvl="1" indent="-242570"/>
            <a:r>
              <a:rPr lang="en-US" dirty="0">
                <a:cs typeface="Arial"/>
              </a:rPr>
              <a:t>Reduces sensitivity steep dose gradient regions (*next </a:t>
            </a:r>
            <a:r>
              <a:rPr lang="en-US" dirty="0" smtClean="0">
                <a:cs typeface="Arial"/>
              </a:rPr>
              <a:t>slide)</a:t>
            </a:r>
          </a:p>
          <a:p>
            <a:pPr marL="0" indent="0">
              <a:buNone/>
            </a:pPr>
            <a:r>
              <a:rPr lang="en-US" dirty="0" smtClean="0">
                <a:cs typeface="Arial"/>
              </a:rPr>
              <a:t>Limitations</a:t>
            </a:r>
          </a:p>
          <a:p>
            <a:pPr marL="660082" lvl="1" indent="-242570"/>
            <a:r>
              <a:rPr lang="en-US" dirty="0" smtClean="0">
                <a:cs typeface="Arial"/>
              </a:rPr>
              <a:t>Interpretation </a:t>
            </a:r>
            <a:r>
              <a:rPr lang="en-US" dirty="0">
                <a:cs typeface="Arial"/>
              </a:rPr>
              <a:t>of results is not necessarily straightforward</a:t>
            </a:r>
          </a:p>
          <a:p>
            <a:pPr marL="660082" lvl="1" indent="-242570"/>
            <a:r>
              <a:rPr lang="en-US" dirty="0" smtClean="0">
                <a:cs typeface="Arial"/>
              </a:rPr>
              <a:t>Does </a:t>
            </a:r>
            <a:r>
              <a:rPr lang="en-US" dirty="0">
                <a:cs typeface="Arial"/>
              </a:rPr>
              <a:t>not inherently provide site-specific </a:t>
            </a:r>
            <a:r>
              <a:rPr lang="en-US" dirty="0" smtClean="0">
                <a:cs typeface="Arial"/>
              </a:rPr>
              <a:t>feedback</a:t>
            </a:r>
            <a:endParaRPr lang="en-US" dirty="0">
              <a:cs typeface="Arial"/>
            </a:endParaRPr>
          </a:p>
          <a:p>
            <a:pPr marL="660082" lvl="1" indent="-242570"/>
            <a:endParaRPr lang="en-US" dirty="0">
              <a:cs typeface="Arial"/>
            </a:endParaRPr>
          </a:p>
          <a:p>
            <a:pPr lvl="1"/>
            <a:endParaRPr lang="en-US" dirty="0"/>
          </a:p>
        </p:txBody>
      </p:sp>
      <p:sp>
        <p:nvSpPr>
          <p:cNvPr id="7" name="Title 6"/>
          <p:cNvSpPr>
            <a:spLocks noGrp="1"/>
          </p:cNvSpPr>
          <p:nvPr>
            <p:ph type="title"/>
          </p:nvPr>
        </p:nvSpPr>
        <p:spPr/>
        <p:txBody>
          <a:bodyPr/>
          <a:lstStyle/>
          <a:p>
            <a:r>
              <a:rPr lang="en-US" dirty="0" smtClean="0"/>
              <a:t>Gamma – Strengths and Weaknesses</a:t>
            </a:r>
            <a:endParaRPr lang="en-US" dirty="0"/>
          </a:p>
        </p:txBody>
      </p:sp>
    </p:spTree>
    <p:extLst>
      <p:ext uri="{BB962C8B-B14F-4D97-AF65-F5344CB8AC3E}">
        <p14:creationId xmlns:p14="http://schemas.microsoft.com/office/powerpoint/2010/main" val="1912759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95457" y="347472"/>
            <a:ext cx="8893175" cy="461665"/>
          </a:xfrm>
        </p:spPr>
        <p:txBody>
          <a:bodyPr/>
          <a:lstStyle/>
          <a:p>
            <a:r>
              <a:rPr lang="en-US" altLang="en-US" dirty="0">
                <a:solidFill>
                  <a:schemeClr val="accent5">
                    <a:lumMod val="75000"/>
                  </a:schemeClr>
                </a:solidFill>
              </a:rPr>
              <a:t>Dose difference vs gamma</a:t>
            </a:r>
          </a:p>
        </p:txBody>
      </p:sp>
      <p:pic>
        <p:nvPicPr>
          <p:cNvPr id="1638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5457" y="1842663"/>
            <a:ext cx="5833797" cy="334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557842" y="5355141"/>
            <a:ext cx="591829" cy="307777"/>
          </a:xfrm>
          <a:prstGeom prst="rect">
            <a:avLst/>
          </a:prstGeom>
          <a:noFill/>
        </p:spPr>
        <p:txBody>
          <a:bodyPr wrap="none" rtlCol="0">
            <a:spAutoFit/>
          </a:bodyPr>
          <a:lstStyle/>
          <a:p>
            <a:r>
              <a:rPr lang="en-US"/>
              <a:t>FILM</a:t>
            </a:r>
          </a:p>
        </p:txBody>
      </p:sp>
      <p:sp>
        <p:nvSpPr>
          <p:cNvPr id="7" name="TextBox 6"/>
          <p:cNvSpPr txBox="1"/>
          <p:nvPr/>
        </p:nvSpPr>
        <p:spPr>
          <a:xfrm>
            <a:off x="4005837" y="5365925"/>
            <a:ext cx="1359155" cy="307777"/>
          </a:xfrm>
          <a:prstGeom prst="rect">
            <a:avLst/>
          </a:prstGeom>
          <a:noFill/>
        </p:spPr>
        <p:txBody>
          <a:bodyPr wrap="none" rtlCol="0">
            <a:spAutoFit/>
          </a:bodyPr>
          <a:lstStyle/>
          <a:p>
            <a:r>
              <a:rPr lang="en-US"/>
              <a:t>CALCULATED</a:t>
            </a:r>
          </a:p>
        </p:txBody>
      </p:sp>
      <p:sp>
        <p:nvSpPr>
          <p:cNvPr id="10" name="TextBox 9"/>
          <p:cNvSpPr txBox="1"/>
          <p:nvPr/>
        </p:nvSpPr>
        <p:spPr>
          <a:xfrm>
            <a:off x="8186164" y="5355141"/>
            <a:ext cx="1465401" cy="307777"/>
          </a:xfrm>
          <a:prstGeom prst="rect">
            <a:avLst/>
          </a:prstGeom>
          <a:noFill/>
        </p:spPr>
        <p:txBody>
          <a:bodyPr wrap="none" rtlCol="0">
            <a:spAutoFit/>
          </a:bodyPr>
          <a:lstStyle/>
          <a:p>
            <a:r>
              <a:rPr lang="en-US"/>
              <a:t>Dose Difference</a:t>
            </a:r>
          </a:p>
        </p:txBody>
      </p:sp>
      <p:pic>
        <p:nvPicPr>
          <p:cNvPr id="9" name="Picture 4">
            <a:extLst>
              <a:ext uri="{FF2B5EF4-FFF2-40B4-BE49-F238E27FC236}">
                <a16:creationId xmlns:a16="http://schemas.microsoft.com/office/drawing/2014/main" id="{2AD58EA0-89A7-89EE-BD7A-9AB0D4E4383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75503" y="1918187"/>
            <a:ext cx="3808520" cy="340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646545" y="1123986"/>
            <a:ext cx="11036028" cy="134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For steep dose gradients with a nonzero DTA tolerance, it may not be violated for large dose differences</a:t>
            </a:r>
          </a:p>
          <a:p>
            <a:pPr lvl="1" indent="-302895">
              <a:buClr>
                <a:srgbClr val="002243"/>
              </a:buClr>
            </a:pPr>
            <a:endParaRPr lang="en-US" sz="600">
              <a:solidFill>
                <a:srgbClr val="7F7F7F"/>
              </a:solidFill>
              <a:cs typeface="Arial"/>
            </a:endParaRPr>
          </a:p>
          <a:p>
            <a:pPr marL="0" indent="0">
              <a:buClr>
                <a:srgbClr val="800000"/>
              </a:buClr>
              <a:buFont typeface="Lucida Grande" panose="020B0600040502020204" pitchFamily="34" charset="0"/>
              <a:buNone/>
            </a:pPr>
            <a:endParaRPr lang="en-US">
              <a:solidFill>
                <a:srgbClr val="002243"/>
              </a:solidFill>
              <a:cs typeface="Arial"/>
            </a:endParaRPr>
          </a:p>
        </p:txBody>
      </p:sp>
    </p:spTree>
    <p:extLst>
      <p:ext uri="{BB962C8B-B14F-4D97-AF65-F5344CB8AC3E}">
        <p14:creationId xmlns:p14="http://schemas.microsoft.com/office/powerpoint/2010/main" val="7505473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95457" y="347472"/>
            <a:ext cx="8893175" cy="461665"/>
          </a:xfrm>
        </p:spPr>
        <p:txBody>
          <a:bodyPr/>
          <a:lstStyle/>
          <a:p>
            <a:r>
              <a:rPr lang="en-US" altLang="en-US" dirty="0">
                <a:solidFill>
                  <a:schemeClr val="accent5">
                    <a:lumMod val="75000"/>
                  </a:schemeClr>
                </a:solidFill>
              </a:rPr>
              <a:t>Dose difference vs gamma</a:t>
            </a:r>
          </a:p>
        </p:txBody>
      </p:sp>
      <p:pic>
        <p:nvPicPr>
          <p:cNvPr id="1638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457" y="1842663"/>
            <a:ext cx="5833797" cy="334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557842" y="5355141"/>
            <a:ext cx="591829" cy="307777"/>
          </a:xfrm>
          <a:prstGeom prst="rect">
            <a:avLst/>
          </a:prstGeom>
          <a:noFill/>
        </p:spPr>
        <p:txBody>
          <a:bodyPr wrap="none" rtlCol="0">
            <a:spAutoFit/>
          </a:bodyPr>
          <a:lstStyle/>
          <a:p>
            <a:r>
              <a:rPr lang="en-US"/>
              <a:t>FILM</a:t>
            </a:r>
          </a:p>
        </p:txBody>
      </p:sp>
      <p:sp>
        <p:nvSpPr>
          <p:cNvPr id="7" name="TextBox 6"/>
          <p:cNvSpPr txBox="1"/>
          <p:nvPr/>
        </p:nvSpPr>
        <p:spPr>
          <a:xfrm>
            <a:off x="4005837" y="5365925"/>
            <a:ext cx="1359155" cy="307777"/>
          </a:xfrm>
          <a:prstGeom prst="rect">
            <a:avLst/>
          </a:prstGeom>
          <a:noFill/>
        </p:spPr>
        <p:txBody>
          <a:bodyPr wrap="none" rtlCol="0">
            <a:spAutoFit/>
          </a:bodyPr>
          <a:lstStyle/>
          <a:p>
            <a:r>
              <a:rPr lang="en-US"/>
              <a:t>CALCULATED</a:t>
            </a:r>
          </a:p>
        </p:txBody>
      </p:sp>
      <p:pic>
        <p:nvPicPr>
          <p:cNvPr id="3" name="Picture 2"/>
          <p:cNvPicPr>
            <a:picLocks noChangeAspect="1"/>
          </p:cNvPicPr>
          <p:nvPr/>
        </p:nvPicPr>
        <p:blipFill>
          <a:blip r:embed="rId3"/>
          <a:stretch>
            <a:fillRect/>
          </a:stretch>
        </p:blipFill>
        <p:spPr>
          <a:xfrm>
            <a:off x="7181349" y="1968068"/>
            <a:ext cx="4332303" cy="3387073"/>
          </a:xfrm>
          <a:prstGeom prst="rect">
            <a:avLst/>
          </a:prstGeom>
        </p:spPr>
      </p:pic>
      <p:sp>
        <p:nvSpPr>
          <p:cNvPr id="10" name="TextBox 9"/>
          <p:cNvSpPr txBox="1"/>
          <p:nvPr/>
        </p:nvSpPr>
        <p:spPr>
          <a:xfrm>
            <a:off x="8186164" y="5355141"/>
            <a:ext cx="862737" cy="307777"/>
          </a:xfrm>
          <a:prstGeom prst="rect">
            <a:avLst/>
          </a:prstGeom>
          <a:noFill/>
        </p:spPr>
        <p:txBody>
          <a:bodyPr wrap="none" rtlCol="0">
            <a:spAutoFit/>
          </a:bodyPr>
          <a:lstStyle/>
          <a:p>
            <a:r>
              <a:rPr lang="en-US"/>
              <a:t>GAMMA</a:t>
            </a:r>
          </a:p>
        </p:txBody>
      </p:sp>
      <p:sp>
        <p:nvSpPr>
          <p:cNvPr id="11" name="Content Placeholder 2"/>
          <p:cNvSpPr txBox="1">
            <a:spLocks/>
          </p:cNvSpPr>
          <p:nvPr/>
        </p:nvSpPr>
        <p:spPr bwMode="auto">
          <a:xfrm>
            <a:off x="646545" y="1123986"/>
            <a:ext cx="11036028" cy="134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For steep dose gradients with a nonzero DTA tolerance, it may not be violated for large dose differences</a:t>
            </a:r>
          </a:p>
          <a:p>
            <a:pPr lvl="1" indent="-302895">
              <a:buClr>
                <a:srgbClr val="002243"/>
              </a:buClr>
            </a:pPr>
            <a:endParaRPr lang="en-US" sz="600">
              <a:solidFill>
                <a:srgbClr val="7F7F7F"/>
              </a:solidFill>
              <a:cs typeface="Arial"/>
            </a:endParaRPr>
          </a:p>
          <a:p>
            <a:pPr marL="0" indent="0">
              <a:buClr>
                <a:srgbClr val="800000"/>
              </a:buClr>
              <a:buFont typeface="Lucida Grande" panose="020B0600040502020204" pitchFamily="34" charset="0"/>
              <a:buNone/>
            </a:pPr>
            <a:endParaRPr lang="en-US">
              <a:solidFill>
                <a:srgbClr val="002243"/>
              </a:solidFill>
              <a:cs typeface="Arial"/>
            </a:endParaRPr>
          </a:p>
        </p:txBody>
      </p:sp>
    </p:spTree>
    <p:extLst>
      <p:ext uri="{BB962C8B-B14F-4D97-AF65-F5344CB8AC3E}">
        <p14:creationId xmlns:p14="http://schemas.microsoft.com/office/powerpoint/2010/main" val="40270887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347472"/>
            <a:ext cx="11074576" cy="461665"/>
          </a:xfrm>
        </p:spPr>
        <p:txBody>
          <a:bodyPr/>
          <a:lstStyle/>
          <a:p>
            <a:r>
              <a:rPr lang="en-US" dirty="0">
                <a:solidFill>
                  <a:schemeClr val="accent5">
                    <a:lumMod val="75000"/>
                  </a:schemeClr>
                </a:solidFill>
              </a:rPr>
              <a:t>Calculation parameters to consider…</a:t>
            </a:r>
          </a:p>
        </p:txBody>
      </p:sp>
      <p:sp>
        <p:nvSpPr>
          <p:cNvPr id="5" name="Content Placeholder 2"/>
          <p:cNvSpPr txBox="1">
            <a:spLocks/>
          </p:cNvSpPr>
          <p:nvPr/>
        </p:nvSpPr>
        <p:spPr bwMode="auto">
          <a:xfrm>
            <a:off x="646545" y="1123986"/>
            <a:ext cx="11036028" cy="295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Normalization</a:t>
            </a:r>
          </a:p>
          <a:p>
            <a:endParaRPr lang="en-US" altLang="en-US" dirty="0"/>
          </a:p>
          <a:p>
            <a:r>
              <a:rPr lang="en-US" altLang="en-US" dirty="0"/>
              <a:t>Spatial resolution</a:t>
            </a:r>
          </a:p>
          <a:p>
            <a:endParaRPr lang="en-US" altLang="en-US" dirty="0"/>
          </a:p>
          <a:p>
            <a:r>
              <a:rPr lang="en-US" altLang="en-US" dirty="0"/>
              <a:t>Interpretation</a:t>
            </a:r>
          </a:p>
          <a:p>
            <a:endParaRPr lang="en-US" altLang="en-US" dirty="0"/>
          </a:p>
          <a:p>
            <a:pPr lvl="1" indent="-302895">
              <a:buClr>
                <a:srgbClr val="002243"/>
              </a:buClr>
            </a:pPr>
            <a:endParaRPr lang="en-US" sz="600" dirty="0">
              <a:solidFill>
                <a:srgbClr val="7F7F7F"/>
              </a:solidFill>
              <a:cs typeface="Arial"/>
            </a:endParaRPr>
          </a:p>
          <a:p>
            <a:pPr marL="0" indent="0">
              <a:buClr>
                <a:srgbClr val="800000"/>
              </a:buClr>
              <a:buFont typeface="Lucida Grande" panose="020B0600040502020204" pitchFamily="34" charset="0"/>
              <a:buNone/>
            </a:pPr>
            <a:endParaRPr lang="en-US" dirty="0">
              <a:solidFill>
                <a:srgbClr val="002243"/>
              </a:solidFill>
              <a:cs typeface="Arial"/>
            </a:endParaRPr>
          </a:p>
        </p:txBody>
      </p:sp>
    </p:spTree>
    <p:extLst>
      <p:ext uri="{BB962C8B-B14F-4D97-AF65-F5344CB8AC3E}">
        <p14:creationId xmlns:p14="http://schemas.microsoft.com/office/powerpoint/2010/main" val="40572837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EB26E0-23A5-C158-7B77-D56B5CCB8119}"/>
              </a:ext>
            </a:extLst>
          </p:cNvPr>
          <p:cNvSpPr txBox="1">
            <a:spLocks/>
          </p:cNvSpPr>
          <p:nvPr/>
        </p:nvSpPr>
        <p:spPr bwMode="auto">
          <a:xfrm>
            <a:off x="411480" y="347472"/>
            <a:ext cx="10321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Normalization</a:t>
            </a:r>
          </a:p>
        </p:txBody>
      </p:sp>
      <p:sp>
        <p:nvSpPr>
          <p:cNvPr id="5" name="Content Placeholder 2"/>
          <p:cNvSpPr>
            <a:spLocks noGrp="1"/>
          </p:cNvSpPr>
          <p:nvPr>
            <p:ph idx="1"/>
          </p:nvPr>
        </p:nvSpPr>
        <p:spPr>
          <a:xfrm>
            <a:off x="607997" y="1114750"/>
            <a:ext cx="11071946" cy="4854889"/>
          </a:xfrm>
        </p:spPr>
        <p:txBody>
          <a:bodyPr/>
          <a:lstStyle/>
          <a:p>
            <a:r>
              <a:rPr lang="en-US" altLang="en-US" dirty="0"/>
              <a:t>Global - Dose as a percentage of maximum dose for one or both of the dose distributions or as function of the prescription dose. All dose point pairs are normalized using the same value for all point pairs.</a:t>
            </a:r>
          </a:p>
          <a:p>
            <a:endParaRPr lang="en-US" altLang="en-US" dirty="0"/>
          </a:p>
          <a:p>
            <a:r>
              <a:rPr lang="en-US" altLang="en-US" dirty="0"/>
              <a:t>Local - the dose is normalized to the planned dose at each location for each point pair</a:t>
            </a:r>
          </a:p>
          <a:p>
            <a:pPr lvl="1"/>
            <a:r>
              <a:rPr lang="en-US" altLang="en-US" dirty="0"/>
              <a:t>Allows the same relative tolerances in the target and critical structure </a:t>
            </a:r>
            <a:r>
              <a:rPr lang="en-US" altLang="en-US" dirty="0" smtClean="0"/>
              <a:t>regions</a:t>
            </a:r>
            <a:endParaRPr lang="en-US" altLang="en-US" dirty="0"/>
          </a:p>
          <a:p>
            <a:pPr lvl="1"/>
            <a:r>
              <a:rPr lang="en-US" altLang="en-US" dirty="0"/>
              <a:t>Unrealistic dose accuracy requirements in low-dose regions</a:t>
            </a:r>
          </a:p>
          <a:p>
            <a:endParaRPr lang="en-US" altLang="en-US" dirty="0"/>
          </a:p>
          <a:p>
            <a:r>
              <a:rPr lang="en-US" altLang="en-US" dirty="0"/>
              <a:t>Global vs local normalization is not as sensitive within the target </a:t>
            </a:r>
            <a:r>
              <a:rPr lang="en-US" altLang="en-US" dirty="0" smtClean="0"/>
              <a:t>region</a:t>
            </a:r>
          </a:p>
          <a:p>
            <a:pPr lvl="1"/>
            <a:r>
              <a:rPr lang="en-US" altLang="en-US" dirty="0" smtClean="0"/>
              <a:t>The difference between the two is smallest in high dose areas</a:t>
            </a:r>
            <a:endParaRPr lang="en-US" alt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945176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EB26E0-23A5-C158-7B77-D56B5CCB8119}"/>
              </a:ext>
            </a:extLst>
          </p:cNvPr>
          <p:cNvSpPr txBox="1">
            <a:spLocks/>
          </p:cNvSpPr>
          <p:nvPr/>
        </p:nvSpPr>
        <p:spPr bwMode="auto">
          <a:xfrm>
            <a:off x="411480" y="347472"/>
            <a:ext cx="10321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Normalization – Question for the Audience</a:t>
            </a:r>
          </a:p>
        </p:txBody>
      </p:sp>
      <p:sp>
        <p:nvSpPr>
          <p:cNvPr id="5" name="Content Placeholder 2"/>
          <p:cNvSpPr>
            <a:spLocks noGrp="1"/>
          </p:cNvSpPr>
          <p:nvPr>
            <p:ph idx="1"/>
          </p:nvPr>
        </p:nvSpPr>
        <p:spPr>
          <a:xfrm>
            <a:off x="607997" y="1114750"/>
            <a:ext cx="11071946" cy="3936688"/>
          </a:xfrm>
        </p:spPr>
        <p:txBody>
          <a:bodyPr/>
          <a:lstStyle/>
          <a:p>
            <a:pPr lvl="1"/>
            <a:r>
              <a:rPr lang="en-US" altLang="en-US" sz="2400" b="1" dirty="0"/>
              <a:t>Let’s say the dose is normalized to the max in the reference distribution, for example 200 cGy = 100%. Let’s say we look at a point in the low dose region of the reference distribution, which measures 20 cGy (10%), and its corresponding point in the evaluated distribution, which measures 21 cGy (10.5%). This gives a dose difference of 0.5% which will likely be acceptable. What happens if we used local normalization instead?</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5055419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EB26E0-23A5-C158-7B77-D56B5CCB8119}"/>
              </a:ext>
            </a:extLst>
          </p:cNvPr>
          <p:cNvSpPr txBox="1">
            <a:spLocks/>
          </p:cNvSpPr>
          <p:nvPr/>
        </p:nvSpPr>
        <p:spPr bwMode="auto">
          <a:xfrm>
            <a:off x="411480" y="347472"/>
            <a:ext cx="10321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Normalization – Question for the Audience</a:t>
            </a:r>
          </a:p>
        </p:txBody>
      </p:sp>
      <p:sp>
        <p:nvSpPr>
          <p:cNvPr id="5" name="Content Placeholder 2"/>
          <p:cNvSpPr>
            <a:spLocks noGrp="1"/>
          </p:cNvSpPr>
          <p:nvPr>
            <p:ph idx="1"/>
          </p:nvPr>
        </p:nvSpPr>
        <p:spPr>
          <a:xfrm>
            <a:off x="607997" y="1114750"/>
            <a:ext cx="11071946" cy="5131887"/>
          </a:xfrm>
        </p:spPr>
        <p:txBody>
          <a:bodyPr/>
          <a:lstStyle/>
          <a:p>
            <a:pPr lvl="1"/>
            <a:r>
              <a:rPr lang="en-US" altLang="en-US" sz="2400" b="1" dirty="0"/>
              <a:t>Let’s say the dose is normalized to the max in the reference distribution, for example 200 cGy = 100%. Let’s say we look at a point in the low dose region of the reference distribution, which measures 20 cGy (10%), and its corresponding point in the evaluated distribution, which measures 21 cGy (10.5%). This gives a dose difference of </a:t>
            </a:r>
            <a:r>
              <a:rPr lang="en-US" altLang="en-US" sz="2400" b="1" dirty="0" smtClean="0"/>
              <a:t>0.5%, which will likely be acceptable. What </a:t>
            </a:r>
            <a:r>
              <a:rPr lang="en-US" altLang="en-US" sz="2400" b="1" dirty="0"/>
              <a:t>happens if we used local normalization instead?</a:t>
            </a:r>
          </a:p>
          <a:p>
            <a:pPr lvl="1"/>
            <a:endParaRPr lang="en-US" altLang="en-US" sz="2400" b="1" dirty="0"/>
          </a:p>
          <a:p>
            <a:pPr lvl="1"/>
            <a:r>
              <a:rPr lang="en-US" altLang="en-US" sz="2400" b="1" dirty="0">
                <a:highlight>
                  <a:srgbClr val="FFFF00"/>
                </a:highlight>
              </a:rPr>
              <a:t>If we used local normalization, then 20 cGy = 100%, and 21 cGy = 105%, and we get a 5% dose difference. Therefore, local normalization is a more stringent test.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480825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11480" y="347472"/>
            <a:ext cx="10228811" cy="461665"/>
          </a:xfrm>
        </p:spPr>
        <p:txBody>
          <a:bodyPr/>
          <a:lstStyle/>
          <a:p>
            <a:r>
              <a:rPr lang="en-US" altLang="en-US" dirty="0">
                <a:solidFill>
                  <a:schemeClr val="accent5">
                    <a:lumMod val="75000"/>
                  </a:schemeClr>
                </a:solidFill>
              </a:rPr>
              <a:t>Spatial resolution</a:t>
            </a:r>
          </a:p>
        </p:txBody>
      </p:sp>
      <p:sp>
        <p:nvSpPr>
          <p:cNvPr id="3" name="Content Placeholder 2"/>
          <p:cNvSpPr>
            <a:spLocks noGrp="1"/>
          </p:cNvSpPr>
          <p:nvPr>
            <p:ph idx="1"/>
          </p:nvPr>
        </p:nvSpPr>
        <p:spPr>
          <a:xfrm>
            <a:off x="289173" y="1070428"/>
            <a:ext cx="10787464" cy="3926429"/>
          </a:xfrm>
        </p:spPr>
        <p:txBody>
          <a:bodyPr/>
          <a:lstStyle/>
          <a:p>
            <a:pPr lvl="1">
              <a:defRPr/>
            </a:pPr>
            <a:endParaRPr lang="en-US" dirty="0"/>
          </a:p>
          <a:p>
            <a:pPr lvl="1">
              <a:defRPr/>
            </a:pPr>
            <a:endParaRPr lang="en-US" dirty="0"/>
          </a:p>
          <a:p>
            <a:pPr lvl="1">
              <a:defRPr/>
            </a:pPr>
            <a:endParaRPr lang="en-US" dirty="0"/>
          </a:p>
          <a:p>
            <a:pPr marL="357187" lvl="1" indent="0">
              <a:buNone/>
              <a:defRPr/>
            </a:pPr>
            <a:endParaRPr lang="en-US" dirty="0"/>
          </a:p>
          <a:p>
            <a:pPr lvl="1">
              <a:defRPr/>
            </a:pPr>
            <a:endParaRPr lang="en-US" dirty="0"/>
          </a:p>
          <a:p>
            <a:pPr marL="357187" lvl="1" indent="0">
              <a:buNone/>
              <a:defRPr/>
            </a:pPr>
            <a:endParaRPr lang="en-US" dirty="0"/>
          </a:p>
          <a:p>
            <a:pPr lvl="1">
              <a:defRPr/>
            </a:pPr>
            <a:endParaRPr lang="en-US" dirty="0"/>
          </a:p>
          <a:p>
            <a:pPr lvl="1">
              <a:defRPr/>
            </a:pPr>
            <a:endParaRPr lang="en-US" dirty="0"/>
          </a:p>
          <a:p>
            <a:pPr lvl="1">
              <a:defRPr/>
            </a:pPr>
            <a:endParaRPr lang="en-US" sz="1400" dirty="0"/>
          </a:p>
          <a:p>
            <a:pPr marL="357187" lvl="1" indent="0">
              <a:buNone/>
              <a:defRPr/>
            </a:pPr>
            <a:endParaRPr lang="en-US" sz="1400" dirty="0"/>
          </a:p>
          <a:p>
            <a:pPr marL="357187" lvl="1" indent="0">
              <a:buNone/>
              <a:defRPr/>
            </a:pPr>
            <a:endParaRPr lang="en-US" sz="1200" dirty="0"/>
          </a:p>
          <a:p>
            <a:pPr>
              <a:defRPr/>
            </a:pPr>
            <a:endParaRPr lang="en-US" dirty="0"/>
          </a:p>
        </p:txBody>
      </p:sp>
      <p:pic>
        <p:nvPicPr>
          <p:cNvPr id="22532"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156" y="2678096"/>
            <a:ext cx="10810312" cy="407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03819" y="2464238"/>
            <a:ext cx="2044149" cy="338554"/>
          </a:xfrm>
          <a:prstGeom prst="rect">
            <a:avLst/>
          </a:prstGeom>
          <a:noFill/>
        </p:spPr>
        <p:txBody>
          <a:bodyPr wrap="none" rtlCol="0">
            <a:spAutoFit/>
          </a:bodyPr>
          <a:lstStyle/>
          <a:p>
            <a:r>
              <a:rPr lang="en-US" sz="1600" b="1" i="1" dirty="0"/>
              <a:t>Calculation correct</a:t>
            </a:r>
          </a:p>
        </p:txBody>
      </p:sp>
      <p:sp>
        <p:nvSpPr>
          <p:cNvPr id="6" name="TextBox 5"/>
          <p:cNvSpPr txBox="1"/>
          <p:nvPr/>
        </p:nvSpPr>
        <p:spPr>
          <a:xfrm>
            <a:off x="4478919" y="2240740"/>
            <a:ext cx="2579552" cy="646331"/>
          </a:xfrm>
          <a:prstGeom prst="rect">
            <a:avLst/>
          </a:prstGeom>
          <a:noFill/>
        </p:spPr>
        <p:txBody>
          <a:bodyPr wrap="none" rtlCol="0">
            <a:spAutoFit/>
          </a:bodyPr>
          <a:lstStyle/>
          <a:p>
            <a:pPr algn="ctr"/>
            <a:r>
              <a:rPr lang="en-US" sz="1600" b="1" i="1" dirty="0"/>
              <a:t>High dose gradient error</a:t>
            </a:r>
          </a:p>
          <a:p>
            <a:pPr algn="ctr"/>
            <a:r>
              <a:rPr lang="en-US" sz="1000" b="1" i="1" dirty="0"/>
              <a:t>Calculation value greater</a:t>
            </a:r>
          </a:p>
          <a:p>
            <a:pPr algn="ctr"/>
            <a:r>
              <a:rPr lang="en-US" sz="1000" b="1" i="1" dirty="0"/>
              <a:t>than if interpolation is used</a:t>
            </a:r>
          </a:p>
        </p:txBody>
      </p:sp>
      <p:sp>
        <p:nvSpPr>
          <p:cNvPr id="7" name="TextBox 6"/>
          <p:cNvSpPr txBox="1"/>
          <p:nvPr/>
        </p:nvSpPr>
        <p:spPr>
          <a:xfrm>
            <a:off x="8021684" y="2563905"/>
            <a:ext cx="2534668" cy="338554"/>
          </a:xfrm>
          <a:prstGeom prst="rect">
            <a:avLst/>
          </a:prstGeom>
          <a:noFill/>
        </p:spPr>
        <p:txBody>
          <a:bodyPr wrap="none" rtlCol="0">
            <a:spAutoFit/>
          </a:bodyPr>
          <a:lstStyle/>
          <a:p>
            <a:pPr algn="ctr"/>
            <a:r>
              <a:rPr lang="en-US" sz="1600" b="1" i="1" dirty="0"/>
              <a:t>Low dose gradient error</a:t>
            </a:r>
          </a:p>
        </p:txBody>
      </p:sp>
      <p:sp>
        <p:nvSpPr>
          <p:cNvPr id="8" name="Content Placeholder 2"/>
          <p:cNvSpPr txBox="1">
            <a:spLocks/>
          </p:cNvSpPr>
          <p:nvPr/>
        </p:nvSpPr>
        <p:spPr bwMode="auto">
          <a:xfrm>
            <a:off x="835911" y="754559"/>
            <a:ext cx="11071946" cy="192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Spatial resolution has a big impact on accuracy of comparing dose distributions</a:t>
            </a:r>
          </a:p>
          <a:p>
            <a:pPr>
              <a:defRPr/>
            </a:pPr>
            <a:r>
              <a:rPr lang="en-US" dirty="0"/>
              <a:t>Impacts gamma significantly for steep gradient regions (large error if no interpolation is used</a:t>
            </a:r>
            <a:r>
              <a:rPr lang="en-US" dirty="0" smtClean="0"/>
              <a:t>)</a:t>
            </a:r>
          </a:p>
          <a:p>
            <a:pPr>
              <a:defRPr/>
            </a:pPr>
            <a:r>
              <a:rPr lang="en-US" dirty="0" smtClean="0"/>
              <a:t>Ratio of DTA criterion to grid spacing is your limit of DTA accuracy</a:t>
            </a:r>
          </a:p>
          <a:p>
            <a:pPr lvl="1">
              <a:defRPr/>
            </a:pPr>
            <a:r>
              <a:rPr lang="en-US" dirty="0" smtClean="0"/>
              <a:t>Good rule of thumb, keep resolution at or below 1/3 of DTA criterion</a:t>
            </a:r>
            <a:endParaRPr lang="en-US" dirty="0"/>
          </a:p>
          <a:p>
            <a:endParaRPr lang="en-US" dirty="0"/>
          </a:p>
        </p:txBody>
      </p:sp>
    </p:spTree>
    <p:extLst>
      <p:ext uri="{BB962C8B-B14F-4D97-AF65-F5344CB8AC3E}">
        <p14:creationId xmlns:p14="http://schemas.microsoft.com/office/powerpoint/2010/main" val="32652036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11480" y="347472"/>
            <a:ext cx="3078865" cy="461665"/>
          </a:xfrm>
        </p:spPr>
        <p:txBody>
          <a:bodyPr/>
          <a:lstStyle/>
          <a:p>
            <a:r>
              <a:rPr lang="en-US" altLang="en-US">
                <a:solidFill>
                  <a:schemeClr val="accent5">
                    <a:lumMod val="75000"/>
                  </a:schemeClr>
                </a:solidFill>
              </a:rPr>
              <a:t>Interpretation</a:t>
            </a:r>
          </a:p>
        </p:txBody>
      </p:sp>
      <p:sp>
        <p:nvSpPr>
          <p:cNvPr id="4" name="Content Placeholder 2"/>
          <p:cNvSpPr>
            <a:spLocks noGrp="1"/>
          </p:cNvSpPr>
          <p:nvPr>
            <p:ph idx="1"/>
          </p:nvPr>
        </p:nvSpPr>
        <p:spPr>
          <a:xfrm>
            <a:off x="607997" y="1114750"/>
            <a:ext cx="11071946" cy="5670496"/>
          </a:xfrm>
        </p:spPr>
        <p:txBody>
          <a:bodyPr/>
          <a:lstStyle/>
          <a:p>
            <a:r>
              <a:rPr lang="en-US" altLang="en-US" dirty="0" err="1"/>
              <a:t>Thresholding</a:t>
            </a:r>
            <a:r>
              <a:rPr lang="en-US" altLang="en-US" dirty="0"/>
              <a:t> for gamma analysis </a:t>
            </a:r>
          </a:p>
          <a:p>
            <a:pPr lvl="1"/>
            <a:r>
              <a:rPr lang="en-US" altLang="en-US" dirty="0"/>
              <a:t>Doses smaller than a certain value are not included </a:t>
            </a:r>
          </a:p>
          <a:p>
            <a:pPr lvl="1"/>
            <a:r>
              <a:rPr lang="en-US" altLang="en-US" dirty="0" smtClean="0"/>
              <a:t>It focuses </a:t>
            </a:r>
            <a:r>
              <a:rPr lang="en-US" altLang="en-US" dirty="0"/>
              <a:t>on greater (clinically relevant) </a:t>
            </a:r>
            <a:r>
              <a:rPr lang="en-US" altLang="en-US" dirty="0" smtClean="0"/>
              <a:t>doses</a:t>
            </a:r>
          </a:p>
          <a:p>
            <a:pPr lvl="2"/>
            <a:r>
              <a:rPr lang="en-US" altLang="en-US" dirty="0" smtClean="0"/>
              <a:t>One result is higher passing rates</a:t>
            </a:r>
            <a:r>
              <a:rPr lang="en-US" altLang="en-US" dirty="0"/>
              <a:t/>
            </a:r>
            <a:br>
              <a:rPr lang="en-US" altLang="en-US" dirty="0"/>
            </a:br>
            <a:endParaRPr lang="en-US" altLang="en-US" dirty="0"/>
          </a:p>
          <a:p>
            <a:r>
              <a:rPr lang="en-US" altLang="en-US" dirty="0"/>
              <a:t>Pass/fail criteria</a:t>
            </a:r>
          </a:p>
          <a:p>
            <a:pPr lvl="1"/>
            <a:r>
              <a:rPr lang="en-US" altLang="en-US" dirty="0"/>
              <a:t>Helpful when displayed as a histogram</a:t>
            </a:r>
          </a:p>
          <a:p>
            <a:pPr lvl="2"/>
            <a:r>
              <a:rPr lang="en-US" altLang="en-US" dirty="0"/>
              <a:t>Is it failing in the high or low dose region?</a:t>
            </a:r>
          </a:p>
          <a:p>
            <a:pPr lvl="2"/>
            <a:r>
              <a:rPr lang="en-US" altLang="en-US" dirty="0"/>
              <a:t>How many points are failing?</a:t>
            </a:r>
            <a:br>
              <a:rPr lang="en-US" altLang="en-US" dirty="0"/>
            </a:br>
            <a:endParaRPr lang="en-US" altLang="en-US" dirty="0"/>
          </a:p>
          <a:p>
            <a:r>
              <a:rPr lang="en-US" altLang="en-US" dirty="0" smtClean="0"/>
              <a:t>TG-218 Recommendations regarding Gamma Analysis: </a:t>
            </a:r>
          </a:p>
          <a:p>
            <a:pPr lvl="1"/>
            <a:r>
              <a:rPr lang="en-US" altLang="en-US" dirty="0" smtClean="0"/>
              <a:t>3%/2mm criteria</a:t>
            </a:r>
          </a:p>
          <a:p>
            <a:pPr lvl="1"/>
            <a:r>
              <a:rPr lang="en-US" altLang="en-US" dirty="0" smtClean="0"/>
              <a:t>Global Normalization</a:t>
            </a:r>
          </a:p>
          <a:p>
            <a:pPr lvl="1"/>
            <a:r>
              <a:rPr lang="en-US" altLang="en-US" dirty="0" smtClean="0"/>
              <a:t>95% tolerance limit for passing rate</a:t>
            </a:r>
          </a:p>
          <a:p>
            <a:pPr lvl="1"/>
            <a:r>
              <a:rPr lang="en-US" altLang="en-US" dirty="0" smtClean="0"/>
              <a:t>90% action </a:t>
            </a:r>
            <a:r>
              <a:rPr lang="en-US" altLang="en-US" dirty="0"/>
              <a:t>limit for passing rate</a:t>
            </a:r>
          </a:p>
          <a:p>
            <a:pPr lvl="1"/>
            <a:endParaRPr lang="en-US" altLang="en-US" dirty="0"/>
          </a:p>
          <a:p>
            <a:endParaRPr lang="en-US" dirty="0"/>
          </a:p>
        </p:txBody>
      </p:sp>
    </p:spTree>
    <p:extLst>
      <p:ext uri="{BB962C8B-B14F-4D97-AF65-F5344CB8AC3E}">
        <p14:creationId xmlns:p14="http://schemas.microsoft.com/office/powerpoint/2010/main" val="905201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459" y="2333381"/>
            <a:ext cx="5296668" cy="461665"/>
          </a:xfrm>
        </p:spPr>
        <p:txBody>
          <a:bodyPr/>
          <a:lstStyle/>
          <a:p>
            <a:r>
              <a:rPr lang="en-US" dirty="0" smtClean="0"/>
              <a:t>IMRT QA Delivery Techniques</a:t>
            </a:r>
            <a:endParaRPr lang="en-US" dirty="0"/>
          </a:p>
        </p:txBody>
      </p:sp>
    </p:spTree>
    <p:extLst>
      <p:ext uri="{BB962C8B-B14F-4D97-AF65-F5344CB8AC3E}">
        <p14:creationId xmlns:p14="http://schemas.microsoft.com/office/powerpoint/2010/main" val="7041164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11480" y="347472"/>
            <a:ext cx="4392759" cy="461665"/>
          </a:xfrm>
        </p:spPr>
        <p:txBody>
          <a:bodyPr/>
          <a:lstStyle/>
          <a:p>
            <a:r>
              <a:rPr lang="en-US" altLang="en-US">
                <a:solidFill>
                  <a:schemeClr val="accent5">
                    <a:lumMod val="75000"/>
                  </a:schemeClr>
                </a:solidFill>
              </a:rPr>
              <a:t>Perpendicular composite </a:t>
            </a:r>
            <a:endParaRPr lang="en-US" altLang="en-US" sz="2000">
              <a:solidFill>
                <a:schemeClr val="accent5">
                  <a:lumMod val="75000"/>
                </a:schemeClr>
              </a:solidFill>
            </a:endParaRPr>
          </a:p>
        </p:txBody>
      </p:sp>
      <p:sp>
        <p:nvSpPr>
          <p:cNvPr id="6" name="Content Placeholder 2"/>
          <p:cNvSpPr txBox="1">
            <a:spLocks/>
          </p:cNvSpPr>
          <p:nvPr/>
        </p:nvSpPr>
        <p:spPr bwMode="auto">
          <a:xfrm>
            <a:off x="607997" y="1114750"/>
            <a:ext cx="11071946" cy="315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t>Mounted detector perpendicular to the beam direction</a:t>
            </a:r>
          </a:p>
          <a:p>
            <a:r>
              <a:rPr lang="en-US" altLang="en-US" dirty="0"/>
              <a:t>Advantage: All images integrated for single dose image analysis</a:t>
            </a:r>
          </a:p>
          <a:p>
            <a:pPr marL="0" indent="0">
              <a:buNone/>
            </a:pPr>
            <a:endParaRPr lang="en-US" altLang="en-US" sz="600" dirty="0"/>
          </a:p>
          <a:p>
            <a:r>
              <a:rPr lang="en-US" altLang="en-US" dirty="0"/>
              <a:t>Con: Errors from each field may cancel on </a:t>
            </a:r>
            <a:r>
              <a:rPr lang="en-US" altLang="en-US" dirty="0" smtClean="0"/>
              <a:t>summation</a:t>
            </a:r>
            <a:endParaRPr lang="en-US" altLang="en-US" dirty="0"/>
          </a:p>
          <a:p>
            <a:endParaRPr lang="en-US" altLang="en-US" sz="600" dirty="0"/>
          </a:p>
          <a:p>
            <a:r>
              <a:rPr lang="en-US" altLang="en-US" dirty="0"/>
              <a:t>Con: VMAT delivery the dose rate variation vs gantry may be </a:t>
            </a:r>
            <a:r>
              <a:rPr lang="en-US" altLang="en-US" dirty="0" smtClean="0"/>
              <a:t>obscured</a:t>
            </a:r>
          </a:p>
          <a:p>
            <a:endParaRPr lang="en-US" altLang="en-US" dirty="0"/>
          </a:p>
          <a:p>
            <a:r>
              <a:rPr lang="en-US" altLang="en-US" b="1" dirty="0" smtClean="0"/>
              <a:t>Report recommends against PC</a:t>
            </a:r>
            <a:endParaRPr lang="en-US" altLang="en-US" b="1" dirty="0"/>
          </a:p>
          <a:p>
            <a:endParaRPr lang="en-US" dirty="0"/>
          </a:p>
        </p:txBody>
      </p:sp>
    </p:spTree>
    <p:extLst>
      <p:ext uri="{BB962C8B-B14F-4D97-AF65-F5344CB8AC3E}">
        <p14:creationId xmlns:p14="http://schemas.microsoft.com/office/powerpoint/2010/main" val="30407408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11480" y="347472"/>
            <a:ext cx="11074576" cy="461665"/>
          </a:xfrm>
        </p:spPr>
        <p:txBody>
          <a:bodyPr/>
          <a:lstStyle/>
          <a:p>
            <a:r>
              <a:rPr lang="en-US" altLang="en-US" dirty="0">
                <a:solidFill>
                  <a:schemeClr val="accent5">
                    <a:lumMod val="75000"/>
                  </a:schemeClr>
                </a:solidFill>
              </a:rPr>
              <a:t>Perpendicular field by field (PFF)</a:t>
            </a:r>
          </a:p>
        </p:txBody>
      </p:sp>
      <mc:AlternateContent xmlns:mc="http://schemas.openxmlformats.org/markup-compatibility/2006" xmlns:a14="http://schemas.microsoft.com/office/drawing/2010/main">
        <mc:Choice Requires="a14">
          <p:sp>
            <p:nvSpPr>
              <p:cNvPr id="8" name="Content Placeholder 2"/>
              <p:cNvSpPr txBox="1">
                <a:spLocks/>
              </p:cNvSpPr>
              <p:nvPr/>
            </p:nvSpPr>
            <p:spPr bwMode="auto">
              <a:xfrm>
                <a:off x="628779" y="809137"/>
                <a:ext cx="7254312" cy="57474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defRPr/>
                </a:pPr>
                <a:r>
                  <a:rPr lang="en-US" altLang="en-US" dirty="0"/>
                  <a:t>Gantry is fixed at 0 and collimator is fixed a at nominal angle</a:t>
                </a:r>
              </a:p>
              <a:p>
                <a:pPr>
                  <a:spcAft>
                    <a:spcPts val="0"/>
                  </a:spcAft>
                  <a:defRPr/>
                </a:pPr>
                <a:endParaRPr lang="en-US" altLang="en-US" sz="600" dirty="0"/>
              </a:p>
              <a:p>
                <a:pPr marL="0" indent="0">
                  <a:spcAft>
                    <a:spcPts val="0"/>
                  </a:spcAft>
                  <a:buNone/>
                  <a:defRPr/>
                </a:pPr>
                <a:endParaRPr lang="en-US" altLang="en-US" sz="600" dirty="0"/>
              </a:p>
              <a:p>
                <a:pPr>
                  <a:spcAft>
                    <a:spcPts val="0"/>
                  </a:spcAft>
                  <a:defRPr/>
                </a:pPr>
                <a:r>
                  <a:rPr lang="en-US" altLang="en-US" dirty="0"/>
                  <a:t>Advantage: Samples every part of the field, fast acquisition</a:t>
                </a:r>
              </a:p>
              <a:p>
                <a:pPr>
                  <a:spcAft>
                    <a:spcPts val="0"/>
                  </a:spcAft>
                  <a:defRPr/>
                </a:pPr>
                <a:endParaRPr lang="en-US" altLang="en-US" sz="600" dirty="0"/>
              </a:p>
              <a:p>
                <a:pPr>
                  <a:spcAft>
                    <a:spcPts val="0"/>
                  </a:spcAft>
                  <a:defRPr/>
                </a:pPr>
                <a:r>
                  <a:rPr lang="en-US" altLang="en-US" dirty="0"/>
                  <a:t>Advantage: Field by field analysis can catch subtle dose </a:t>
                </a:r>
                <a:r>
                  <a:rPr lang="en-US" altLang="en-US" dirty="0" smtClean="0"/>
                  <a:t>differences</a:t>
                </a:r>
                <a:endParaRPr lang="en-US" altLang="en-US" sz="1800" dirty="0"/>
              </a:p>
              <a:p>
                <a:pPr>
                  <a:spcAft>
                    <a:spcPts val="0"/>
                  </a:spcAft>
                  <a:defRPr/>
                </a:pPr>
                <a:endParaRPr lang="en-US" altLang="en-US" sz="600" dirty="0"/>
              </a:p>
              <a:p>
                <a:r>
                  <a:rPr lang="en-US" dirty="0"/>
                  <a:t>Con: </a:t>
                </a:r>
                <a14:m>
                  <m:oMath xmlns:m="http://schemas.openxmlformats.org/officeDocument/2006/math">
                    <m:r>
                      <a:rPr lang="en-US" b="1" i="1">
                        <a:latin typeface="Cambria Math" panose="02040503050406030204" pitchFamily="18" charset="0"/>
                        <a:ea typeface="Cambria Math" panose="02040503050406030204" pitchFamily="18" charset="0"/>
                      </a:rPr>
                      <m:t>𝜸</m:t>
                    </m:r>
                  </m:oMath>
                </a14:m>
                <a:r>
                  <a:rPr lang="en-US" dirty="0"/>
                  <a:t> </a:t>
                </a:r>
                <a:r>
                  <a:rPr lang="en-US" dirty="0" smtClean="0"/>
                  <a:t>passing rate more dependent on normalization point than for composite tests</a:t>
                </a:r>
              </a:p>
              <a:p>
                <a:pPr lvl="1"/>
                <a:r>
                  <a:rPr lang="en-US" sz="1600" b="1" dirty="0" smtClean="0"/>
                  <a:t>Question for audience: why?</a:t>
                </a:r>
                <a:endParaRPr lang="en-US" sz="1600" b="1" dirty="0"/>
              </a:p>
              <a:p>
                <a:pPr>
                  <a:defRPr/>
                </a:pPr>
                <a:endParaRPr lang="en-US" altLang="en-US" sz="600" dirty="0"/>
              </a:p>
              <a:p>
                <a:pPr>
                  <a:defRPr/>
                </a:pPr>
                <a:r>
                  <a:rPr lang="en-US" altLang="en-US" dirty="0"/>
                  <a:t>Con: No 3D summation so you can’t know the </a:t>
                </a:r>
                <a:r>
                  <a:rPr lang="en-US" altLang="en-US" dirty="0" smtClean="0"/>
                  <a:t>significance </a:t>
                </a:r>
                <a:r>
                  <a:rPr lang="en-US" altLang="en-US" dirty="0"/>
                  <a:t>of regional </a:t>
                </a:r>
                <a:r>
                  <a:rPr lang="en-US" altLang="en-US" dirty="0" smtClean="0"/>
                  <a:t>errors</a:t>
                </a:r>
                <a:endParaRPr lang="en-US" altLang="en-US" dirty="0"/>
              </a:p>
              <a:p>
                <a:pPr>
                  <a:defRPr/>
                </a:pPr>
                <a:r>
                  <a:rPr lang="en-US" altLang="en-US" b="1" dirty="0" smtClean="0"/>
                  <a:t>TG-218 Recommends this over PC</a:t>
                </a:r>
              </a:p>
              <a:p>
                <a:pPr>
                  <a:defRPr/>
                </a:pPr>
                <a:endParaRPr lang="en-US" altLang="en-US" b="1" dirty="0" smtClean="0"/>
              </a:p>
              <a:p>
                <a:pPr>
                  <a:defRPr/>
                </a:pPr>
                <a:r>
                  <a:rPr lang="en-US" altLang="en-US" dirty="0" smtClean="0"/>
                  <a:t>We do this at Penn – Proton PSQA with </a:t>
                </a:r>
                <a:r>
                  <a:rPr lang="en-US" altLang="en-US" dirty="0" err="1" smtClean="0"/>
                  <a:t>MatrixX</a:t>
                </a:r>
                <a:r>
                  <a:rPr lang="en-US" altLang="en-US" dirty="0" smtClean="0"/>
                  <a:t>, IMRT QA with </a:t>
                </a:r>
                <a:r>
                  <a:rPr lang="en-US" altLang="en-US" dirty="0" err="1" smtClean="0"/>
                  <a:t>MapCheck</a:t>
                </a:r>
                <a:r>
                  <a:rPr lang="en-US" altLang="en-US" dirty="0" smtClean="0"/>
                  <a:t> and Portal Dosimetry</a:t>
                </a:r>
                <a:endParaRPr lang="en-US" altLang="en-US" dirty="0"/>
              </a:p>
              <a:p>
                <a:endParaRPr lang="en-US" dirty="0"/>
              </a:p>
            </p:txBody>
          </p:sp>
        </mc:Choice>
        <mc:Fallback xmlns="">
          <p:sp>
            <p:nvSpPr>
              <p:cNvPr id="8" name="Content Placeholder 2"/>
              <p:cNvSpPr txBox="1">
                <a:spLocks noRot="1" noChangeAspect="1" noMove="1" noResize="1" noEditPoints="1" noAdjustHandles="1" noChangeArrowheads="1" noChangeShapeType="1" noTextEdit="1"/>
              </p:cNvSpPr>
              <p:nvPr/>
            </p:nvSpPr>
            <p:spPr bwMode="auto">
              <a:xfrm>
                <a:off x="628779" y="809137"/>
                <a:ext cx="7254312" cy="5747441"/>
              </a:xfrm>
              <a:prstGeom prst="rect">
                <a:avLst/>
              </a:prstGeom>
              <a:blipFill>
                <a:blip r:embed="rId3"/>
                <a:stretch>
                  <a:fillRect l="-2521" r="-67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7883091" y="1910062"/>
            <a:ext cx="4191000" cy="3095625"/>
          </a:xfrm>
          <a:prstGeom prst="rect">
            <a:avLst/>
          </a:prstGeom>
        </p:spPr>
      </p:pic>
    </p:spTree>
    <p:extLst>
      <p:ext uri="{BB962C8B-B14F-4D97-AF65-F5344CB8AC3E}">
        <p14:creationId xmlns:p14="http://schemas.microsoft.com/office/powerpoint/2010/main" val="38400463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11480" y="347472"/>
            <a:ext cx="11074576" cy="461665"/>
          </a:xfrm>
        </p:spPr>
        <p:txBody>
          <a:bodyPr/>
          <a:lstStyle/>
          <a:p>
            <a:r>
              <a:rPr lang="en-US" altLang="en-US" dirty="0">
                <a:solidFill>
                  <a:schemeClr val="accent5">
                    <a:lumMod val="75000"/>
                  </a:schemeClr>
                </a:solidFill>
              </a:rPr>
              <a:t>True composite (TC)</a:t>
            </a:r>
          </a:p>
        </p:txBody>
      </p:sp>
      <p:sp>
        <p:nvSpPr>
          <p:cNvPr id="6" name="Content Placeholder 2"/>
          <p:cNvSpPr txBox="1">
            <a:spLocks/>
          </p:cNvSpPr>
          <p:nvPr/>
        </p:nvSpPr>
        <p:spPr bwMode="auto">
          <a:xfrm>
            <a:off x="607997" y="1114750"/>
            <a:ext cx="11071946" cy="494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altLang="en-US" dirty="0"/>
              <a:t>Use real plan parameters</a:t>
            </a:r>
          </a:p>
          <a:p>
            <a:pPr>
              <a:defRPr/>
            </a:pPr>
            <a:r>
              <a:rPr lang="en-US" altLang="en-US" dirty="0"/>
              <a:t>Advantage: uses </a:t>
            </a:r>
            <a:r>
              <a:rPr lang="en-US" altLang="en-US" i="1" u="sng" dirty="0"/>
              <a:t>actual</a:t>
            </a:r>
            <a:r>
              <a:rPr lang="en-US" altLang="en-US" dirty="0"/>
              <a:t> gantry, collimator, couch angles. Includes inaccuracies/effects of:</a:t>
            </a:r>
          </a:p>
          <a:p>
            <a:pPr lvl="1">
              <a:defRPr/>
            </a:pPr>
            <a:r>
              <a:rPr lang="en-US" altLang="en-US" sz="1600" dirty="0"/>
              <a:t>Gantry, collimator, couch angles, and MLC leaf positions with gravitational effects </a:t>
            </a:r>
          </a:p>
          <a:p>
            <a:pPr lvl="1">
              <a:defRPr/>
            </a:pPr>
            <a:r>
              <a:rPr lang="en-US" altLang="en-US" sz="1600" dirty="0"/>
              <a:t>Couch top attenuation</a:t>
            </a:r>
          </a:p>
          <a:p>
            <a:pPr lvl="1">
              <a:defRPr/>
            </a:pPr>
            <a:endParaRPr lang="en-US" altLang="en-US" sz="600" dirty="0"/>
          </a:p>
          <a:p>
            <a:pPr>
              <a:defRPr/>
            </a:pPr>
            <a:r>
              <a:rPr lang="en-US" altLang="en-US" dirty="0"/>
              <a:t>Advantage: Provides an actual dose in a 2D plane of a 3D dose </a:t>
            </a:r>
          </a:p>
          <a:p>
            <a:pPr lvl="1">
              <a:defRPr/>
            </a:pPr>
            <a:r>
              <a:rPr lang="en-US" altLang="en-US" sz="1600" dirty="0"/>
              <a:t>proximity between the high dose region and organ at risk lying on a plane can be assessed</a:t>
            </a:r>
          </a:p>
          <a:p>
            <a:pPr lvl="1">
              <a:defRPr/>
            </a:pPr>
            <a:r>
              <a:rPr lang="en-US" altLang="en-US" sz="1600" dirty="0"/>
              <a:t>one dose image to analyze per plan </a:t>
            </a:r>
          </a:p>
          <a:p>
            <a:pPr marL="357187" lvl="1" indent="0">
              <a:buNone/>
              <a:defRPr/>
            </a:pPr>
            <a:endParaRPr lang="en-US" altLang="en-US" sz="600" dirty="0"/>
          </a:p>
          <a:p>
            <a:pPr>
              <a:defRPr/>
            </a:pPr>
            <a:r>
              <a:rPr lang="en-US" altLang="en-US" dirty="0"/>
              <a:t>Con: does not sample every part of each </a:t>
            </a:r>
            <a:r>
              <a:rPr lang="en-US" altLang="en-US" dirty="0" smtClean="0"/>
              <a:t>beam if using 2D detector</a:t>
            </a:r>
          </a:p>
          <a:p>
            <a:pPr lvl="1">
              <a:defRPr/>
            </a:pPr>
            <a:r>
              <a:rPr lang="en-US" altLang="en-US" dirty="0" smtClean="0"/>
              <a:t>Not true if using a 3D detector</a:t>
            </a:r>
          </a:p>
          <a:p>
            <a:pPr>
              <a:defRPr/>
            </a:pPr>
            <a:endParaRPr lang="en-US" altLang="en-US" dirty="0"/>
          </a:p>
          <a:p>
            <a:pPr>
              <a:defRPr/>
            </a:pPr>
            <a:r>
              <a:rPr lang="en-US" altLang="en-US" dirty="0" smtClean="0"/>
              <a:t>TG-218 Recommends this over others, but PFF is also good</a:t>
            </a:r>
          </a:p>
          <a:p>
            <a:endParaRPr lang="en-US" dirty="0"/>
          </a:p>
          <a:p>
            <a:r>
              <a:rPr lang="en-US" dirty="0" smtClean="0"/>
              <a:t>We do this at Penn with </a:t>
            </a:r>
            <a:r>
              <a:rPr lang="en-US" dirty="0" err="1" smtClean="0"/>
              <a:t>ArcCHECK</a:t>
            </a:r>
            <a:endParaRPr lang="en-US" dirty="0"/>
          </a:p>
        </p:txBody>
      </p:sp>
    </p:spTree>
    <p:extLst>
      <p:ext uri="{BB962C8B-B14F-4D97-AF65-F5344CB8AC3E}">
        <p14:creationId xmlns:p14="http://schemas.microsoft.com/office/powerpoint/2010/main" val="2207718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11480" y="347472"/>
            <a:ext cx="4659091" cy="461665"/>
          </a:xfrm>
        </p:spPr>
        <p:txBody>
          <a:bodyPr/>
          <a:lstStyle/>
          <a:p>
            <a:r>
              <a:rPr lang="en-US" altLang="en-US" dirty="0">
                <a:solidFill>
                  <a:schemeClr val="accent5">
                    <a:lumMod val="75000"/>
                  </a:schemeClr>
                </a:solidFill>
              </a:rPr>
              <a:t>Absolute dose verification</a:t>
            </a:r>
          </a:p>
        </p:txBody>
      </p:sp>
      <p:sp>
        <p:nvSpPr>
          <p:cNvPr id="4" name="Content Placeholder 2"/>
          <p:cNvSpPr txBox="1">
            <a:spLocks/>
          </p:cNvSpPr>
          <p:nvPr/>
        </p:nvSpPr>
        <p:spPr bwMode="auto">
          <a:xfrm>
            <a:off x="607997" y="1114750"/>
            <a:ext cx="11071946" cy="5198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Single point (small averaged volume)</a:t>
            </a:r>
          </a:p>
          <a:p>
            <a:pPr lvl="1"/>
            <a:r>
              <a:rPr lang="en-US" altLang="en-US" sz="2000" dirty="0"/>
              <a:t>Cylindrical IC with stylized QA phantoms</a:t>
            </a:r>
          </a:p>
          <a:p>
            <a:pPr lvl="1"/>
            <a:r>
              <a:rPr lang="en-US" altLang="en-US" sz="2000" dirty="0"/>
              <a:t>Verify MU setting to absolute dose for a point location</a:t>
            </a:r>
          </a:p>
          <a:p>
            <a:pPr lvl="2"/>
            <a:r>
              <a:rPr lang="en-US" altLang="en-US" sz="2000" dirty="0"/>
              <a:t>Helpful for rescaling</a:t>
            </a:r>
          </a:p>
          <a:p>
            <a:pPr lvl="1"/>
            <a:r>
              <a:rPr lang="en-US" altLang="en-US" sz="2000" dirty="0"/>
              <a:t>Measurement preformed in a non-gradient region, where dose variation is within 5% of mean chamber dose to minimize volume averaging</a:t>
            </a:r>
          </a:p>
          <a:p>
            <a:r>
              <a:rPr lang="en-US" altLang="en-US" dirty="0"/>
              <a:t>2D methods (single field vs composite dose)</a:t>
            </a:r>
          </a:p>
          <a:p>
            <a:pPr lvl="1"/>
            <a:r>
              <a:rPr lang="en-US" altLang="en-US" sz="2000" dirty="0"/>
              <a:t>IC arrays, diode arrays, EPIDs, and film </a:t>
            </a:r>
          </a:p>
          <a:p>
            <a:pPr lvl="1"/>
            <a:r>
              <a:rPr lang="en-US" altLang="en-US" sz="2000" dirty="0"/>
              <a:t>Relative dose comparisons or be calibrated and used the measured absolute dose</a:t>
            </a:r>
          </a:p>
          <a:p>
            <a:pPr lvl="1"/>
            <a:r>
              <a:rPr lang="en-US" altLang="en-US" sz="2000" dirty="0"/>
              <a:t>Film provides the highest spatial resolution</a:t>
            </a:r>
          </a:p>
          <a:p>
            <a:r>
              <a:rPr lang="en-US" altLang="en-US" dirty="0"/>
              <a:t>3D methods</a:t>
            </a:r>
          </a:p>
          <a:p>
            <a:pPr lvl="1"/>
            <a:r>
              <a:rPr lang="en-US" altLang="en-US" sz="2000" dirty="0"/>
              <a:t>3D gels</a:t>
            </a:r>
          </a:p>
          <a:p>
            <a:pPr lvl="1"/>
            <a:r>
              <a:rPr lang="en-US" altLang="en-US" sz="2000" dirty="0"/>
              <a:t>PRESSAGE dosimeters</a:t>
            </a:r>
            <a:endParaRPr lang="en-US" altLang="en-US" sz="1800" dirty="0"/>
          </a:p>
          <a:p>
            <a:endParaRPr lang="en-US" dirty="0"/>
          </a:p>
        </p:txBody>
      </p:sp>
      <p:sp>
        <p:nvSpPr>
          <p:cNvPr id="2" name="TextBox 1"/>
          <p:cNvSpPr txBox="1"/>
          <p:nvPr/>
        </p:nvSpPr>
        <p:spPr bwMode="auto">
          <a:xfrm>
            <a:off x="2188029" y="6434484"/>
            <a:ext cx="8001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b" anchorCtr="0" compatLnSpc="1">
            <a:prstTxWarp prst="textNoShape">
              <a:avLst/>
            </a:prstTxWarp>
            <a:spAutoFit/>
          </a:bodyPr>
          <a:lstStyle/>
          <a:p>
            <a:pPr algn="ctr"/>
            <a:r>
              <a:rPr lang="en-US" altLang="en-US" sz="1800" b="1">
                <a:solidFill>
                  <a:schemeClr val="accent5">
                    <a:lumMod val="75000"/>
                  </a:schemeClr>
                </a:solidFill>
              </a:rPr>
              <a:t>*</a:t>
            </a:r>
            <a:r>
              <a:rPr lang="en-US" altLang="en-US" sz="1800"/>
              <a:t>Referred to TG-120 for IMRT implementation and commissioning</a:t>
            </a:r>
          </a:p>
        </p:txBody>
      </p:sp>
    </p:spTree>
    <p:extLst>
      <p:ext uri="{BB962C8B-B14F-4D97-AF65-F5344CB8AC3E}">
        <p14:creationId xmlns:p14="http://schemas.microsoft.com/office/powerpoint/2010/main" val="1803531245"/>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006" y="246053"/>
            <a:ext cx="11074576" cy="461665"/>
          </a:xfrm>
        </p:spPr>
        <p:txBody>
          <a:bodyPr/>
          <a:lstStyle/>
          <a:p>
            <a:r>
              <a:rPr lang="en-US" dirty="0">
                <a:solidFill>
                  <a:schemeClr val="accent5">
                    <a:lumMod val="75000"/>
                  </a:schemeClr>
                </a:solidFill>
              </a:rPr>
              <a:t>Suggestions for IMRT QA for fixed gantry and rotational</a:t>
            </a:r>
          </a:p>
        </p:txBody>
      </p:sp>
      <p:sp>
        <p:nvSpPr>
          <p:cNvPr id="3" name="Content Placeholder 2"/>
          <p:cNvSpPr>
            <a:spLocks noGrp="1"/>
          </p:cNvSpPr>
          <p:nvPr>
            <p:ph idx="1"/>
          </p:nvPr>
        </p:nvSpPr>
        <p:spPr>
          <a:xfrm>
            <a:off x="435006" y="772237"/>
            <a:ext cx="11594237" cy="6937510"/>
          </a:xfrm>
        </p:spPr>
        <p:txBody>
          <a:bodyPr/>
          <a:lstStyle/>
          <a:p>
            <a:r>
              <a:rPr lang="en-US" dirty="0"/>
              <a:t>Should be performed with True Composite </a:t>
            </a:r>
          </a:p>
          <a:p>
            <a:pPr lvl="1"/>
            <a:r>
              <a:rPr lang="en-US" dirty="0"/>
              <a:t>provided the QA device has negligible angular dependence or the angular dependence is accounted for</a:t>
            </a:r>
          </a:p>
          <a:p>
            <a:r>
              <a:rPr lang="en-US" dirty="0"/>
              <a:t>PFF if the QA device is not suitable for TC</a:t>
            </a:r>
          </a:p>
          <a:p>
            <a:r>
              <a:rPr lang="en-US" dirty="0"/>
              <a:t>Do not use perpendicular composite (no rotation, all summed dose)</a:t>
            </a:r>
          </a:p>
          <a:p>
            <a:r>
              <a:rPr lang="en-US" dirty="0"/>
              <a:t>Analysis in absolute dose mode</a:t>
            </a:r>
          </a:p>
          <a:p>
            <a:r>
              <a:rPr lang="en-US" dirty="0"/>
              <a:t>Recommendation of a dose calibration should be done before each measurement session</a:t>
            </a:r>
          </a:p>
          <a:p>
            <a:r>
              <a:rPr lang="en-US" dirty="0"/>
              <a:t>Global normalization </a:t>
            </a:r>
            <a:endParaRPr lang="en-US" b="0" dirty="0"/>
          </a:p>
          <a:p>
            <a:pPr lvl="1"/>
            <a:r>
              <a:rPr lang="en-US" sz="1400" dirty="0"/>
              <a:t>should be used; deemed more clinically relevant than local normalization </a:t>
            </a:r>
          </a:p>
          <a:p>
            <a:pPr lvl="1"/>
            <a:r>
              <a:rPr lang="en-US" sz="1400" dirty="0"/>
              <a:t>normalization point should be selected in a low gradient region with a value ≥ 90% of the max dose in the plane of measurement</a:t>
            </a:r>
            <a:endParaRPr lang="en-US" dirty="0"/>
          </a:p>
          <a:p>
            <a:r>
              <a:rPr lang="en-US" dirty="0"/>
              <a:t>Local normalization</a:t>
            </a:r>
          </a:p>
          <a:p>
            <a:pPr lvl="1"/>
            <a:r>
              <a:rPr lang="en-US" sz="1600" dirty="0"/>
              <a:t>more stringent, only suggested during commissioning</a:t>
            </a:r>
          </a:p>
          <a:p>
            <a:r>
              <a:rPr lang="en-US" dirty="0"/>
              <a:t>Use a dose threshold, example of 10%</a:t>
            </a:r>
          </a:p>
          <a:p>
            <a:r>
              <a:rPr lang="en-US" dirty="0"/>
              <a:t>Tolerance limits for PFF and TC</a:t>
            </a:r>
          </a:p>
          <a:p>
            <a:pPr lvl="1"/>
            <a:r>
              <a:rPr lang="en-US" dirty="0"/>
              <a:t>Tolerance limit: Gamma pass rate should be ≥ 95% with 3%/2mm and 10% dose threshold</a:t>
            </a:r>
          </a:p>
          <a:p>
            <a:pPr lvl="1"/>
            <a:r>
              <a:rPr lang="en-US" dirty="0"/>
              <a:t>Action limit: Gamma pass rate should be ≥ 90% with 3%/2mm and 10% dose threshold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5379638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5006" y="991296"/>
            <a:ext cx="11656380" cy="4875407"/>
          </a:xfrm>
        </p:spPr>
        <p:txBody>
          <a:bodyPr/>
          <a:lstStyle/>
          <a:p>
            <a:r>
              <a:rPr lang="en-US" dirty="0"/>
              <a:t>If a plan fails the action limit, do not deliver the plan clinically</a:t>
            </a:r>
          </a:p>
          <a:p>
            <a:pPr lvl="1"/>
            <a:r>
              <a:rPr lang="en-US" dirty="0"/>
              <a:t>Is it in a region that is clinically relevant</a:t>
            </a:r>
          </a:p>
          <a:p>
            <a:r>
              <a:rPr lang="en-US" dirty="0"/>
              <a:t>Tighter tolerance of 2%/1mm or 1%/1mm maybe necessary for specific treatment sites or delivery machine (SRS or SBRT)</a:t>
            </a:r>
          </a:p>
          <a:p>
            <a:r>
              <a:rPr lang="en-US" dirty="0"/>
              <a:t>IMRT with IC and film tolerance and action limit should be ≤2% and ≤3%</a:t>
            </a:r>
          </a:p>
          <a:p>
            <a:r>
              <a:rPr lang="en-US" dirty="0"/>
              <a:t>Any plan not at 100%, look at the following</a:t>
            </a:r>
          </a:p>
          <a:p>
            <a:pPr lvl="1"/>
            <a:r>
              <a:rPr lang="en-US" dirty="0"/>
              <a:t>Number of points failing</a:t>
            </a:r>
          </a:p>
          <a:p>
            <a:pPr lvl="1"/>
            <a:r>
              <a:rPr lang="en-US" dirty="0"/>
              <a:t>Histogram</a:t>
            </a:r>
          </a:p>
          <a:p>
            <a:r>
              <a:rPr lang="en-US" dirty="0"/>
              <a:t>Gamma analysis on a per structure basis</a:t>
            </a:r>
          </a:p>
          <a:p>
            <a:r>
              <a:rPr lang="en-US" dirty="0"/>
              <a:t>Track gamma passing rates across all patients</a:t>
            </a:r>
          </a:p>
          <a:p>
            <a:r>
              <a:rPr lang="en-US" dirty="0"/>
              <a:t>If your passing rates don’t match what is suggested in this document, revisit TG – 119</a:t>
            </a:r>
          </a:p>
          <a:p>
            <a:r>
              <a:rPr lang="en-US" dirty="0"/>
              <a:t>IROC Houston IMRT phantom suggested</a:t>
            </a:r>
          </a:p>
          <a:p>
            <a:pPr marL="0" indent="0">
              <a:buNone/>
            </a:pPr>
            <a:endParaRPr lang="en-US" dirty="0"/>
          </a:p>
        </p:txBody>
      </p:sp>
      <p:sp>
        <p:nvSpPr>
          <p:cNvPr id="5" name="Title 1">
            <a:extLst>
              <a:ext uri="{FF2B5EF4-FFF2-40B4-BE49-F238E27FC236}">
                <a16:creationId xmlns:a16="http://schemas.microsoft.com/office/drawing/2014/main" id="{649EF23F-BF22-25B2-3F69-3EF50A92A52F}"/>
              </a:ext>
            </a:extLst>
          </p:cNvPr>
          <p:cNvSpPr>
            <a:spLocks noGrp="1"/>
          </p:cNvSpPr>
          <p:nvPr>
            <p:ph type="title"/>
          </p:nvPr>
        </p:nvSpPr>
        <p:spPr>
          <a:xfrm>
            <a:off x="435006" y="246053"/>
            <a:ext cx="11074576" cy="461665"/>
          </a:xfrm>
        </p:spPr>
        <p:txBody>
          <a:bodyPr/>
          <a:lstStyle/>
          <a:p>
            <a:r>
              <a:rPr lang="en-US" dirty="0">
                <a:solidFill>
                  <a:schemeClr val="accent5">
                    <a:lumMod val="75000"/>
                  </a:schemeClr>
                </a:solidFill>
              </a:rPr>
              <a:t>Suggestions for IMRT QA for fixed gantry and rotational</a:t>
            </a:r>
          </a:p>
        </p:txBody>
      </p:sp>
    </p:spTree>
    <p:extLst>
      <p:ext uri="{BB962C8B-B14F-4D97-AF65-F5344CB8AC3E}">
        <p14:creationId xmlns:p14="http://schemas.microsoft.com/office/powerpoint/2010/main" val="12454260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lumMod val="75000"/>
                  </a:schemeClr>
                </a:solidFill>
              </a:rPr>
              <a:t>Actions for failed or marginal QA results</a:t>
            </a:r>
          </a:p>
        </p:txBody>
      </p:sp>
      <p:sp>
        <p:nvSpPr>
          <p:cNvPr id="3" name="Content Placeholder 2"/>
          <p:cNvSpPr>
            <a:spLocks noGrp="1"/>
          </p:cNvSpPr>
          <p:nvPr>
            <p:ph idx="1"/>
          </p:nvPr>
        </p:nvSpPr>
        <p:spPr>
          <a:xfrm>
            <a:off x="605368" y="1341715"/>
            <a:ext cx="7366780" cy="3198025"/>
          </a:xfrm>
        </p:spPr>
        <p:txBody>
          <a:bodyPr/>
          <a:lstStyle/>
          <a:p>
            <a:pPr marL="0" indent="0">
              <a:buNone/>
            </a:pPr>
            <a:r>
              <a:rPr lang="en-US" dirty="0"/>
              <a:t>When a failure occurs, investigate it using the following: </a:t>
            </a:r>
          </a:p>
          <a:p>
            <a:pPr marL="0" indent="0">
              <a:buNone/>
            </a:pPr>
            <a:endParaRPr lang="en-US" dirty="0"/>
          </a:p>
          <a:p>
            <a:r>
              <a:rPr lang="en-US" dirty="0"/>
              <a:t>Set Up and Beam</a:t>
            </a:r>
          </a:p>
          <a:p>
            <a:r>
              <a:rPr lang="en-US" dirty="0"/>
              <a:t>IMRT QA software</a:t>
            </a:r>
          </a:p>
          <a:p>
            <a:r>
              <a:rPr lang="en-US" dirty="0" err="1"/>
              <a:t>Multileaf</a:t>
            </a:r>
            <a:r>
              <a:rPr lang="en-US" dirty="0"/>
              <a:t> Collimator (MLC)</a:t>
            </a:r>
          </a:p>
          <a:p>
            <a:r>
              <a:rPr lang="en-US" dirty="0"/>
              <a:t>Treatment Planning System (TPS)</a:t>
            </a:r>
          </a:p>
          <a:p>
            <a:pPr marL="0" indent="0">
              <a:buNone/>
            </a:pPr>
            <a:endParaRPr lang="en-US" dirty="0"/>
          </a:p>
          <a:p>
            <a:endParaRPr lang="en-US" dirty="0"/>
          </a:p>
        </p:txBody>
      </p:sp>
    </p:spTree>
    <p:extLst>
      <p:ext uri="{BB962C8B-B14F-4D97-AF65-F5344CB8AC3E}">
        <p14:creationId xmlns:p14="http://schemas.microsoft.com/office/powerpoint/2010/main" val="30399388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lumMod val="75000"/>
                  </a:schemeClr>
                </a:solidFill>
              </a:rPr>
              <a:t>Actions for failed or marginal QA results</a:t>
            </a:r>
          </a:p>
        </p:txBody>
      </p:sp>
      <p:sp>
        <p:nvSpPr>
          <p:cNvPr id="3" name="Content Placeholder 2"/>
          <p:cNvSpPr>
            <a:spLocks noGrp="1"/>
          </p:cNvSpPr>
          <p:nvPr>
            <p:ph idx="1"/>
          </p:nvPr>
        </p:nvSpPr>
        <p:spPr>
          <a:xfrm>
            <a:off x="605368" y="1178527"/>
            <a:ext cx="10855704" cy="4500945"/>
          </a:xfrm>
        </p:spPr>
        <p:txBody>
          <a:bodyPr/>
          <a:lstStyle/>
          <a:p>
            <a:r>
              <a:rPr lang="en-US" dirty="0"/>
              <a:t>Set Up and Beam</a:t>
            </a:r>
          </a:p>
          <a:p>
            <a:pPr lvl="1"/>
            <a:r>
              <a:rPr lang="en-US" dirty="0"/>
              <a:t>Phantom setup</a:t>
            </a:r>
          </a:p>
          <a:p>
            <a:pPr lvl="1"/>
            <a:r>
              <a:rPr lang="en-US" dirty="0"/>
              <a:t>Correct plan version in R&amp;V system</a:t>
            </a:r>
          </a:p>
          <a:p>
            <a:pPr lvl="1"/>
            <a:r>
              <a:rPr lang="en-US" dirty="0"/>
              <a:t>Correct plan generated, correct dose per fraction, correct delivery technique, and data transfer</a:t>
            </a:r>
          </a:p>
          <a:p>
            <a:pPr lvl="1"/>
            <a:r>
              <a:rPr lang="en-US" dirty="0"/>
              <a:t>Beam flatness, symmetry, and output on the day of measurement</a:t>
            </a:r>
          </a:p>
          <a:p>
            <a:pPr lvl="1"/>
            <a:r>
              <a:rPr lang="en-US" dirty="0"/>
              <a:t>Beam stability (with low MU)</a:t>
            </a:r>
          </a:p>
          <a:p>
            <a:pPr lvl="1"/>
            <a:r>
              <a:rPr lang="en-US" dirty="0"/>
              <a:t>Accuracy, stability, and calibration of measurement device</a:t>
            </a:r>
          </a:p>
          <a:p>
            <a:pPr lvl="1"/>
            <a:r>
              <a:rPr lang="en-US" dirty="0"/>
              <a:t>Detector size and </a:t>
            </a:r>
            <a:r>
              <a:rPr lang="en-US" dirty="0" err="1"/>
              <a:t>interdetector</a:t>
            </a:r>
            <a:r>
              <a:rPr lang="en-US" dirty="0"/>
              <a:t> spacing (especially for SRS)</a:t>
            </a:r>
          </a:p>
          <a:p>
            <a:pPr lvl="1"/>
            <a:r>
              <a:rPr lang="en-US" dirty="0"/>
              <a:t>Dose </a:t>
            </a:r>
            <a:r>
              <a:rPr lang="en-US" dirty="0" smtClean="0"/>
              <a:t>value of </a:t>
            </a:r>
            <a:r>
              <a:rPr lang="en-US" dirty="0"/>
              <a:t>global normalization point</a:t>
            </a:r>
          </a:p>
          <a:p>
            <a:pPr marL="357187" lvl="1" indent="0">
              <a:buNone/>
            </a:pPr>
            <a:endParaRPr lang="en-US" dirty="0"/>
          </a:p>
          <a:p>
            <a:r>
              <a:rPr lang="en-US" dirty="0"/>
              <a:t>IMRT QA software</a:t>
            </a:r>
          </a:p>
          <a:p>
            <a:pPr lvl="1"/>
            <a:r>
              <a:rPr lang="en-US" dirty="0"/>
              <a:t>Correct reporting and handling of plan</a:t>
            </a:r>
          </a:p>
          <a:p>
            <a:pPr lvl="1"/>
            <a:r>
              <a:rPr lang="en-US" dirty="0" smtClean="0"/>
              <a:t>Recheck Dose</a:t>
            </a:r>
            <a:r>
              <a:rPr lang="en-US" dirty="0"/>
              <a:t>, DTA tolerance, threshold, registration of measured and calculation dose distributions</a:t>
            </a:r>
          </a:p>
        </p:txBody>
      </p:sp>
    </p:spTree>
    <p:extLst>
      <p:ext uri="{BB962C8B-B14F-4D97-AF65-F5344CB8AC3E}">
        <p14:creationId xmlns:p14="http://schemas.microsoft.com/office/powerpoint/2010/main" val="10652853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lumMod val="75000"/>
                  </a:schemeClr>
                </a:solidFill>
              </a:rPr>
              <a:t>Actions for failed or marginal QA results</a:t>
            </a:r>
          </a:p>
        </p:txBody>
      </p:sp>
      <p:sp>
        <p:nvSpPr>
          <p:cNvPr id="4" name="Content Placeholder 2"/>
          <p:cNvSpPr txBox="1">
            <a:spLocks/>
          </p:cNvSpPr>
          <p:nvPr/>
        </p:nvSpPr>
        <p:spPr bwMode="auto">
          <a:xfrm>
            <a:off x="904523" y="1605806"/>
            <a:ext cx="7826375" cy="280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Multi-leaf Collimator</a:t>
            </a:r>
          </a:p>
          <a:p>
            <a:pPr lvl="1"/>
            <a:r>
              <a:rPr lang="en-US" sz="1800" dirty="0"/>
              <a:t>Review results of periodic general IMRT PSQA</a:t>
            </a:r>
          </a:p>
          <a:p>
            <a:pPr lvl="1"/>
            <a:r>
              <a:rPr lang="en-US" sz="1800" dirty="0"/>
              <a:t>Leaf tolerances (speed, position, acceleration/</a:t>
            </a:r>
            <a:r>
              <a:rPr lang="en-US" sz="1800" dirty="0" err="1"/>
              <a:t>decleration</a:t>
            </a:r>
            <a:r>
              <a:rPr lang="en-US" sz="1800" dirty="0"/>
              <a:t>) </a:t>
            </a:r>
          </a:p>
          <a:p>
            <a:pPr lvl="1"/>
            <a:r>
              <a:rPr lang="en-US" sz="1800" dirty="0"/>
              <a:t>Tongue and groove effects (may require high-resolution detector)</a:t>
            </a:r>
          </a:p>
          <a:p>
            <a:pPr lvl="1"/>
            <a:r>
              <a:rPr lang="en-US" sz="1800" dirty="0"/>
              <a:t>Beam profile data for both collimator and MLC defined fields</a:t>
            </a:r>
          </a:p>
          <a:p>
            <a:pPr lvl="1"/>
            <a:r>
              <a:rPr lang="en-US" sz="1800" dirty="0" err="1" smtClean="0"/>
              <a:t>Dosimetric</a:t>
            </a:r>
            <a:r>
              <a:rPr lang="en-US" sz="1800" dirty="0" smtClean="0"/>
              <a:t> </a:t>
            </a:r>
            <a:r>
              <a:rPr lang="en-US" sz="1800" dirty="0"/>
              <a:t>leaf gap</a:t>
            </a:r>
          </a:p>
          <a:p>
            <a:pPr lvl="1"/>
            <a:r>
              <a:rPr lang="en-US" sz="1800" dirty="0"/>
              <a:t>Intra and Inter leaf transmission</a:t>
            </a:r>
          </a:p>
          <a:p>
            <a:pPr lvl="1"/>
            <a:r>
              <a:rPr lang="en-US" sz="1800" dirty="0"/>
              <a:t>Jaw tracking positions (to minimize leaf transmission)</a:t>
            </a:r>
          </a:p>
        </p:txBody>
      </p:sp>
    </p:spTree>
    <p:extLst>
      <p:ext uri="{BB962C8B-B14F-4D97-AF65-F5344CB8AC3E}">
        <p14:creationId xmlns:p14="http://schemas.microsoft.com/office/powerpoint/2010/main" val="11905997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lumMod val="75000"/>
                  </a:schemeClr>
                </a:solidFill>
              </a:rPr>
              <a:t>Actions for failed or marginal QA results</a:t>
            </a:r>
          </a:p>
        </p:txBody>
      </p:sp>
      <p:sp>
        <p:nvSpPr>
          <p:cNvPr id="3" name="Content Placeholder 2"/>
          <p:cNvSpPr>
            <a:spLocks noGrp="1"/>
          </p:cNvSpPr>
          <p:nvPr>
            <p:ph idx="1"/>
          </p:nvPr>
        </p:nvSpPr>
        <p:spPr>
          <a:xfrm>
            <a:off x="605368" y="1138500"/>
            <a:ext cx="7826375" cy="5101110"/>
          </a:xfrm>
        </p:spPr>
        <p:txBody>
          <a:bodyPr/>
          <a:lstStyle/>
          <a:p>
            <a:r>
              <a:rPr lang="en-US" dirty="0"/>
              <a:t>Treatment planning system</a:t>
            </a:r>
          </a:p>
          <a:p>
            <a:pPr lvl="1"/>
            <a:r>
              <a:rPr lang="en-US" dirty="0"/>
              <a:t>Amount of modulation and complexity of plan</a:t>
            </a:r>
          </a:p>
          <a:p>
            <a:pPr lvl="1"/>
            <a:r>
              <a:rPr lang="en-US" dirty="0"/>
              <a:t>Number of small segments</a:t>
            </a:r>
          </a:p>
          <a:p>
            <a:pPr lvl="1"/>
            <a:r>
              <a:rPr lang="en-US" dirty="0"/>
              <a:t>Total MU (affects transmission dose)</a:t>
            </a:r>
          </a:p>
          <a:p>
            <a:pPr lvl="1"/>
            <a:r>
              <a:rPr lang="en-US" dirty="0"/>
              <a:t>TPS modeling accuracy for small fields (OF, profiles &amp; penumbra)</a:t>
            </a:r>
          </a:p>
          <a:p>
            <a:pPr lvl="1"/>
            <a:r>
              <a:rPr lang="en-US" dirty="0"/>
              <a:t>Characterization of leaf parameters (gap, leaf ends, transmission etc.)</a:t>
            </a:r>
          </a:p>
          <a:p>
            <a:pPr lvl="1"/>
            <a:r>
              <a:rPr lang="en-US" dirty="0"/>
              <a:t>Minimum MU</a:t>
            </a:r>
          </a:p>
          <a:p>
            <a:pPr lvl="1"/>
            <a:r>
              <a:rPr lang="en-US" dirty="0"/>
              <a:t>Minimum segment (or </a:t>
            </a:r>
            <a:r>
              <a:rPr lang="en-US" dirty="0" err="1"/>
              <a:t>beamlet</a:t>
            </a:r>
            <a:r>
              <a:rPr lang="en-US" dirty="0"/>
              <a:t>) size</a:t>
            </a:r>
          </a:p>
          <a:p>
            <a:pPr lvl="1"/>
            <a:r>
              <a:rPr lang="en-US" dirty="0"/>
              <a:t>Grid size (MC)</a:t>
            </a:r>
          </a:p>
          <a:p>
            <a:pPr lvl="1"/>
            <a:r>
              <a:rPr lang="en-US" dirty="0"/>
              <a:t>CT number to HU conversion</a:t>
            </a:r>
          </a:p>
          <a:p>
            <a:pPr lvl="1"/>
            <a:r>
              <a:rPr lang="en-US" dirty="0"/>
              <a:t>Multiple carriage beams</a:t>
            </a:r>
          </a:p>
          <a:p>
            <a:pPr lvl="1"/>
            <a:r>
              <a:rPr lang="en-US" dirty="0"/>
              <a:t>Gantry-angle spacing for VMAT delivery</a:t>
            </a:r>
          </a:p>
          <a:p>
            <a:pPr lvl="1"/>
            <a:r>
              <a:rPr lang="en-US" dirty="0"/>
              <a:t>All previous items checked during IMRT commissioning</a:t>
            </a:r>
          </a:p>
          <a:p>
            <a:pPr marL="357187" lvl="1" indent="0">
              <a:buNone/>
            </a:pPr>
            <a:endParaRPr lang="en-US" dirty="0"/>
          </a:p>
          <a:p>
            <a:pPr lvl="1"/>
            <a:endParaRPr lang="en-US" dirty="0"/>
          </a:p>
        </p:txBody>
      </p:sp>
    </p:spTree>
    <p:extLst>
      <p:ext uri="{BB962C8B-B14F-4D97-AF65-F5344CB8AC3E}">
        <p14:creationId xmlns:p14="http://schemas.microsoft.com/office/powerpoint/2010/main" val="16901193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712" y="1819802"/>
            <a:ext cx="7826375" cy="1966918"/>
          </a:xfrm>
        </p:spPr>
        <p:txBody>
          <a:bodyPr/>
          <a:lstStyle/>
          <a:p>
            <a:r>
              <a:rPr lang="en-US" dirty="0"/>
              <a:t>Gamma pass rate per vendor were evaluated</a:t>
            </a:r>
          </a:p>
          <a:p>
            <a:r>
              <a:rPr lang="en-US" dirty="0"/>
              <a:t>Recommendation to vendors to work on their software and improve the additional source of uncertainty</a:t>
            </a:r>
          </a:p>
          <a:p>
            <a:r>
              <a:rPr lang="en-US" dirty="0"/>
              <a:t>Recommendations in TG 218 can be implemented at clinical level</a:t>
            </a:r>
          </a:p>
          <a:p>
            <a:endParaRPr lang="en-US" dirty="0"/>
          </a:p>
        </p:txBody>
      </p:sp>
      <p:sp>
        <p:nvSpPr>
          <p:cNvPr id="4" name="Title 1">
            <a:extLst>
              <a:ext uri="{FF2B5EF4-FFF2-40B4-BE49-F238E27FC236}">
                <a16:creationId xmlns:a16="http://schemas.microsoft.com/office/drawing/2014/main" id="{5C13A126-FC2C-46CA-8774-FE954DC237B2}"/>
              </a:ext>
            </a:extLst>
          </p:cNvPr>
          <p:cNvSpPr txBox="1">
            <a:spLocks/>
          </p:cNvSpPr>
          <p:nvPr/>
        </p:nvSpPr>
        <p:spPr bwMode="auto">
          <a:xfrm>
            <a:off x="605368" y="476872"/>
            <a:ext cx="11074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dirty="0">
                <a:solidFill>
                  <a:schemeClr val="accent5">
                    <a:lumMod val="75000"/>
                  </a:schemeClr>
                </a:solidFill>
              </a:rPr>
              <a:t>Conclusions</a:t>
            </a:r>
          </a:p>
        </p:txBody>
      </p:sp>
    </p:spTree>
    <p:extLst>
      <p:ext uri="{BB962C8B-B14F-4D97-AF65-F5344CB8AC3E}">
        <p14:creationId xmlns:p14="http://schemas.microsoft.com/office/powerpoint/2010/main" val="29496116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5C5CA7-ADB0-46A2-ED98-09FED05FD907}"/>
              </a:ext>
            </a:extLst>
          </p:cNvPr>
          <p:cNvSpPr>
            <a:spLocks noGrp="1"/>
          </p:cNvSpPr>
          <p:nvPr>
            <p:ph type="title"/>
          </p:nvPr>
        </p:nvSpPr>
        <p:spPr>
          <a:xfrm>
            <a:off x="729126" y="1044421"/>
            <a:ext cx="11074400" cy="4339650"/>
          </a:xfrm>
        </p:spPr>
        <p:txBody>
          <a:bodyPr/>
          <a:lstStyle/>
          <a:p>
            <a:r>
              <a:rPr lang="en-US" altLang="en-US" sz="2400" dirty="0" smtClean="0">
                <a:solidFill>
                  <a:schemeClr val="accent5">
                    <a:lumMod val="75000"/>
                  </a:schemeClr>
                </a:solidFill>
              </a:rPr>
              <a:t>EXTRA SLIDES</a:t>
            </a:r>
            <a:br>
              <a:rPr lang="en-US" altLang="en-US" sz="2400" dirty="0" smtClean="0">
                <a:solidFill>
                  <a:schemeClr val="accent5">
                    <a:lumMod val="75000"/>
                  </a:schemeClr>
                </a:solidFill>
              </a:rPr>
            </a:br>
            <a:r>
              <a:rPr lang="en-US" altLang="en-US" sz="2400" dirty="0">
                <a:solidFill>
                  <a:schemeClr val="accent5">
                    <a:lumMod val="75000"/>
                  </a:schemeClr>
                </a:solidFill>
              </a:rPr>
              <a:t/>
            </a:r>
            <a:br>
              <a:rPr lang="en-US" altLang="en-US" sz="2400" dirty="0">
                <a:solidFill>
                  <a:schemeClr val="accent5">
                    <a:lumMod val="75000"/>
                  </a:schemeClr>
                </a:solidFill>
              </a:rPr>
            </a:br>
            <a:r>
              <a:rPr lang="en-US" altLang="en-US" sz="2400" dirty="0">
                <a:solidFill>
                  <a:schemeClr val="accent5">
                    <a:lumMod val="75000"/>
                  </a:schemeClr>
                </a:solidFill>
              </a:rPr>
              <a:t>Reported IMRT Measured vs. Calculated Methods Agreement</a:t>
            </a:r>
            <a:br>
              <a:rPr lang="en-US" altLang="en-US" sz="2400" dirty="0">
                <a:solidFill>
                  <a:schemeClr val="accent5">
                    <a:lumMod val="75000"/>
                  </a:schemeClr>
                </a:solidFill>
              </a:rPr>
            </a:br>
            <a:r>
              <a:rPr lang="en-US" altLang="en-US" sz="2400" dirty="0">
                <a:solidFill>
                  <a:schemeClr val="accent5">
                    <a:lumMod val="75000"/>
                  </a:schemeClr>
                </a:solidFill>
              </a:rPr>
              <a:t/>
            </a:r>
            <a:br>
              <a:rPr lang="en-US" altLang="en-US" sz="2400" dirty="0">
                <a:solidFill>
                  <a:schemeClr val="accent5">
                    <a:lumMod val="75000"/>
                  </a:schemeClr>
                </a:solidFill>
              </a:rPr>
            </a:br>
            <a:r>
              <a:rPr lang="en-US" altLang="en-US" sz="2400" dirty="0">
                <a:solidFill>
                  <a:schemeClr val="accent5">
                    <a:lumMod val="75000"/>
                  </a:schemeClr>
                </a:solidFill>
              </a:rPr>
              <a:t>Vendor Survey and Algorithm Testing</a:t>
            </a:r>
            <a:br>
              <a:rPr lang="en-US" altLang="en-US" sz="2400" dirty="0">
                <a:solidFill>
                  <a:schemeClr val="accent5">
                    <a:lumMod val="75000"/>
                  </a:schemeClr>
                </a:solidFill>
              </a:rPr>
            </a:br>
            <a:r>
              <a:rPr lang="en-US" altLang="en-US" sz="2400" dirty="0">
                <a:solidFill>
                  <a:schemeClr val="accent5">
                    <a:lumMod val="75000"/>
                  </a:schemeClr>
                </a:solidFill>
              </a:rPr>
              <a:t/>
            </a:r>
            <a:br>
              <a:rPr lang="en-US" altLang="en-US" sz="2400" dirty="0">
                <a:solidFill>
                  <a:schemeClr val="accent5">
                    <a:lumMod val="75000"/>
                  </a:schemeClr>
                </a:solidFill>
              </a:rPr>
            </a:br>
            <a:r>
              <a:rPr lang="en-US" altLang="en-US" sz="2400" dirty="0">
                <a:solidFill>
                  <a:schemeClr val="accent5">
                    <a:lumMod val="75000"/>
                  </a:schemeClr>
                </a:solidFill>
              </a:rPr>
              <a:t>Process Based Tolerance and Action Limits</a:t>
            </a:r>
            <a:br>
              <a:rPr lang="en-US" altLang="en-US" sz="2400" dirty="0">
                <a:solidFill>
                  <a:schemeClr val="accent5">
                    <a:lumMod val="75000"/>
                  </a:schemeClr>
                </a:solidFill>
              </a:rPr>
            </a:br>
            <a:r>
              <a:rPr lang="en-US" altLang="en-US" sz="2400" dirty="0">
                <a:solidFill>
                  <a:schemeClr val="accent5">
                    <a:lumMod val="75000"/>
                  </a:schemeClr>
                </a:solidFill>
              </a:rPr>
              <a:t/>
            </a:r>
            <a:br>
              <a:rPr lang="en-US" altLang="en-US" sz="2400" dirty="0">
                <a:solidFill>
                  <a:schemeClr val="accent5">
                    <a:lumMod val="75000"/>
                  </a:schemeClr>
                </a:solidFill>
              </a:rPr>
            </a:br>
            <a:r>
              <a:rPr lang="en-US" altLang="en-US" dirty="0">
                <a:solidFill>
                  <a:schemeClr val="accent5">
                    <a:lumMod val="75000"/>
                  </a:schemeClr>
                </a:solidFill>
              </a:rPr>
              <a:t/>
            </a:r>
            <a:br>
              <a:rPr lang="en-US" altLang="en-US" dirty="0">
                <a:solidFill>
                  <a:schemeClr val="accent5">
                    <a:lumMod val="75000"/>
                  </a:schemeClr>
                </a:solidFill>
              </a:rPr>
            </a:br>
            <a:r>
              <a:rPr lang="en-US" altLang="en-US" dirty="0">
                <a:solidFill>
                  <a:schemeClr val="accent5">
                    <a:lumMod val="75000"/>
                  </a:schemeClr>
                </a:solidFill>
              </a:rPr>
              <a:t/>
            </a:r>
            <a:br>
              <a:rPr lang="en-US" altLang="en-US" dirty="0">
                <a:solidFill>
                  <a:schemeClr val="accent5">
                    <a:lumMod val="75000"/>
                  </a:schemeClr>
                </a:solidFill>
              </a:rPr>
            </a:br>
            <a:endParaRPr lang="en-US" altLang="en-US" dirty="0">
              <a:solidFill>
                <a:schemeClr val="accent5">
                  <a:lumMod val="75000"/>
                </a:schemeClr>
              </a:solidFill>
            </a:endParaRPr>
          </a:p>
        </p:txBody>
      </p:sp>
    </p:spTree>
    <p:extLst>
      <p:ext uri="{BB962C8B-B14F-4D97-AF65-F5344CB8AC3E}">
        <p14:creationId xmlns:p14="http://schemas.microsoft.com/office/powerpoint/2010/main" val="41555303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9345" y="228297"/>
            <a:ext cx="6641770" cy="461665"/>
          </a:xfrm>
        </p:spPr>
        <p:txBody>
          <a:bodyPr/>
          <a:lstStyle/>
          <a:p>
            <a:r>
              <a:rPr lang="en-US" altLang="en-US" dirty="0">
                <a:solidFill>
                  <a:schemeClr val="accent5">
                    <a:lumMod val="75000"/>
                  </a:schemeClr>
                </a:solidFill>
              </a:rPr>
              <a:t>Reported IMRT Measurement Methods</a:t>
            </a:r>
          </a:p>
        </p:txBody>
      </p:sp>
      <p:sp>
        <p:nvSpPr>
          <p:cNvPr id="26627" name="Content Placeholder 1"/>
          <p:cNvSpPr>
            <a:spLocks noGrp="1"/>
          </p:cNvSpPr>
          <p:nvPr>
            <p:ph idx="1"/>
          </p:nvPr>
        </p:nvSpPr>
        <p:spPr>
          <a:xfrm>
            <a:off x="389345" y="807745"/>
            <a:ext cx="7826375" cy="4788204"/>
          </a:xfrm>
        </p:spPr>
        <p:txBody>
          <a:bodyPr/>
          <a:lstStyle/>
          <a:p>
            <a:r>
              <a:rPr lang="en-US" altLang="en-US" dirty="0"/>
              <a:t>Survey of numerous institutions reported that they use:</a:t>
            </a:r>
          </a:p>
          <a:p>
            <a:pPr lvl="1"/>
            <a:r>
              <a:rPr lang="en-US" altLang="en-US" dirty="0"/>
              <a:t>64% field by field and 58% absolute dose (</a:t>
            </a:r>
            <a:r>
              <a:rPr lang="en-US" altLang="en-US" dirty="0" err="1"/>
              <a:t>Nelms</a:t>
            </a:r>
            <a:r>
              <a:rPr lang="en-US" altLang="en-US" dirty="0"/>
              <a:t> and Simon 2007)</a:t>
            </a:r>
          </a:p>
          <a:p>
            <a:r>
              <a:rPr lang="en-US" altLang="en-US" dirty="0"/>
              <a:t>Criteria</a:t>
            </a:r>
          </a:p>
          <a:p>
            <a:pPr lvl="1"/>
            <a:r>
              <a:rPr lang="en-US" altLang="en-US" sz="1600" dirty="0"/>
              <a:t>Dose difference</a:t>
            </a:r>
          </a:p>
          <a:p>
            <a:pPr lvl="2"/>
            <a:r>
              <a:rPr lang="en-US" altLang="en-US" dirty="0"/>
              <a:t>76.3% of institutions used 3%</a:t>
            </a:r>
          </a:p>
          <a:p>
            <a:pPr lvl="2"/>
            <a:r>
              <a:rPr lang="en-US" altLang="en-US" dirty="0"/>
              <a:t>2.9% of institutions used 4%</a:t>
            </a:r>
          </a:p>
          <a:p>
            <a:pPr lvl="2"/>
            <a:r>
              <a:rPr lang="en-US" altLang="en-US" dirty="0"/>
              <a:t>15.1% of institutions used 5%</a:t>
            </a:r>
          </a:p>
          <a:p>
            <a:pPr lvl="1"/>
            <a:r>
              <a:rPr lang="en-US" altLang="en-US" sz="1600" dirty="0"/>
              <a:t>Distance to agreement</a:t>
            </a:r>
          </a:p>
          <a:p>
            <a:pPr lvl="2"/>
            <a:r>
              <a:rPr lang="en-US" altLang="en-US" dirty="0"/>
              <a:t>82.7% of institutions used 3 mm</a:t>
            </a:r>
          </a:p>
          <a:p>
            <a:pPr lvl="2"/>
            <a:r>
              <a:rPr lang="en-US" altLang="en-US" dirty="0"/>
              <a:t>5.0% of institutions used 4 mm</a:t>
            </a:r>
          </a:p>
          <a:p>
            <a:pPr lvl="2"/>
            <a:r>
              <a:rPr lang="en-US" altLang="en-US" dirty="0"/>
              <a:t>2.6% of institutions used 5 mm</a:t>
            </a:r>
          </a:p>
          <a:p>
            <a:pPr lvl="1"/>
            <a:r>
              <a:rPr lang="en-US" altLang="en-US" sz="1600" dirty="0"/>
              <a:t>Threshold dose limits</a:t>
            </a:r>
          </a:p>
          <a:p>
            <a:pPr lvl="2"/>
            <a:r>
              <a:rPr lang="en-US" altLang="en-US" dirty="0"/>
              <a:t>34.5% of institutions used 0-5%</a:t>
            </a:r>
          </a:p>
          <a:p>
            <a:pPr lvl="2"/>
            <a:r>
              <a:rPr lang="en-US" altLang="en-US" dirty="0"/>
              <a:t>35.6% of institutions used 5-10%</a:t>
            </a:r>
          </a:p>
          <a:p>
            <a:pPr lvl="2"/>
            <a:r>
              <a:rPr lang="en-US" altLang="en-US" dirty="0"/>
              <a:t>28.8% of institutions used ≥ 10%</a:t>
            </a:r>
          </a:p>
        </p:txBody>
      </p:sp>
    </p:spTree>
    <p:extLst>
      <p:ext uri="{BB962C8B-B14F-4D97-AF65-F5344CB8AC3E}">
        <p14:creationId xmlns:p14="http://schemas.microsoft.com/office/powerpoint/2010/main" val="9322029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DBC0FF-86CD-4C2F-AF10-CE51E5E443C4}"/>
              </a:ext>
            </a:extLst>
          </p:cNvPr>
          <p:cNvPicPr>
            <a:picLocks noChangeAspect="1"/>
          </p:cNvPicPr>
          <p:nvPr/>
        </p:nvPicPr>
        <p:blipFill>
          <a:blip r:embed="rId3"/>
          <a:stretch>
            <a:fillRect/>
          </a:stretch>
        </p:blipFill>
        <p:spPr>
          <a:xfrm>
            <a:off x="5470644" y="236611"/>
            <a:ext cx="6329052" cy="5815885"/>
          </a:xfrm>
          <a:prstGeom prst="rect">
            <a:avLst/>
          </a:prstGeom>
        </p:spPr>
      </p:pic>
      <p:sp>
        <p:nvSpPr>
          <p:cNvPr id="8" name="Title 1">
            <a:extLst>
              <a:ext uri="{FF2B5EF4-FFF2-40B4-BE49-F238E27FC236}">
                <a16:creationId xmlns:a16="http://schemas.microsoft.com/office/drawing/2014/main" id="{9B1F6ED9-B36B-5E59-A1B8-3E853F13C9B8}"/>
              </a:ext>
            </a:extLst>
          </p:cNvPr>
          <p:cNvSpPr txBox="1">
            <a:spLocks/>
          </p:cNvSpPr>
          <p:nvPr/>
        </p:nvSpPr>
        <p:spPr bwMode="auto">
          <a:xfrm>
            <a:off x="301840" y="183345"/>
            <a:ext cx="506915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Reported IMRT Measurement</a:t>
            </a:r>
          </a:p>
          <a:p>
            <a:r>
              <a:rPr lang="en-US" altLang="en-US" dirty="0">
                <a:solidFill>
                  <a:schemeClr val="accent5">
                    <a:lumMod val="75000"/>
                  </a:schemeClr>
                </a:solidFill>
              </a:rPr>
              <a:t> vs Calculated Agreement</a:t>
            </a:r>
          </a:p>
        </p:txBody>
      </p:sp>
      <p:sp>
        <p:nvSpPr>
          <p:cNvPr id="9" name="Content Placeholder 2">
            <a:extLst>
              <a:ext uri="{FF2B5EF4-FFF2-40B4-BE49-F238E27FC236}">
                <a16:creationId xmlns:a16="http://schemas.microsoft.com/office/drawing/2014/main" id="{EFFA2517-50D5-CD3C-CD90-B4BC1C93B8AB}"/>
              </a:ext>
            </a:extLst>
          </p:cNvPr>
          <p:cNvSpPr>
            <a:spLocks noGrp="1"/>
          </p:cNvSpPr>
          <p:nvPr>
            <p:ph idx="1"/>
          </p:nvPr>
        </p:nvSpPr>
        <p:spPr>
          <a:xfrm>
            <a:off x="229545" y="1563782"/>
            <a:ext cx="4679806" cy="3782800"/>
          </a:xfrm>
        </p:spPr>
        <p:txBody>
          <a:bodyPr/>
          <a:lstStyle/>
          <a:p>
            <a:r>
              <a:rPr lang="en-US" altLang="en-US" dirty="0"/>
              <a:t>IC tolerance is 5% of expected values</a:t>
            </a:r>
          </a:p>
          <a:p>
            <a:r>
              <a:rPr lang="en-US" altLang="en-US" dirty="0"/>
              <a:t>2D Gamma pass rates of &gt;90% for 3%/3mm global normalization</a:t>
            </a:r>
          </a:p>
          <a:p>
            <a:r>
              <a:rPr lang="en-US" altLang="en-US" dirty="0"/>
              <a:t>Recent studies </a:t>
            </a:r>
          </a:p>
          <a:p>
            <a:pPr lvl="1"/>
            <a:r>
              <a:rPr lang="en-US" altLang="en-US" dirty="0"/>
              <a:t>For 3%/3mm criteria, plans should have around 100% of points passing</a:t>
            </a:r>
          </a:p>
          <a:p>
            <a:pPr lvl="1"/>
            <a:r>
              <a:rPr lang="en-US" altLang="en-US" dirty="0"/>
              <a:t>For 3%/2mm or 2%/2mm, plans should have pass rates with &gt; 95% of the points passing</a:t>
            </a:r>
          </a:p>
          <a:p>
            <a:pPr lvl="1"/>
            <a:endParaRPr lang="en-US" altLang="en-US" dirty="0"/>
          </a:p>
          <a:p>
            <a:endParaRPr lang="en-US" altLang="en-US" dirty="0"/>
          </a:p>
        </p:txBody>
      </p:sp>
    </p:spTree>
    <p:extLst>
      <p:ext uri="{BB962C8B-B14F-4D97-AF65-F5344CB8AC3E}">
        <p14:creationId xmlns:p14="http://schemas.microsoft.com/office/powerpoint/2010/main" val="37130532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495877" y="1412618"/>
            <a:ext cx="7233613" cy="3736634"/>
          </a:xfrm>
        </p:spPr>
        <p:txBody>
          <a:bodyPr/>
          <a:lstStyle/>
          <a:p>
            <a:r>
              <a:rPr lang="en-US" altLang="en-US" dirty="0"/>
              <a:t>IMRT – H&amp;N QA</a:t>
            </a:r>
          </a:p>
          <a:p>
            <a:pPr lvl="1"/>
            <a:r>
              <a:rPr lang="en-US" altLang="en-US" dirty="0"/>
              <a:t>IROC the criteria for passing is 7% dose difference reported by the TLD in the PTV and 4 mm DTA for film in the dose gradient </a:t>
            </a:r>
          </a:p>
          <a:p>
            <a:pPr lvl="2"/>
            <a:r>
              <a:rPr lang="en-US" altLang="en-US" dirty="0"/>
              <a:t>Dong et al 2003- IROC for TLDS and film</a:t>
            </a:r>
          </a:p>
          <a:p>
            <a:pPr lvl="3"/>
            <a:r>
              <a:rPr lang="en-US" altLang="en-US" dirty="0"/>
              <a:t>71 institutions out of 250 failed the credentialing by IROC</a:t>
            </a:r>
          </a:p>
          <a:p>
            <a:pPr lvl="3"/>
            <a:r>
              <a:rPr lang="en-US" altLang="en-US" dirty="0"/>
              <a:t>71.6% passed the criteria and 28.4% failed</a:t>
            </a:r>
          </a:p>
          <a:p>
            <a:pPr lvl="2"/>
            <a:r>
              <a:rPr lang="en-US" altLang="en-US" dirty="0"/>
              <a:t>Hernandez et al 2013 – update of IROC study</a:t>
            </a:r>
          </a:p>
          <a:p>
            <a:pPr lvl="3"/>
            <a:r>
              <a:rPr lang="en-US" altLang="en-US" dirty="0"/>
              <a:t>156 out of 763 institutions failed credentialing by IROC</a:t>
            </a:r>
          </a:p>
          <a:p>
            <a:pPr lvl="3"/>
            <a:r>
              <a:rPr lang="en-US" altLang="en-US" dirty="0"/>
              <a:t>81.6% passed the criteria and 13.7% failed only TLD, 1.8% failed the film criteria, and 2.9% failed both criteria</a:t>
            </a:r>
          </a:p>
          <a:p>
            <a:pPr lvl="3"/>
            <a:endParaRPr lang="en-US" altLang="en-US" dirty="0"/>
          </a:p>
          <a:p>
            <a:pPr marL="1192212" lvl="3" indent="0">
              <a:buNone/>
            </a:pPr>
            <a:r>
              <a:rPr lang="en-US" altLang="en-US" dirty="0"/>
              <a:t>This data highlights significance of IMRT verification QA</a:t>
            </a:r>
          </a:p>
        </p:txBody>
      </p:sp>
      <p:pic>
        <p:nvPicPr>
          <p:cNvPr id="2" name="Picture 1"/>
          <p:cNvPicPr>
            <a:picLocks noChangeAspect="1"/>
          </p:cNvPicPr>
          <p:nvPr/>
        </p:nvPicPr>
        <p:blipFill>
          <a:blip r:embed="rId3"/>
          <a:stretch>
            <a:fillRect/>
          </a:stretch>
        </p:blipFill>
        <p:spPr>
          <a:xfrm>
            <a:off x="8952170" y="391246"/>
            <a:ext cx="2612365" cy="2933955"/>
          </a:xfrm>
          <a:prstGeom prst="rect">
            <a:avLst/>
          </a:prstGeom>
        </p:spPr>
      </p:pic>
      <p:pic>
        <p:nvPicPr>
          <p:cNvPr id="3" name="Picture 2"/>
          <p:cNvPicPr>
            <a:picLocks noChangeAspect="1"/>
          </p:cNvPicPr>
          <p:nvPr/>
        </p:nvPicPr>
        <p:blipFill>
          <a:blip r:embed="rId4"/>
          <a:stretch>
            <a:fillRect/>
          </a:stretch>
        </p:blipFill>
        <p:spPr>
          <a:xfrm>
            <a:off x="8833068" y="3537597"/>
            <a:ext cx="2731467" cy="2556432"/>
          </a:xfrm>
          <a:prstGeom prst="rect">
            <a:avLst/>
          </a:prstGeom>
        </p:spPr>
      </p:pic>
      <p:sp>
        <p:nvSpPr>
          <p:cNvPr id="9" name="Title 1">
            <a:extLst>
              <a:ext uri="{FF2B5EF4-FFF2-40B4-BE49-F238E27FC236}">
                <a16:creationId xmlns:a16="http://schemas.microsoft.com/office/drawing/2014/main" id="{AAA11E2C-3E69-38C5-4244-10652067A251}"/>
              </a:ext>
            </a:extLst>
          </p:cNvPr>
          <p:cNvSpPr txBox="1">
            <a:spLocks/>
          </p:cNvSpPr>
          <p:nvPr/>
        </p:nvSpPr>
        <p:spPr bwMode="auto">
          <a:xfrm>
            <a:off x="627465" y="391246"/>
            <a:ext cx="6927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Delivery Methods - Fixed Gantry IMRT</a:t>
            </a:r>
          </a:p>
        </p:txBody>
      </p:sp>
    </p:spTree>
    <p:extLst>
      <p:ext uri="{BB962C8B-B14F-4D97-AF65-F5344CB8AC3E}">
        <p14:creationId xmlns:p14="http://schemas.microsoft.com/office/powerpoint/2010/main" val="8215403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4447" y="1331529"/>
            <a:ext cx="10456209" cy="4090577"/>
          </a:xfrm>
        </p:spPr>
        <p:txBody>
          <a:bodyPr/>
          <a:lstStyle/>
          <a:p>
            <a:r>
              <a:rPr lang="en-US" altLang="en-US" dirty="0"/>
              <a:t>VMAT QA</a:t>
            </a:r>
          </a:p>
          <a:p>
            <a:pPr lvl="1"/>
            <a:r>
              <a:rPr lang="en-US" altLang="en-US" dirty="0"/>
              <a:t>Accurate MLC motion, gantry motion, and dose rate adjustment</a:t>
            </a:r>
          </a:p>
          <a:p>
            <a:pPr lvl="1"/>
            <a:r>
              <a:rPr lang="en-US" altLang="en-US" dirty="0"/>
              <a:t>Ion chamber measurements within 2.1% of MC and TPS, by </a:t>
            </a:r>
            <a:r>
              <a:rPr lang="en-US" altLang="en-US" dirty="0" err="1"/>
              <a:t>Teke</a:t>
            </a:r>
            <a:r>
              <a:rPr lang="en-US" altLang="en-US" dirty="0"/>
              <a:t> et al.</a:t>
            </a:r>
          </a:p>
          <a:p>
            <a:pPr lvl="1"/>
            <a:r>
              <a:rPr lang="en-US" altLang="en-US" dirty="0"/>
              <a:t>MLC leaf position errors within 1 mm, 94% of the time. All errors less than 2.5 mm by </a:t>
            </a:r>
            <a:r>
              <a:rPr lang="en-US" altLang="en-US" dirty="0" err="1"/>
              <a:t>Teke</a:t>
            </a:r>
            <a:r>
              <a:rPr lang="en-US" altLang="en-US" dirty="0"/>
              <a:t> et al.</a:t>
            </a:r>
          </a:p>
          <a:p>
            <a:pPr lvl="1"/>
            <a:r>
              <a:rPr lang="en-US" altLang="en-US" dirty="0"/>
              <a:t>Although one can calculate dose in 2 to 7 degree sectors, recommend sector calculation grid spacing of </a:t>
            </a:r>
            <a:r>
              <a:rPr lang="en-US" altLang="en-US" b="1" i="1" u="sng" dirty="0"/>
              <a:t>4 degrees </a:t>
            </a:r>
            <a:r>
              <a:rPr lang="en-US" altLang="en-US" dirty="0"/>
              <a:t>by </a:t>
            </a:r>
            <a:r>
              <a:rPr lang="en-US" altLang="en-US" dirty="0" err="1"/>
              <a:t>Feygelmen</a:t>
            </a:r>
            <a:r>
              <a:rPr lang="en-US" altLang="en-US" dirty="0"/>
              <a:t> et al </a:t>
            </a:r>
          </a:p>
          <a:p>
            <a:pPr lvl="2"/>
            <a:r>
              <a:rPr lang="en-US" altLang="en-US" dirty="0"/>
              <a:t>Single position, IC measured, mean dose errors were less than 0.5% +/- 1.4% for PTV and -0.3% +/- 1.4% for OAR. </a:t>
            </a:r>
          </a:p>
          <a:p>
            <a:pPr marL="774700" lvl="2" indent="0">
              <a:buNone/>
            </a:pPr>
            <a:endParaRPr lang="en-US" altLang="en-US" dirty="0"/>
          </a:p>
          <a:p>
            <a:r>
              <a:rPr lang="en-US" altLang="en-US" dirty="0"/>
              <a:t>VMAT vs IMRT – no significant differences in pass rates were found when using TG-119</a:t>
            </a:r>
          </a:p>
          <a:p>
            <a:pPr marL="0" indent="0">
              <a:buNone/>
            </a:pPr>
            <a:r>
              <a:rPr lang="en-US" altLang="en-US" dirty="0"/>
              <a:t>     phantom geometry</a:t>
            </a:r>
          </a:p>
          <a:p>
            <a:pPr marL="0" indent="0">
              <a:buNone/>
            </a:pPr>
            <a:r>
              <a:rPr lang="en-US" dirty="0"/>
              <a:t>       </a:t>
            </a:r>
          </a:p>
        </p:txBody>
      </p:sp>
      <p:sp>
        <p:nvSpPr>
          <p:cNvPr id="8" name="Title 1">
            <a:extLst>
              <a:ext uri="{FF2B5EF4-FFF2-40B4-BE49-F238E27FC236}">
                <a16:creationId xmlns:a16="http://schemas.microsoft.com/office/drawing/2014/main" id="{B54FBA04-C67A-EE2F-342B-7220857428C0}"/>
              </a:ext>
            </a:extLst>
          </p:cNvPr>
          <p:cNvSpPr txBox="1">
            <a:spLocks/>
          </p:cNvSpPr>
          <p:nvPr/>
        </p:nvSpPr>
        <p:spPr bwMode="auto">
          <a:xfrm>
            <a:off x="627464" y="391246"/>
            <a:ext cx="10283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Delivery Methods – Volumetric Modulated Arc Radiotherapy</a:t>
            </a:r>
          </a:p>
        </p:txBody>
      </p:sp>
    </p:spTree>
    <p:extLst>
      <p:ext uri="{BB962C8B-B14F-4D97-AF65-F5344CB8AC3E}">
        <p14:creationId xmlns:p14="http://schemas.microsoft.com/office/powerpoint/2010/main" val="12419580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Content Placeholder 2"/>
          <p:cNvSpPr>
            <a:spLocks noGrp="1"/>
          </p:cNvSpPr>
          <p:nvPr>
            <p:ph idx="1"/>
          </p:nvPr>
        </p:nvSpPr>
        <p:spPr>
          <a:xfrm>
            <a:off x="605368" y="1193916"/>
            <a:ext cx="7826375" cy="4470168"/>
          </a:xfrm>
        </p:spPr>
        <p:txBody>
          <a:bodyPr/>
          <a:lstStyle/>
          <a:p>
            <a:r>
              <a:rPr lang="en-US" altLang="en-US" dirty="0"/>
              <a:t>Flattening filter free</a:t>
            </a:r>
          </a:p>
          <a:p>
            <a:pPr lvl="1"/>
            <a:r>
              <a:rPr lang="en-US" altLang="en-US" dirty="0"/>
              <a:t>IMRT and VMAT pass rates for Gamma of 3%/3mm are good</a:t>
            </a:r>
          </a:p>
          <a:p>
            <a:pPr lvl="1"/>
            <a:r>
              <a:rPr lang="en-US" altLang="en-US" dirty="0"/>
              <a:t>Lower pass rates for a increasing ratio of MU to dose per fraction </a:t>
            </a:r>
          </a:p>
          <a:p>
            <a:pPr lvl="2"/>
            <a:r>
              <a:rPr lang="en-US" altLang="en-US" dirty="0"/>
              <a:t>more MU, more highly modulated plans, thus lower pass rates</a:t>
            </a:r>
          </a:p>
          <a:p>
            <a:pPr marL="774700" lvl="2" indent="0">
              <a:buNone/>
            </a:pPr>
            <a:endParaRPr lang="en-US" altLang="en-US" dirty="0"/>
          </a:p>
          <a:p>
            <a:r>
              <a:rPr lang="en-US" altLang="en-US" dirty="0" err="1"/>
              <a:t>Tomotherapy</a:t>
            </a:r>
            <a:endParaRPr lang="en-US" altLang="en-US" dirty="0"/>
          </a:p>
          <a:p>
            <a:pPr lvl="1"/>
            <a:r>
              <a:rPr lang="en-US" altLang="en-US" dirty="0"/>
              <a:t>Machine stability as reported by a study by </a:t>
            </a:r>
            <a:r>
              <a:rPr lang="en-US" altLang="en-US" dirty="0" err="1"/>
              <a:t>Broggi</a:t>
            </a:r>
            <a:r>
              <a:rPr lang="en-US" altLang="en-US" dirty="0"/>
              <a:t> et al </a:t>
            </a:r>
          </a:p>
          <a:p>
            <a:pPr lvl="2"/>
            <a:r>
              <a:rPr lang="en-US" altLang="en-US" dirty="0"/>
              <a:t>Couch –Gantry synchronization</a:t>
            </a:r>
          </a:p>
          <a:p>
            <a:pPr lvl="3"/>
            <a:r>
              <a:rPr lang="en-US" altLang="en-US" dirty="0"/>
              <a:t>Within 2mm over a 2 </a:t>
            </a:r>
            <a:r>
              <a:rPr lang="en-US" altLang="en-US" dirty="0" err="1"/>
              <a:t>yr</a:t>
            </a:r>
            <a:r>
              <a:rPr lang="en-US" altLang="en-US" dirty="0"/>
              <a:t> period</a:t>
            </a:r>
          </a:p>
          <a:p>
            <a:pPr lvl="2"/>
            <a:r>
              <a:rPr lang="en-US" altLang="en-US" dirty="0"/>
              <a:t>Gantry MLC within 1 degree</a:t>
            </a:r>
          </a:p>
          <a:p>
            <a:pPr lvl="2"/>
            <a:r>
              <a:rPr lang="en-US" altLang="en-US" dirty="0"/>
              <a:t>Dose rate variation within 1-2% during treatment</a:t>
            </a:r>
          </a:p>
          <a:p>
            <a:pPr lvl="1"/>
            <a:r>
              <a:rPr lang="en-US" altLang="en-US" dirty="0"/>
              <a:t>3%/3mm gamma was found be on average 97.5%</a:t>
            </a:r>
          </a:p>
          <a:p>
            <a:pPr lvl="1"/>
            <a:r>
              <a:rPr lang="en-US" altLang="en-US" dirty="0"/>
              <a:t>Correlation between IMRT QA and daily output QA for pass rates</a:t>
            </a:r>
          </a:p>
        </p:txBody>
      </p:sp>
      <p:sp>
        <p:nvSpPr>
          <p:cNvPr id="5" name="Title 1">
            <a:extLst>
              <a:ext uri="{FF2B5EF4-FFF2-40B4-BE49-F238E27FC236}">
                <a16:creationId xmlns:a16="http://schemas.microsoft.com/office/drawing/2014/main" id="{44D254A0-5732-BFC1-384F-FBEB66D5957E}"/>
              </a:ext>
            </a:extLst>
          </p:cNvPr>
          <p:cNvSpPr txBox="1">
            <a:spLocks/>
          </p:cNvSpPr>
          <p:nvPr/>
        </p:nvSpPr>
        <p:spPr bwMode="auto">
          <a:xfrm>
            <a:off x="627464" y="391246"/>
            <a:ext cx="10283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69963" rtl="0" eaLnBrk="0" fontAlgn="base" hangingPunct="0">
              <a:spcBef>
                <a:spcPct val="0"/>
              </a:spcBef>
              <a:spcAft>
                <a:spcPct val="0"/>
              </a:spcAft>
              <a:defRPr sz="3000" b="0" i="0" kern="1200">
                <a:solidFill>
                  <a:schemeClr val="tx1"/>
                </a:solidFill>
                <a:latin typeface="Arial" panose="020B0604020202020204" pitchFamily="34" charset="0"/>
                <a:ea typeface="+mj-ea"/>
                <a:cs typeface="Arial" panose="020B0604020202020204" pitchFamily="34" charset="0"/>
              </a:defRPr>
            </a:lvl1pPr>
            <a:lvl2pPr algn="l" defTabSz="969963" rtl="0" eaLnBrk="0" fontAlgn="base" hangingPunct="0">
              <a:spcBef>
                <a:spcPct val="0"/>
              </a:spcBef>
              <a:spcAft>
                <a:spcPct val="0"/>
              </a:spcAft>
              <a:defRPr sz="3200" b="1">
                <a:solidFill>
                  <a:srgbClr val="AA2B3E"/>
                </a:solidFill>
                <a:latin typeface="Arial" panose="020B0604020202020204" pitchFamily="34" charset="0"/>
              </a:defRPr>
            </a:lvl2pPr>
            <a:lvl3pPr algn="l" defTabSz="969963" rtl="0" eaLnBrk="0" fontAlgn="base" hangingPunct="0">
              <a:spcBef>
                <a:spcPct val="0"/>
              </a:spcBef>
              <a:spcAft>
                <a:spcPct val="0"/>
              </a:spcAft>
              <a:defRPr sz="3200" b="1">
                <a:solidFill>
                  <a:srgbClr val="AA2B3E"/>
                </a:solidFill>
                <a:latin typeface="Arial" panose="020B0604020202020204" pitchFamily="34" charset="0"/>
              </a:defRPr>
            </a:lvl3pPr>
            <a:lvl4pPr algn="l" defTabSz="969963" rtl="0" eaLnBrk="0" fontAlgn="base" hangingPunct="0">
              <a:spcBef>
                <a:spcPct val="0"/>
              </a:spcBef>
              <a:spcAft>
                <a:spcPct val="0"/>
              </a:spcAft>
              <a:defRPr sz="3200" b="1">
                <a:solidFill>
                  <a:srgbClr val="AA2B3E"/>
                </a:solidFill>
                <a:latin typeface="Arial" panose="020B0604020202020204" pitchFamily="34" charset="0"/>
              </a:defRPr>
            </a:lvl4pPr>
            <a:lvl5pPr algn="l" defTabSz="969963" rtl="0" eaLnBrk="0" fontAlgn="base" hangingPunct="0">
              <a:spcBef>
                <a:spcPct val="0"/>
              </a:spcBef>
              <a:spcAft>
                <a:spcPct val="0"/>
              </a:spcAft>
              <a:defRPr sz="3200" b="1">
                <a:solidFill>
                  <a:srgbClr val="AA2B3E"/>
                </a:solidFill>
                <a:latin typeface="Arial" panose="020B0604020202020204" pitchFamily="34" charset="0"/>
              </a:defRPr>
            </a:lvl5pPr>
            <a:lvl6pPr marL="457200" algn="l" defTabSz="969963" rtl="0" eaLnBrk="0" fontAlgn="base" hangingPunct="0">
              <a:spcBef>
                <a:spcPct val="0"/>
              </a:spcBef>
              <a:spcAft>
                <a:spcPct val="0"/>
              </a:spcAft>
              <a:defRPr sz="3200" b="1">
                <a:solidFill>
                  <a:srgbClr val="AA2B3E"/>
                </a:solidFill>
                <a:latin typeface="Arial" panose="020B0604020202020204" pitchFamily="34" charset="0"/>
              </a:defRPr>
            </a:lvl6pPr>
            <a:lvl7pPr marL="914400" algn="l" defTabSz="969963" rtl="0" eaLnBrk="0" fontAlgn="base" hangingPunct="0">
              <a:spcBef>
                <a:spcPct val="0"/>
              </a:spcBef>
              <a:spcAft>
                <a:spcPct val="0"/>
              </a:spcAft>
              <a:defRPr sz="3200" b="1">
                <a:solidFill>
                  <a:srgbClr val="AA2B3E"/>
                </a:solidFill>
                <a:latin typeface="Arial" panose="020B0604020202020204" pitchFamily="34" charset="0"/>
              </a:defRPr>
            </a:lvl7pPr>
            <a:lvl8pPr marL="1371600" algn="l" defTabSz="969963" rtl="0" eaLnBrk="0" fontAlgn="base" hangingPunct="0">
              <a:spcBef>
                <a:spcPct val="0"/>
              </a:spcBef>
              <a:spcAft>
                <a:spcPct val="0"/>
              </a:spcAft>
              <a:defRPr sz="3200" b="1">
                <a:solidFill>
                  <a:srgbClr val="AA2B3E"/>
                </a:solidFill>
                <a:latin typeface="Arial" panose="020B0604020202020204" pitchFamily="34" charset="0"/>
              </a:defRPr>
            </a:lvl8pPr>
            <a:lvl9pPr marL="1828800" algn="l" defTabSz="969963" rtl="0" eaLnBrk="0" fontAlgn="base" hangingPunct="0">
              <a:spcBef>
                <a:spcPct val="0"/>
              </a:spcBef>
              <a:spcAft>
                <a:spcPct val="0"/>
              </a:spcAft>
              <a:defRPr sz="3200" b="1">
                <a:solidFill>
                  <a:srgbClr val="AA2B3E"/>
                </a:solidFill>
                <a:latin typeface="Arial" panose="020B0604020202020204" pitchFamily="34" charset="0"/>
              </a:defRPr>
            </a:lvl9pPr>
          </a:lstStyle>
          <a:p>
            <a:r>
              <a:rPr lang="en-US" altLang="en-US" dirty="0">
                <a:solidFill>
                  <a:schemeClr val="accent5">
                    <a:lumMod val="75000"/>
                  </a:schemeClr>
                </a:solidFill>
              </a:rPr>
              <a:t>Delivery Methods – Other modalities</a:t>
            </a:r>
          </a:p>
        </p:txBody>
      </p:sp>
    </p:spTree>
    <p:extLst>
      <p:ext uri="{BB962C8B-B14F-4D97-AF65-F5344CB8AC3E}">
        <p14:creationId xmlns:p14="http://schemas.microsoft.com/office/powerpoint/2010/main" val="22313195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999" y="228298"/>
            <a:ext cx="11417956" cy="428650"/>
          </a:xfrm>
        </p:spPr>
        <p:txBody>
          <a:bodyPr/>
          <a:lstStyle/>
          <a:p>
            <a:r>
              <a:rPr lang="en-US" sz="2800" dirty="0">
                <a:solidFill>
                  <a:schemeClr val="accent5">
                    <a:lumMod val="75000"/>
                  </a:schemeClr>
                </a:solidFill>
              </a:rPr>
              <a:t>Considerations when using the Gamma test passing rates for evaluation</a:t>
            </a:r>
          </a:p>
        </p:txBody>
      </p:sp>
      <p:sp>
        <p:nvSpPr>
          <p:cNvPr id="3" name="Content Placeholder 2"/>
          <p:cNvSpPr>
            <a:spLocks noGrp="1"/>
          </p:cNvSpPr>
          <p:nvPr>
            <p:ph idx="1"/>
          </p:nvPr>
        </p:nvSpPr>
        <p:spPr>
          <a:xfrm>
            <a:off x="603653" y="770077"/>
            <a:ext cx="9587912" cy="4936962"/>
          </a:xfrm>
        </p:spPr>
        <p:txBody>
          <a:bodyPr/>
          <a:lstStyle/>
          <a:p>
            <a:r>
              <a:rPr lang="en-US" dirty="0"/>
              <a:t>Gamma can be insensitive to finding dose errors using single field measurements and certain delivery errors</a:t>
            </a:r>
          </a:p>
          <a:p>
            <a:pPr lvl="1"/>
            <a:r>
              <a:rPr lang="en-US" dirty="0"/>
              <a:t>Yan et al found that a 3%/3mm criteria and a 90% pass rate with a 2D diode array was only able to detect leaf positioning errors greater than 2 mm</a:t>
            </a:r>
          </a:p>
          <a:p>
            <a:pPr lvl="1"/>
            <a:r>
              <a:rPr lang="en-US" dirty="0"/>
              <a:t>Mu et al investigated the impact of the number of control points (50 vs more than 100) on passing rates for direct machine parameter optimization (DMPO) based plans</a:t>
            </a:r>
          </a:p>
          <a:p>
            <a:pPr lvl="2"/>
            <a:r>
              <a:rPr lang="en-US" dirty="0"/>
              <a:t>Worse results with more control points including D95% change between 4% and 8% and point dose to spinal cord/brainstem changed from 4% to 12%</a:t>
            </a:r>
          </a:p>
          <a:p>
            <a:pPr lvl="1"/>
            <a:r>
              <a:rPr lang="en-US" dirty="0" err="1"/>
              <a:t>Kry</a:t>
            </a:r>
            <a:r>
              <a:rPr lang="en-US" dirty="0"/>
              <a:t> et al looked at the number of points failed for 2%/2mm and 3%/3mm (IROC H&amp;N)</a:t>
            </a:r>
          </a:p>
          <a:p>
            <a:pPr lvl="2"/>
            <a:r>
              <a:rPr lang="en-US" dirty="0"/>
              <a:t>Fraction of pixels passing the gamma criteria from individual irradiation beams were a poor predictor of Dosimetry accuracy</a:t>
            </a:r>
          </a:p>
          <a:p>
            <a:pPr lvl="1"/>
            <a:r>
              <a:rPr lang="en-US" dirty="0" err="1"/>
              <a:t>Nelms</a:t>
            </a:r>
            <a:r>
              <a:rPr lang="en-US" dirty="0"/>
              <a:t> et al investigated error induced places for MLC transmission and beam penumbra</a:t>
            </a:r>
          </a:p>
          <a:p>
            <a:pPr lvl="2"/>
            <a:r>
              <a:rPr lang="en-US" dirty="0"/>
              <a:t>IMRT QA was unable to show a correlation with errors and pass rates</a:t>
            </a:r>
          </a:p>
          <a:p>
            <a:pPr lvl="2"/>
            <a:endParaRPr lang="en-US" dirty="0"/>
          </a:p>
          <a:p>
            <a:pPr lvl="2"/>
            <a:endParaRPr lang="en-US" dirty="0"/>
          </a:p>
        </p:txBody>
      </p:sp>
    </p:spTree>
    <p:extLst>
      <p:ext uri="{BB962C8B-B14F-4D97-AF65-F5344CB8AC3E}">
        <p14:creationId xmlns:p14="http://schemas.microsoft.com/office/powerpoint/2010/main" val="39248109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81" y="1225119"/>
            <a:ext cx="9277165" cy="3730578"/>
          </a:xfrm>
        </p:spPr>
        <p:txBody>
          <a:bodyPr/>
          <a:lstStyle/>
          <a:p>
            <a:r>
              <a:rPr lang="en-US" dirty="0"/>
              <a:t>Take away – tighter tolerances are needed, performing a thorough analysis, and routine QA of the accelerator and MLC are required to supplement IMRT QA</a:t>
            </a:r>
          </a:p>
          <a:p>
            <a:r>
              <a:rPr lang="en-US" dirty="0"/>
              <a:t>Clinical analysis of IMRT QA failure results is challenging</a:t>
            </a:r>
          </a:p>
          <a:p>
            <a:r>
              <a:rPr lang="en-US" dirty="0"/>
              <a:t>Issues with the Gamma test </a:t>
            </a:r>
          </a:p>
          <a:p>
            <a:pPr lvl="1"/>
            <a:r>
              <a:rPr lang="en-US" dirty="0"/>
              <a:t>Passing rate summarization has no spatial sensitivity </a:t>
            </a:r>
          </a:p>
          <a:p>
            <a:pPr lvl="1"/>
            <a:r>
              <a:rPr lang="en-US" dirty="0"/>
              <a:t>Clustering of failed points not considered</a:t>
            </a:r>
          </a:p>
          <a:p>
            <a:pPr lvl="1"/>
            <a:r>
              <a:rPr lang="en-US" dirty="0"/>
              <a:t>Large regions of low dose cause the fraction of points to appear small when the area of failed points is large compared to the high-dose regions (results in easy pass rates)</a:t>
            </a:r>
          </a:p>
        </p:txBody>
      </p:sp>
      <p:sp>
        <p:nvSpPr>
          <p:cNvPr id="5" name="Title 1">
            <a:extLst>
              <a:ext uri="{FF2B5EF4-FFF2-40B4-BE49-F238E27FC236}">
                <a16:creationId xmlns:a16="http://schemas.microsoft.com/office/drawing/2014/main" id="{E18ECE8B-B98E-A3D4-CC52-A55329542AF6}"/>
              </a:ext>
            </a:extLst>
          </p:cNvPr>
          <p:cNvSpPr>
            <a:spLocks noGrp="1"/>
          </p:cNvSpPr>
          <p:nvPr>
            <p:ph type="title"/>
          </p:nvPr>
        </p:nvSpPr>
        <p:spPr>
          <a:xfrm>
            <a:off x="486999" y="228298"/>
            <a:ext cx="11417956" cy="428650"/>
          </a:xfrm>
        </p:spPr>
        <p:txBody>
          <a:bodyPr/>
          <a:lstStyle/>
          <a:p>
            <a:r>
              <a:rPr lang="en-US" sz="2800" dirty="0">
                <a:solidFill>
                  <a:schemeClr val="accent5">
                    <a:lumMod val="75000"/>
                  </a:schemeClr>
                </a:solidFill>
              </a:rPr>
              <a:t>Considerations when using the Gamma test passing rates for evaluation</a:t>
            </a:r>
          </a:p>
        </p:txBody>
      </p:sp>
    </p:spTree>
    <p:extLst>
      <p:ext uri="{BB962C8B-B14F-4D97-AF65-F5344CB8AC3E}">
        <p14:creationId xmlns:p14="http://schemas.microsoft.com/office/powerpoint/2010/main" val="5979502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0"/>
            <a:ext cx="11074576" cy="461665"/>
          </a:xfrm>
        </p:spPr>
        <p:txBody>
          <a:bodyPr/>
          <a:lstStyle/>
          <a:p>
            <a:r>
              <a:rPr lang="en-US" dirty="0">
                <a:solidFill>
                  <a:schemeClr val="accent5">
                    <a:lumMod val="75000"/>
                  </a:schemeClr>
                </a:solidFill>
              </a:rPr>
              <a:t>Vendor Survey and Algorithm Testing</a:t>
            </a:r>
          </a:p>
        </p:txBody>
      </p:sp>
      <p:pic>
        <p:nvPicPr>
          <p:cNvPr id="6" name="Picture 5">
            <a:extLst>
              <a:ext uri="{FF2B5EF4-FFF2-40B4-BE49-F238E27FC236}">
                <a16:creationId xmlns:a16="http://schemas.microsoft.com/office/drawing/2014/main" id="{78B0E865-B3A6-8E2A-D309-3EBAA32E5C0F}"/>
              </a:ext>
            </a:extLst>
          </p:cNvPr>
          <p:cNvPicPr>
            <a:picLocks noChangeAspect="1"/>
          </p:cNvPicPr>
          <p:nvPr/>
        </p:nvPicPr>
        <p:blipFill>
          <a:blip r:embed="rId3"/>
          <a:stretch>
            <a:fillRect/>
          </a:stretch>
        </p:blipFill>
        <p:spPr>
          <a:xfrm>
            <a:off x="577049" y="592830"/>
            <a:ext cx="7422025" cy="5477533"/>
          </a:xfrm>
          <a:prstGeom prst="rect">
            <a:avLst/>
          </a:prstGeom>
        </p:spPr>
      </p:pic>
    </p:spTree>
    <p:extLst>
      <p:ext uri="{BB962C8B-B14F-4D97-AF65-F5344CB8AC3E}">
        <p14:creationId xmlns:p14="http://schemas.microsoft.com/office/powerpoint/2010/main" val="14070274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0"/>
            <a:ext cx="11074576" cy="461665"/>
          </a:xfrm>
        </p:spPr>
        <p:txBody>
          <a:bodyPr/>
          <a:lstStyle/>
          <a:p>
            <a:r>
              <a:rPr lang="en-US" dirty="0">
                <a:solidFill>
                  <a:schemeClr val="accent5">
                    <a:lumMod val="75000"/>
                  </a:schemeClr>
                </a:solidFill>
              </a:rPr>
              <a:t>Vendor Survey and Algorithm Testing</a:t>
            </a:r>
          </a:p>
        </p:txBody>
      </p:sp>
      <p:pic>
        <p:nvPicPr>
          <p:cNvPr id="6" name="Picture 5">
            <a:extLst>
              <a:ext uri="{FF2B5EF4-FFF2-40B4-BE49-F238E27FC236}">
                <a16:creationId xmlns:a16="http://schemas.microsoft.com/office/drawing/2014/main" id="{78B0E865-B3A6-8E2A-D309-3EBAA32E5C0F}"/>
              </a:ext>
            </a:extLst>
          </p:cNvPr>
          <p:cNvPicPr>
            <a:picLocks noChangeAspect="1"/>
          </p:cNvPicPr>
          <p:nvPr/>
        </p:nvPicPr>
        <p:blipFill>
          <a:blip r:embed="rId3"/>
          <a:stretch>
            <a:fillRect/>
          </a:stretch>
        </p:blipFill>
        <p:spPr>
          <a:xfrm>
            <a:off x="577049" y="592830"/>
            <a:ext cx="7422025" cy="5477533"/>
          </a:xfrm>
          <a:prstGeom prst="rect">
            <a:avLst/>
          </a:prstGeom>
        </p:spPr>
      </p:pic>
      <p:sp>
        <p:nvSpPr>
          <p:cNvPr id="4" name="Rectangle 3">
            <a:extLst>
              <a:ext uri="{FF2B5EF4-FFF2-40B4-BE49-F238E27FC236}">
                <a16:creationId xmlns:a16="http://schemas.microsoft.com/office/drawing/2014/main" id="{A536F95A-BF41-B3EB-0083-960B71D4CF7E}"/>
              </a:ext>
            </a:extLst>
          </p:cNvPr>
          <p:cNvSpPr/>
          <p:nvPr/>
        </p:nvSpPr>
        <p:spPr bwMode="auto">
          <a:xfrm>
            <a:off x="3168817" y="1252603"/>
            <a:ext cx="4672476" cy="183458"/>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
        <p:nvSpPr>
          <p:cNvPr id="5" name="Rectangle 4">
            <a:extLst>
              <a:ext uri="{FF2B5EF4-FFF2-40B4-BE49-F238E27FC236}">
                <a16:creationId xmlns:a16="http://schemas.microsoft.com/office/drawing/2014/main" id="{A536F95A-BF41-B3EB-0083-960B71D4CF7E}"/>
              </a:ext>
            </a:extLst>
          </p:cNvPr>
          <p:cNvSpPr/>
          <p:nvPr/>
        </p:nvSpPr>
        <p:spPr bwMode="auto">
          <a:xfrm>
            <a:off x="3208483" y="5100173"/>
            <a:ext cx="4672476" cy="183458"/>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Tree>
    <p:extLst>
      <p:ext uri="{BB962C8B-B14F-4D97-AF65-F5344CB8AC3E}">
        <p14:creationId xmlns:p14="http://schemas.microsoft.com/office/powerpoint/2010/main" val="36206352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203" y="825381"/>
            <a:ext cx="10669273" cy="1197477"/>
          </a:xfrm>
        </p:spPr>
        <p:txBody>
          <a:bodyPr/>
          <a:lstStyle/>
          <a:p>
            <a:r>
              <a:rPr lang="en-US" dirty="0"/>
              <a:t>Composite test and gamma index can vary from vendor to vendor</a:t>
            </a:r>
          </a:p>
          <a:p>
            <a:r>
              <a:rPr lang="en-US" dirty="0"/>
              <a:t>Two dose distribution provided: (A) mathematical (ideal) and (B) clinical treatment plan</a:t>
            </a:r>
          </a:p>
        </p:txBody>
      </p:sp>
      <p:pic>
        <p:nvPicPr>
          <p:cNvPr id="4" name="Picture 3"/>
          <p:cNvPicPr>
            <a:picLocks noChangeAspect="1"/>
          </p:cNvPicPr>
          <p:nvPr/>
        </p:nvPicPr>
        <p:blipFill>
          <a:blip r:embed="rId3"/>
          <a:stretch>
            <a:fillRect/>
          </a:stretch>
        </p:blipFill>
        <p:spPr>
          <a:xfrm>
            <a:off x="1695635" y="1647158"/>
            <a:ext cx="7633952" cy="4385461"/>
          </a:xfrm>
          <a:prstGeom prst="rect">
            <a:avLst/>
          </a:prstGeom>
        </p:spPr>
      </p:pic>
      <p:sp>
        <p:nvSpPr>
          <p:cNvPr id="6" name="Title 1">
            <a:extLst>
              <a:ext uri="{FF2B5EF4-FFF2-40B4-BE49-F238E27FC236}">
                <a16:creationId xmlns:a16="http://schemas.microsoft.com/office/drawing/2014/main" id="{60D2C49A-7BE6-735A-7B2C-4A9AB543C09A}"/>
              </a:ext>
            </a:extLst>
          </p:cNvPr>
          <p:cNvSpPr>
            <a:spLocks noGrp="1"/>
          </p:cNvSpPr>
          <p:nvPr>
            <p:ph type="title"/>
          </p:nvPr>
        </p:nvSpPr>
        <p:spPr>
          <a:xfrm>
            <a:off x="558712" y="226413"/>
            <a:ext cx="4972076" cy="461665"/>
          </a:xfrm>
        </p:spPr>
        <p:txBody>
          <a:bodyPr/>
          <a:lstStyle/>
          <a:p>
            <a:r>
              <a:rPr lang="en-US" dirty="0">
                <a:solidFill>
                  <a:schemeClr val="accent5">
                    <a:lumMod val="75000"/>
                  </a:schemeClr>
                </a:solidFill>
              </a:rPr>
              <a:t>Testing of vendor algorithms</a:t>
            </a:r>
          </a:p>
        </p:txBody>
      </p:sp>
    </p:spTree>
    <p:extLst>
      <p:ext uri="{BB962C8B-B14F-4D97-AF65-F5344CB8AC3E}">
        <p14:creationId xmlns:p14="http://schemas.microsoft.com/office/powerpoint/2010/main" val="9830035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226413"/>
            <a:ext cx="4972076" cy="461665"/>
          </a:xfrm>
        </p:spPr>
        <p:txBody>
          <a:bodyPr/>
          <a:lstStyle/>
          <a:p>
            <a:r>
              <a:rPr lang="en-US" dirty="0">
                <a:solidFill>
                  <a:schemeClr val="accent5">
                    <a:lumMod val="75000"/>
                  </a:schemeClr>
                </a:solidFill>
              </a:rPr>
              <a:t>Testing of vendor algorithms</a:t>
            </a:r>
          </a:p>
        </p:txBody>
      </p:sp>
      <p:sp>
        <p:nvSpPr>
          <p:cNvPr id="3" name="Content Placeholder 2"/>
          <p:cNvSpPr>
            <a:spLocks noGrp="1"/>
          </p:cNvSpPr>
          <p:nvPr>
            <p:ph idx="1"/>
          </p:nvPr>
        </p:nvSpPr>
        <p:spPr>
          <a:xfrm>
            <a:off x="558711" y="749453"/>
            <a:ext cx="7826375" cy="504980"/>
          </a:xfrm>
        </p:spPr>
        <p:txBody>
          <a:bodyPr/>
          <a:lstStyle/>
          <a:p>
            <a:r>
              <a:rPr lang="en-US" dirty="0"/>
              <a:t>Results from different vendors [A,B,C,D,E], same plans</a:t>
            </a:r>
          </a:p>
        </p:txBody>
      </p:sp>
      <p:pic>
        <p:nvPicPr>
          <p:cNvPr id="5" name="Picture 4"/>
          <p:cNvPicPr>
            <a:picLocks noChangeAspect="1"/>
          </p:cNvPicPr>
          <p:nvPr/>
        </p:nvPicPr>
        <p:blipFill>
          <a:blip r:embed="rId2"/>
          <a:stretch>
            <a:fillRect/>
          </a:stretch>
        </p:blipFill>
        <p:spPr>
          <a:xfrm>
            <a:off x="185648" y="1159478"/>
            <a:ext cx="8572500" cy="2886075"/>
          </a:xfrm>
          <a:prstGeom prst="rect">
            <a:avLst/>
          </a:prstGeom>
        </p:spPr>
      </p:pic>
      <p:pic>
        <p:nvPicPr>
          <p:cNvPr id="6" name="Picture 5"/>
          <p:cNvPicPr>
            <a:picLocks noChangeAspect="1"/>
          </p:cNvPicPr>
          <p:nvPr/>
        </p:nvPicPr>
        <p:blipFill>
          <a:blip r:embed="rId3"/>
          <a:stretch>
            <a:fillRect/>
          </a:stretch>
        </p:blipFill>
        <p:spPr>
          <a:xfrm>
            <a:off x="185649" y="3861786"/>
            <a:ext cx="8696325" cy="2201600"/>
          </a:xfrm>
          <a:prstGeom prst="rect">
            <a:avLst/>
          </a:prstGeom>
        </p:spPr>
      </p:pic>
      <p:sp>
        <p:nvSpPr>
          <p:cNvPr id="7" name="Rectangle 6"/>
          <p:cNvSpPr/>
          <p:nvPr/>
        </p:nvSpPr>
        <p:spPr bwMode="auto">
          <a:xfrm>
            <a:off x="3158460" y="3129878"/>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
        <p:nvSpPr>
          <p:cNvPr id="8" name="Rectangle 7">
            <a:extLst>
              <a:ext uri="{FF2B5EF4-FFF2-40B4-BE49-F238E27FC236}">
                <a16:creationId xmlns:a16="http://schemas.microsoft.com/office/drawing/2014/main" id="{A536F95A-BF41-B3EB-0083-960B71D4CF7E}"/>
              </a:ext>
            </a:extLst>
          </p:cNvPr>
          <p:cNvSpPr/>
          <p:nvPr/>
        </p:nvSpPr>
        <p:spPr bwMode="auto">
          <a:xfrm>
            <a:off x="3168817" y="2376750"/>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
        <p:nvSpPr>
          <p:cNvPr id="4" name="Rectangle 3"/>
          <p:cNvSpPr/>
          <p:nvPr/>
        </p:nvSpPr>
        <p:spPr>
          <a:xfrm>
            <a:off x="8758148" y="5486305"/>
            <a:ext cx="3310026" cy="577081"/>
          </a:xfrm>
          <a:prstGeom prst="rect">
            <a:avLst/>
          </a:prstGeom>
        </p:spPr>
        <p:txBody>
          <a:bodyPr wrap="square">
            <a:spAutoFit/>
          </a:bodyPr>
          <a:lstStyle/>
          <a:p>
            <a:r>
              <a:rPr lang="en-US" sz="1050" dirty="0" err="1">
                <a:latin typeface="AdvTTa966caec"/>
              </a:rPr>
              <a:t>Ju</a:t>
            </a:r>
            <a:r>
              <a:rPr lang="en-US" sz="1050" dirty="0">
                <a:latin typeface="AdvTTa966caec"/>
              </a:rPr>
              <a:t> et.al. Geometric interpretation of the </a:t>
            </a:r>
            <a:r>
              <a:rPr lang="fr-FR" sz="1050" dirty="0">
                <a:latin typeface="AdvTTa966caec"/>
              </a:rPr>
              <a:t>gamma dose distribution </a:t>
            </a:r>
            <a:r>
              <a:rPr lang="fr-FR" sz="1050" dirty="0" err="1">
                <a:latin typeface="AdvTTa966caec"/>
              </a:rPr>
              <a:t>comparison</a:t>
            </a:r>
            <a:r>
              <a:rPr lang="fr-FR" sz="1050" dirty="0">
                <a:latin typeface="AdvTTa966caec"/>
              </a:rPr>
              <a:t> technique: interpolation-free </a:t>
            </a:r>
            <a:r>
              <a:rPr lang="fr-FR" sz="1050" dirty="0" err="1">
                <a:latin typeface="AdvTTa966caec"/>
              </a:rPr>
              <a:t>calculation</a:t>
            </a:r>
            <a:r>
              <a:rPr lang="fr-FR" sz="1050" dirty="0">
                <a:latin typeface="AdvTTa966caec"/>
              </a:rPr>
              <a:t>. </a:t>
            </a:r>
            <a:r>
              <a:rPr lang="en-US" sz="1050" dirty="0">
                <a:latin typeface="AdvTTe0f01e5b.I"/>
              </a:rPr>
              <a:t>Med Phys</a:t>
            </a:r>
            <a:r>
              <a:rPr lang="en-US" sz="1050" dirty="0">
                <a:latin typeface="AdvTTa966caec"/>
              </a:rPr>
              <a:t>. 2008;35:879</a:t>
            </a:r>
            <a:r>
              <a:rPr lang="en-US" sz="1050" dirty="0">
                <a:latin typeface="AdvTTec369687+20"/>
              </a:rPr>
              <a:t>–</a:t>
            </a:r>
            <a:r>
              <a:rPr lang="en-US" sz="1050" dirty="0">
                <a:latin typeface="AdvTTa966caec"/>
              </a:rPr>
              <a:t>887.</a:t>
            </a:r>
            <a:endParaRPr lang="en-US" sz="1050" dirty="0"/>
          </a:p>
        </p:txBody>
      </p:sp>
    </p:spTree>
    <p:extLst>
      <p:ext uri="{BB962C8B-B14F-4D97-AF65-F5344CB8AC3E}">
        <p14:creationId xmlns:p14="http://schemas.microsoft.com/office/powerpoint/2010/main" val="26201813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226413"/>
            <a:ext cx="11074576" cy="461665"/>
          </a:xfrm>
        </p:spPr>
        <p:txBody>
          <a:bodyPr/>
          <a:lstStyle/>
          <a:p>
            <a:r>
              <a:rPr lang="en-US" dirty="0">
                <a:solidFill>
                  <a:schemeClr val="accent5">
                    <a:lumMod val="75000"/>
                  </a:schemeClr>
                </a:solidFill>
              </a:rPr>
              <a:t>Testing of vendor algorithms</a:t>
            </a:r>
          </a:p>
        </p:txBody>
      </p:sp>
      <p:sp>
        <p:nvSpPr>
          <p:cNvPr id="3" name="Content Placeholder 2"/>
          <p:cNvSpPr>
            <a:spLocks noGrp="1"/>
          </p:cNvSpPr>
          <p:nvPr>
            <p:ph idx="1"/>
          </p:nvPr>
        </p:nvSpPr>
        <p:spPr>
          <a:xfrm>
            <a:off x="558711" y="749453"/>
            <a:ext cx="7826375" cy="504980"/>
          </a:xfrm>
        </p:spPr>
        <p:txBody>
          <a:bodyPr/>
          <a:lstStyle/>
          <a:p>
            <a:r>
              <a:rPr lang="en-US" dirty="0"/>
              <a:t>Results from different vendors [A,B,C,D,E], same plans</a:t>
            </a:r>
          </a:p>
        </p:txBody>
      </p:sp>
      <p:pic>
        <p:nvPicPr>
          <p:cNvPr id="5" name="Picture 4"/>
          <p:cNvPicPr>
            <a:picLocks noChangeAspect="1"/>
          </p:cNvPicPr>
          <p:nvPr/>
        </p:nvPicPr>
        <p:blipFill>
          <a:blip r:embed="rId2"/>
          <a:stretch>
            <a:fillRect/>
          </a:stretch>
        </p:blipFill>
        <p:spPr>
          <a:xfrm>
            <a:off x="185648" y="1159478"/>
            <a:ext cx="8572500" cy="2886075"/>
          </a:xfrm>
          <a:prstGeom prst="rect">
            <a:avLst/>
          </a:prstGeom>
        </p:spPr>
      </p:pic>
      <p:pic>
        <p:nvPicPr>
          <p:cNvPr id="6" name="Picture 5"/>
          <p:cNvPicPr>
            <a:picLocks noChangeAspect="1"/>
          </p:cNvPicPr>
          <p:nvPr/>
        </p:nvPicPr>
        <p:blipFill>
          <a:blip r:embed="rId3"/>
          <a:stretch>
            <a:fillRect/>
          </a:stretch>
        </p:blipFill>
        <p:spPr>
          <a:xfrm>
            <a:off x="185649" y="3861786"/>
            <a:ext cx="8696325" cy="2201600"/>
          </a:xfrm>
          <a:prstGeom prst="rect">
            <a:avLst/>
          </a:prstGeom>
        </p:spPr>
      </p:pic>
      <p:sp>
        <p:nvSpPr>
          <p:cNvPr id="7" name="Rectangle 6"/>
          <p:cNvSpPr/>
          <p:nvPr/>
        </p:nvSpPr>
        <p:spPr bwMode="auto">
          <a:xfrm>
            <a:off x="3176216" y="2925694"/>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
        <p:nvSpPr>
          <p:cNvPr id="8" name="Rectangle 7">
            <a:extLst>
              <a:ext uri="{FF2B5EF4-FFF2-40B4-BE49-F238E27FC236}">
                <a16:creationId xmlns:a16="http://schemas.microsoft.com/office/drawing/2014/main" id="{87EED14E-ECED-1A84-2954-844C00216E81}"/>
              </a:ext>
            </a:extLst>
          </p:cNvPr>
          <p:cNvSpPr/>
          <p:nvPr/>
        </p:nvSpPr>
        <p:spPr bwMode="auto">
          <a:xfrm>
            <a:off x="3177690" y="3690651"/>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Tree>
    <p:extLst>
      <p:ext uri="{BB962C8B-B14F-4D97-AF65-F5344CB8AC3E}">
        <p14:creationId xmlns:p14="http://schemas.microsoft.com/office/powerpoint/2010/main" val="38278232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226413"/>
            <a:ext cx="11074576" cy="461665"/>
          </a:xfrm>
        </p:spPr>
        <p:txBody>
          <a:bodyPr/>
          <a:lstStyle/>
          <a:p>
            <a:r>
              <a:rPr lang="en-US" dirty="0">
                <a:solidFill>
                  <a:schemeClr val="accent5">
                    <a:lumMod val="75000"/>
                  </a:schemeClr>
                </a:solidFill>
              </a:rPr>
              <a:t>Testing of vendor algorithms</a:t>
            </a:r>
          </a:p>
        </p:txBody>
      </p:sp>
      <p:sp>
        <p:nvSpPr>
          <p:cNvPr id="3" name="Content Placeholder 2"/>
          <p:cNvSpPr>
            <a:spLocks noGrp="1"/>
          </p:cNvSpPr>
          <p:nvPr>
            <p:ph idx="1"/>
          </p:nvPr>
        </p:nvSpPr>
        <p:spPr>
          <a:xfrm>
            <a:off x="558711" y="749453"/>
            <a:ext cx="7826375" cy="504980"/>
          </a:xfrm>
        </p:spPr>
        <p:txBody>
          <a:bodyPr/>
          <a:lstStyle/>
          <a:p>
            <a:r>
              <a:rPr lang="en-US" dirty="0"/>
              <a:t>Results from different vendors [A,B,C,D,E], same plans</a:t>
            </a:r>
          </a:p>
        </p:txBody>
      </p:sp>
      <p:pic>
        <p:nvPicPr>
          <p:cNvPr id="5" name="Picture 4"/>
          <p:cNvPicPr>
            <a:picLocks noChangeAspect="1"/>
          </p:cNvPicPr>
          <p:nvPr/>
        </p:nvPicPr>
        <p:blipFill>
          <a:blip r:embed="rId2"/>
          <a:stretch>
            <a:fillRect/>
          </a:stretch>
        </p:blipFill>
        <p:spPr>
          <a:xfrm>
            <a:off x="185648" y="1159478"/>
            <a:ext cx="8572500" cy="2886075"/>
          </a:xfrm>
          <a:prstGeom prst="rect">
            <a:avLst/>
          </a:prstGeom>
        </p:spPr>
      </p:pic>
      <p:pic>
        <p:nvPicPr>
          <p:cNvPr id="6" name="Picture 5"/>
          <p:cNvPicPr>
            <a:picLocks noChangeAspect="1"/>
          </p:cNvPicPr>
          <p:nvPr/>
        </p:nvPicPr>
        <p:blipFill>
          <a:blip r:embed="rId3"/>
          <a:stretch>
            <a:fillRect/>
          </a:stretch>
        </p:blipFill>
        <p:spPr>
          <a:xfrm>
            <a:off x="185649" y="3861786"/>
            <a:ext cx="8696325" cy="2201600"/>
          </a:xfrm>
          <a:prstGeom prst="rect">
            <a:avLst/>
          </a:prstGeom>
        </p:spPr>
      </p:pic>
      <p:sp>
        <p:nvSpPr>
          <p:cNvPr id="7" name="Rectangle 6"/>
          <p:cNvSpPr/>
          <p:nvPr/>
        </p:nvSpPr>
        <p:spPr bwMode="auto">
          <a:xfrm>
            <a:off x="3158460" y="5020827"/>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Tree>
    <p:extLst>
      <p:ext uri="{BB962C8B-B14F-4D97-AF65-F5344CB8AC3E}">
        <p14:creationId xmlns:p14="http://schemas.microsoft.com/office/powerpoint/2010/main" val="79350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226413"/>
            <a:ext cx="11074576" cy="461665"/>
          </a:xfrm>
        </p:spPr>
        <p:txBody>
          <a:bodyPr/>
          <a:lstStyle/>
          <a:p>
            <a:r>
              <a:rPr lang="en-US" dirty="0">
                <a:solidFill>
                  <a:schemeClr val="accent5">
                    <a:lumMod val="75000"/>
                  </a:schemeClr>
                </a:solidFill>
              </a:rPr>
              <a:t>Testing of vendor algorithms</a:t>
            </a:r>
          </a:p>
        </p:txBody>
      </p:sp>
      <p:sp>
        <p:nvSpPr>
          <p:cNvPr id="3" name="Content Placeholder 2"/>
          <p:cNvSpPr>
            <a:spLocks noGrp="1"/>
          </p:cNvSpPr>
          <p:nvPr>
            <p:ph idx="1"/>
          </p:nvPr>
        </p:nvSpPr>
        <p:spPr>
          <a:xfrm>
            <a:off x="558711" y="749453"/>
            <a:ext cx="7826375" cy="504980"/>
          </a:xfrm>
        </p:spPr>
        <p:txBody>
          <a:bodyPr/>
          <a:lstStyle/>
          <a:p>
            <a:r>
              <a:rPr lang="en-US" dirty="0"/>
              <a:t>Results from different vendors [A,B,C,D,E], same plans</a:t>
            </a:r>
          </a:p>
        </p:txBody>
      </p:sp>
      <p:pic>
        <p:nvPicPr>
          <p:cNvPr id="5" name="Picture 4"/>
          <p:cNvPicPr>
            <a:picLocks noChangeAspect="1"/>
          </p:cNvPicPr>
          <p:nvPr/>
        </p:nvPicPr>
        <p:blipFill>
          <a:blip r:embed="rId2"/>
          <a:stretch>
            <a:fillRect/>
          </a:stretch>
        </p:blipFill>
        <p:spPr>
          <a:xfrm>
            <a:off x="185648" y="1159478"/>
            <a:ext cx="8572500" cy="2886075"/>
          </a:xfrm>
          <a:prstGeom prst="rect">
            <a:avLst/>
          </a:prstGeom>
        </p:spPr>
      </p:pic>
      <p:pic>
        <p:nvPicPr>
          <p:cNvPr id="6" name="Picture 5"/>
          <p:cNvPicPr>
            <a:picLocks noChangeAspect="1"/>
          </p:cNvPicPr>
          <p:nvPr/>
        </p:nvPicPr>
        <p:blipFill>
          <a:blip r:embed="rId3"/>
          <a:stretch>
            <a:fillRect/>
          </a:stretch>
        </p:blipFill>
        <p:spPr>
          <a:xfrm>
            <a:off x="185649" y="3861786"/>
            <a:ext cx="8696325" cy="2201600"/>
          </a:xfrm>
          <a:prstGeom prst="rect">
            <a:avLst/>
          </a:prstGeom>
        </p:spPr>
      </p:pic>
      <p:sp>
        <p:nvSpPr>
          <p:cNvPr id="7" name="Rectangle 6"/>
          <p:cNvSpPr/>
          <p:nvPr/>
        </p:nvSpPr>
        <p:spPr bwMode="auto">
          <a:xfrm>
            <a:off x="3158460" y="5589000"/>
            <a:ext cx="5404918" cy="199177"/>
          </a:xfrm>
          <a:prstGeom prst="rect">
            <a:avLst/>
          </a:prstGeom>
          <a:noFill/>
          <a:ln w="28575">
            <a:solidFill>
              <a:schemeClr val="accent3">
                <a:lumMod val="60000"/>
                <a:lumOff val="4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endParaRPr lang="en-US">
              <a:solidFill>
                <a:schemeClr val="accent5">
                  <a:lumMod val="75000"/>
                </a:schemeClr>
              </a:solidFill>
              <a:latin typeface="Arial" pitchFamily="34" charset="0"/>
            </a:endParaRPr>
          </a:p>
        </p:txBody>
      </p:sp>
    </p:spTree>
    <p:extLst>
      <p:ext uri="{BB962C8B-B14F-4D97-AF65-F5344CB8AC3E}">
        <p14:creationId xmlns:p14="http://schemas.microsoft.com/office/powerpoint/2010/main" val="32465895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5368" y="1677758"/>
            <a:ext cx="7826375" cy="1197477"/>
          </a:xfrm>
        </p:spPr>
        <p:txBody>
          <a:bodyPr/>
          <a:lstStyle/>
          <a:p>
            <a:r>
              <a:rPr lang="en-US" dirty="0"/>
              <a:t>Mathematical test show good agreement (not perfect)</a:t>
            </a:r>
          </a:p>
          <a:p>
            <a:r>
              <a:rPr lang="en-US" dirty="0"/>
              <a:t>Difference in pass rates between ideal mathematical and clinical plan imply difference in dose align or handling of image resolution </a:t>
            </a:r>
          </a:p>
        </p:txBody>
      </p:sp>
      <p:sp>
        <p:nvSpPr>
          <p:cNvPr id="5" name="Title 1">
            <a:extLst>
              <a:ext uri="{FF2B5EF4-FFF2-40B4-BE49-F238E27FC236}">
                <a16:creationId xmlns:a16="http://schemas.microsoft.com/office/drawing/2014/main" id="{43FEDCB3-8F7B-A3AA-5DD1-4DD9CE9CE0DC}"/>
              </a:ext>
            </a:extLst>
          </p:cNvPr>
          <p:cNvSpPr>
            <a:spLocks noGrp="1"/>
          </p:cNvSpPr>
          <p:nvPr>
            <p:ph type="title"/>
          </p:nvPr>
        </p:nvSpPr>
        <p:spPr>
          <a:xfrm>
            <a:off x="558712" y="226413"/>
            <a:ext cx="11074576" cy="461665"/>
          </a:xfrm>
        </p:spPr>
        <p:txBody>
          <a:bodyPr/>
          <a:lstStyle/>
          <a:p>
            <a:r>
              <a:rPr lang="en-US" dirty="0">
                <a:solidFill>
                  <a:schemeClr val="accent5">
                    <a:lumMod val="75000"/>
                  </a:schemeClr>
                </a:solidFill>
              </a:rPr>
              <a:t>Testing of vendor algorithms</a:t>
            </a:r>
          </a:p>
        </p:txBody>
      </p:sp>
    </p:spTree>
    <p:extLst>
      <p:ext uri="{BB962C8B-B14F-4D97-AF65-F5344CB8AC3E}">
        <p14:creationId xmlns:p14="http://schemas.microsoft.com/office/powerpoint/2010/main" val="2408285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208140"/>
            <a:ext cx="11074576" cy="461665"/>
          </a:xfrm>
        </p:spPr>
        <p:txBody>
          <a:bodyPr/>
          <a:lstStyle/>
          <a:p>
            <a:r>
              <a:rPr lang="en-US" dirty="0">
                <a:solidFill>
                  <a:schemeClr val="accent5">
                    <a:lumMod val="75000"/>
                  </a:schemeClr>
                </a:solidFill>
              </a:rPr>
              <a:t>Process Based Tolerance and Action Limits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8712" y="687656"/>
                <a:ext cx="11568185" cy="4405471"/>
              </a:xfrm>
            </p:spPr>
            <p:txBody>
              <a:bodyPr/>
              <a:lstStyle/>
              <a:p>
                <a:r>
                  <a:rPr lang="en-US" dirty="0"/>
                  <a:t>Universally defined and guided by outcome data and expert consensus</a:t>
                </a:r>
              </a:p>
              <a:p>
                <a:r>
                  <a:rPr lang="en-US" dirty="0"/>
                  <a:t>Locally defined and guided by local experience</a:t>
                </a:r>
              </a:p>
              <a:p>
                <a:pPr lvl="1"/>
                <a:r>
                  <a:rPr lang="en-US" dirty="0"/>
                  <a:t>Vary from institution to institution</a:t>
                </a:r>
              </a:p>
              <a:p>
                <a:r>
                  <a:rPr lang="en-US" dirty="0"/>
                  <a:t>Action Limit  </a:t>
                </a:r>
              </a:p>
              <a:p>
                <a:pPr lvl="1"/>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ad>
                      <m:radPr>
                        <m:degHide m:val="on"/>
                        <m:ctrlPr>
                          <a:rPr lang="en-US" b="0" i="1" smtClean="0">
                            <a:latin typeface="Cambria Math" panose="02040503050406030204" pitchFamily="18" charset="0"/>
                            <a:ea typeface="Cambria Math" panose="02040503050406030204" pitchFamily="18" charset="0"/>
                          </a:rPr>
                        </m:ctrlPr>
                      </m:radPr>
                      <m:deg/>
                      <m:e>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𝑥</m:t>
                                    </m:r>
                                  </m:e>
                                </m:acc>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𝑇</m:t>
                                </m:r>
                              </m:e>
                            </m:d>
                          </m:e>
                          <m:sup>
                            <m:r>
                              <a:rPr lang="en-US" b="0" i="1" smtClean="0">
                                <a:latin typeface="Cambria Math" panose="02040503050406030204" pitchFamily="18" charset="0"/>
                                <a:ea typeface="Cambria Math" panose="02040503050406030204" pitchFamily="18" charset="0"/>
                              </a:rPr>
                              <m:t>2</m:t>
                            </m:r>
                          </m:sup>
                        </m:sSup>
                      </m:e>
                    </m:rad>
                  </m:oMath>
                </a14:m>
                <a:endParaRPr lang="en-US" dirty="0"/>
              </a:p>
              <a:p>
                <a:pPr lvl="2"/>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oMath>
                </a14:m>
                <a:r>
                  <a:rPr lang="en-US" dirty="0"/>
                  <a:t> upper and lower limit of the action limit</a:t>
                </a:r>
              </a:p>
              <a:p>
                <a:pPr lvl="2"/>
                <a:r>
                  <a:rPr lang="en-US" i="1" dirty="0">
                    <a:latin typeface="Cambria Math" panose="02040503050406030204" pitchFamily="18" charset="0"/>
                    <a:ea typeface="Cambria Math" panose="02040503050406030204" pitchFamily="18" charset="0"/>
                  </a:rPr>
                  <a:t>T </a:t>
                </a:r>
                <a:r>
                  <a:rPr lang="en-US" dirty="0">
                    <a:latin typeface="Cambria Math" panose="02040503050406030204" pitchFamily="18" charset="0"/>
                    <a:ea typeface="Cambria Math" panose="02040503050406030204" pitchFamily="18" charset="0"/>
                  </a:rPr>
                  <a:t> </a:t>
                </a:r>
                <a:r>
                  <a:rPr lang="en-US" dirty="0">
                    <a:latin typeface="+mj-lt"/>
                    <a:ea typeface="Cambria Math" panose="02040503050406030204" pitchFamily="18" charset="0"/>
                  </a:rPr>
                  <a:t>is the process target value</a:t>
                </a:r>
                <a:endParaRPr lang="en-US" i="1" dirty="0">
                  <a:latin typeface="+mj-lt"/>
                  <a:ea typeface="Cambria Math" panose="02040503050406030204" pitchFamily="18" charset="0"/>
                </a:endParaRPr>
              </a:p>
              <a:p>
                <a:pPr lvl="2"/>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variance</a:t>
                </a:r>
              </a:p>
              <a:p>
                <a:pPr lvl="2"/>
                <a14:m>
                  <m:oMath xmlns:m="http://schemas.openxmlformats.org/officeDocument/2006/math">
                    <m:r>
                      <a:rPr lang="en-US" i="1">
                        <a:latin typeface="Cambria Math" panose="02040503050406030204" pitchFamily="18" charset="0"/>
                        <a:ea typeface="Cambria Math" panose="02040503050406030204" pitchFamily="18" charset="0"/>
                      </a:rPr>
                      <m:t>𝑥</m:t>
                    </m:r>
                  </m:oMath>
                </a14:m>
                <a:r>
                  <a:rPr lang="en-US" dirty="0"/>
                  <a:t> mean</a:t>
                </a:r>
              </a:p>
              <a:p>
                <a:pPr lvl="2"/>
                <a14:m>
                  <m:oMath xmlns:m="http://schemas.openxmlformats.org/officeDocument/2006/math">
                    <m:r>
                      <a:rPr lang="en-US" i="1">
                        <a:latin typeface="Cambria Math" panose="02040503050406030204" pitchFamily="18" charset="0"/>
                        <a:ea typeface="Cambria Math" panose="02040503050406030204" pitchFamily="18" charset="0"/>
                      </a:rPr>
                      <m:t>𝛽</m:t>
                    </m:r>
                  </m:oMath>
                </a14:m>
                <a:r>
                  <a:rPr lang="en-US" dirty="0"/>
                  <a:t> combination of process capability metric </a:t>
                </a:r>
                <a:r>
                  <a:rPr lang="en-US" dirty="0" err="1"/>
                  <a:t>C</a:t>
                </a:r>
                <a:r>
                  <a:rPr lang="en-US" baseline="-25000" dirty="0" err="1"/>
                  <a:t>pm</a:t>
                </a:r>
                <a:r>
                  <a:rPr lang="en-US" dirty="0"/>
                  <a:t> and error types (reject the null hypothesis if it is true). </a:t>
                </a:r>
              </a:p>
              <a:p>
                <a:pPr lvl="3"/>
                <a:endParaRPr lang="en-US" baseline="-25000" dirty="0"/>
              </a:p>
              <a:p>
                <a:r>
                  <a:rPr lang="en-US" dirty="0"/>
                  <a:t>Collect IMRT measurements over time (no out of control behavior)</a:t>
                </a:r>
              </a:p>
              <a:p>
                <a:pPr lvl="1"/>
                <a:r>
                  <a:rPr lang="en-US" sz="1600" dirty="0"/>
                  <a:t>Create</a:t>
                </a:r>
                <a:r>
                  <a:rPr lang="en-US" dirty="0"/>
                  <a:t>                                                                                                             = moving range.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8712" y="687656"/>
                <a:ext cx="11568185" cy="4405471"/>
              </a:xfrm>
              <a:blipFill>
                <a:blip r:embed="rId3"/>
                <a:stretch>
                  <a:fillRect l="-1634" t="-1247" b="-13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647ADCA-9AB6-FD56-450B-1F893C6CB3C7}"/>
              </a:ext>
            </a:extLst>
          </p:cNvPr>
          <p:cNvPicPr>
            <a:picLocks noChangeAspect="1"/>
          </p:cNvPicPr>
          <p:nvPr/>
        </p:nvPicPr>
        <p:blipFill>
          <a:blip r:embed="rId4"/>
          <a:stretch>
            <a:fillRect/>
          </a:stretch>
        </p:blipFill>
        <p:spPr>
          <a:xfrm>
            <a:off x="1979718" y="4661616"/>
            <a:ext cx="3682825" cy="1346885"/>
          </a:xfrm>
          <a:prstGeom prst="rect">
            <a:avLst/>
          </a:prstGeom>
        </p:spPr>
      </p:pic>
      <p:pic>
        <p:nvPicPr>
          <p:cNvPr id="7" name="Picture 6">
            <a:extLst>
              <a:ext uri="{FF2B5EF4-FFF2-40B4-BE49-F238E27FC236}">
                <a16:creationId xmlns:a16="http://schemas.microsoft.com/office/drawing/2014/main" id="{AD64B263-4A9D-B3A4-0EF1-847B4B27869A}"/>
              </a:ext>
            </a:extLst>
          </p:cNvPr>
          <p:cNvPicPr>
            <a:picLocks noChangeAspect="1"/>
          </p:cNvPicPr>
          <p:nvPr/>
        </p:nvPicPr>
        <p:blipFill>
          <a:blip r:embed="rId5"/>
          <a:stretch>
            <a:fillRect/>
          </a:stretch>
        </p:blipFill>
        <p:spPr>
          <a:xfrm>
            <a:off x="6843852" y="4661616"/>
            <a:ext cx="1864613" cy="476072"/>
          </a:xfrm>
          <a:prstGeom prst="rect">
            <a:avLst/>
          </a:prstGeom>
        </p:spPr>
      </p:pic>
    </p:spTree>
    <p:extLst>
      <p:ext uri="{BB962C8B-B14F-4D97-AF65-F5344CB8AC3E}">
        <p14:creationId xmlns:p14="http://schemas.microsoft.com/office/powerpoint/2010/main" val="1943731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12" y="157276"/>
            <a:ext cx="11074576" cy="461665"/>
          </a:xfrm>
        </p:spPr>
        <p:txBody>
          <a:bodyPr/>
          <a:lstStyle/>
          <a:p>
            <a:r>
              <a:rPr lang="en-US" dirty="0">
                <a:solidFill>
                  <a:schemeClr val="accent5">
                    <a:lumMod val="75000"/>
                  </a:schemeClr>
                </a:solidFill>
              </a:rPr>
              <a:t>Examples of Process Based Tolerance and Action Limits</a:t>
            </a:r>
          </a:p>
        </p:txBody>
      </p:sp>
      <p:sp>
        <p:nvSpPr>
          <p:cNvPr id="3" name="Content Placeholder 2"/>
          <p:cNvSpPr>
            <a:spLocks noGrp="1"/>
          </p:cNvSpPr>
          <p:nvPr>
            <p:ph idx="1"/>
          </p:nvPr>
        </p:nvSpPr>
        <p:spPr>
          <a:xfrm>
            <a:off x="558712" y="822019"/>
            <a:ext cx="8433815" cy="5213961"/>
          </a:xfrm>
        </p:spPr>
        <p:txBody>
          <a:bodyPr/>
          <a:lstStyle/>
          <a:p>
            <a:r>
              <a:rPr lang="en-US" dirty="0"/>
              <a:t>VMAT and fixed gantry IMRT QA</a:t>
            </a:r>
          </a:p>
          <a:p>
            <a:pPr lvl="1"/>
            <a:r>
              <a:rPr lang="en-US" dirty="0"/>
              <a:t>pass rate of 3% / 2 mm and 10% dose threshold </a:t>
            </a:r>
          </a:p>
          <a:p>
            <a:pPr lvl="1"/>
            <a:r>
              <a:rPr lang="en-US" dirty="0"/>
              <a:t>evaluated with </a:t>
            </a:r>
            <a:r>
              <a:rPr lang="en-US" dirty="0" err="1"/>
              <a:t>ArcCHECK</a:t>
            </a:r>
            <a:r>
              <a:rPr lang="en-US" dirty="0"/>
              <a:t> and </a:t>
            </a:r>
            <a:r>
              <a:rPr lang="en-US" dirty="0" err="1"/>
              <a:t>MapCHECK</a:t>
            </a:r>
            <a:r>
              <a:rPr lang="en-US" dirty="0"/>
              <a:t> device</a:t>
            </a:r>
          </a:p>
          <a:p>
            <a:r>
              <a:rPr lang="en-US" dirty="0"/>
              <a:t>20 plans with an average gamma of 96.66% for VMAT</a:t>
            </a:r>
          </a:p>
          <a:p>
            <a:pPr lvl="1"/>
            <a:r>
              <a:rPr lang="en-US" dirty="0"/>
              <a:t>Standard deviation of 1.739%</a:t>
            </a:r>
          </a:p>
          <a:p>
            <a:pPr lvl="1"/>
            <a:r>
              <a:rPr lang="en-US" dirty="0"/>
              <a:t>Moving range of 1.905%</a:t>
            </a:r>
          </a:p>
          <a:p>
            <a:pPr lvl="1"/>
            <a:r>
              <a:rPr lang="en-US" dirty="0"/>
              <a:t>Action limit is 22.6% according to their equation</a:t>
            </a:r>
          </a:p>
          <a:p>
            <a:pPr lvl="2"/>
            <a:r>
              <a:rPr lang="en-US" dirty="0"/>
              <a:t>100-22.6%/2= 88.7%</a:t>
            </a:r>
          </a:p>
          <a:p>
            <a:pPr lvl="1"/>
            <a:r>
              <a:rPr lang="en-US" dirty="0"/>
              <a:t>Control chart limit with no out of control behavior</a:t>
            </a:r>
          </a:p>
          <a:p>
            <a:pPr lvl="2"/>
            <a:r>
              <a:rPr lang="en-US" dirty="0"/>
              <a:t>96.66^ - 2.660*1.905% = 91.6% (using moving range)</a:t>
            </a:r>
          </a:p>
          <a:p>
            <a:r>
              <a:rPr lang="en-US" dirty="0"/>
              <a:t>20 plans for with an average gamma of 95.92% for IMRT</a:t>
            </a:r>
          </a:p>
          <a:p>
            <a:pPr lvl="1"/>
            <a:r>
              <a:rPr lang="en-US" dirty="0"/>
              <a:t>Standard deviation of 3.388%</a:t>
            </a:r>
          </a:p>
          <a:p>
            <a:pPr lvl="1"/>
            <a:r>
              <a:rPr lang="en-US" dirty="0"/>
              <a:t>Moving range of 3.642%</a:t>
            </a:r>
          </a:p>
          <a:p>
            <a:pPr lvl="1"/>
            <a:r>
              <a:rPr lang="en-US" dirty="0"/>
              <a:t>Action limit is 84.1%</a:t>
            </a:r>
          </a:p>
          <a:p>
            <a:pPr lvl="1"/>
            <a:r>
              <a:rPr lang="en-US" dirty="0"/>
              <a:t>Tolerance limit is 86.2%</a:t>
            </a:r>
          </a:p>
        </p:txBody>
      </p:sp>
    </p:spTree>
    <p:extLst>
      <p:ext uri="{BB962C8B-B14F-4D97-AF65-F5344CB8AC3E}">
        <p14:creationId xmlns:p14="http://schemas.microsoft.com/office/powerpoint/2010/main" val="2101127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102" y="263808"/>
            <a:ext cx="3655914" cy="461665"/>
          </a:xfrm>
        </p:spPr>
        <p:txBody>
          <a:bodyPr/>
          <a:lstStyle/>
          <a:p>
            <a:r>
              <a:rPr lang="en-US" dirty="0">
                <a:solidFill>
                  <a:schemeClr val="accent5">
                    <a:lumMod val="75000"/>
                  </a:schemeClr>
                </a:solidFill>
              </a:rPr>
              <a:t>Recommendations</a:t>
            </a:r>
          </a:p>
        </p:txBody>
      </p:sp>
      <p:pic>
        <p:nvPicPr>
          <p:cNvPr id="5" name="Picture 4">
            <a:extLst>
              <a:ext uri="{FF2B5EF4-FFF2-40B4-BE49-F238E27FC236}">
                <a16:creationId xmlns:a16="http://schemas.microsoft.com/office/drawing/2014/main" id="{8665D45A-01E0-8F1E-0DB4-E87EB104DD71}"/>
              </a:ext>
            </a:extLst>
          </p:cNvPr>
          <p:cNvPicPr>
            <a:picLocks noChangeAspect="1"/>
          </p:cNvPicPr>
          <p:nvPr/>
        </p:nvPicPr>
        <p:blipFill>
          <a:blip r:embed="rId3"/>
          <a:stretch>
            <a:fillRect/>
          </a:stretch>
        </p:blipFill>
        <p:spPr>
          <a:xfrm>
            <a:off x="5885898" y="41983"/>
            <a:ext cx="4545367" cy="5984388"/>
          </a:xfrm>
          <a:prstGeom prst="rect">
            <a:avLst/>
          </a:prstGeom>
        </p:spPr>
      </p:pic>
      <p:sp>
        <p:nvSpPr>
          <p:cNvPr id="8" name="TextBox 7">
            <a:extLst>
              <a:ext uri="{FF2B5EF4-FFF2-40B4-BE49-F238E27FC236}">
                <a16:creationId xmlns:a16="http://schemas.microsoft.com/office/drawing/2014/main" id="{3CC68845-8231-307F-133F-2F89F3D9B728}"/>
              </a:ext>
            </a:extLst>
          </p:cNvPr>
          <p:cNvSpPr txBox="1"/>
          <p:nvPr/>
        </p:nvSpPr>
        <p:spPr bwMode="auto">
          <a:xfrm>
            <a:off x="552101" y="1463908"/>
            <a:ext cx="41974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1600" b="0" i="0" dirty="0">
                <a:solidFill>
                  <a:srgbClr val="242021"/>
                </a:solidFill>
                <a:effectLst/>
                <a:latin typeface="+mn-lt"/>
              </a:rPr>
              <a:t>Flow chart outlines the procedure for setting </a:t>
            </a:r>
          </a:p>
          <a:p>
            <a:r>
              <a:rPr lang="en-US" sz="1600" b="0" i="0" dirty="0">
                <a:solidFill>
                  <a:srgbClr val="242021"/>
                </a:solidFill>
                <a:effectLst/>
                <a:latin typeface="+mn-lt"/>
              </a:rPr>
              <a:t>tolerance and action limits for IMRT QA</a:t>
            </a:r>
            <a:r>
              <a:rPr lang="en-US" sz="1600" dirty="0">
                <a:latin typeface="+mn-lt"/>
              </a:rPr>
              <a:t> </a:t>
            </a:r>
            <a:r>
              <a:rPr lang="en-US" sz="1600" dirty="0"/>
              <a:t/>
            </a:r>
            <a:br>
              <a:rPr lang="en-US" sz="1600" dirty="0"/>
            </a:br>
            <a:endParaRPr lang="en-US" sz="1600" dirty="0"/>
          </a:p>
        </p:txBody>
      </p:sp>
    </p:spTree>
    <p:extLst>
      <p:ext uri="{BB962C8B-B14F-4D97-AF65-F5344CB8AC3E}">
        <p14:creationId xmlns:p14="http://schemas.microsoft.com/office/powerpoint/2010/main" val="38029505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11" y="104011"/>
            <a:ext cx="11346935" cy="490793"/>
          </a:xfrm>
        </p:spPr>
        <p:txBody>
          <a:bodyPr/>
          <a:lstStyle/>
          <a:p>
            <a:r>
              <a:rPr lang="en-US" altLang="en-US" dirty="0">
                <a:solidFill>
                  <a:schemeClr val="accent5">
                    <a:lumMod val="75000"/>
                  </a:schemeClr>
                </a:solidFill>
              </a:rPr>
              <a:t>Passing rates for given tolerances and corresponding action limits </a:t>
            </a:r>
            <a:endParaRPr lang="en-US" dirty="0">
              <a:solidFill>
                <a:schemeClr val="accent5">
                  <a:lumMod val="75000"/>
                </a:schemeClr>
              </a:solidFill>
            </a:endParaRPr>
          </a:p>
        </p:txBody>
      </p:sp>
      <p:pic>
        <p:nvPicPr>
          <p:cNvPr id="4" name="Picture 3"/>
          <p:cNvPicPr>
            <a:picLocks noChangeAspect="1"/>
          </p:cNvPicPr>
          <p:nvPr/>
        </p:nvPicPr>
        <p:blipFill>
          <a:blip r:embed="rId3"/>
          <a:stretch>
            <a:fillRect/>
          </a:stretch>
        </p:blipFill>
        <p:spPr>
          <a:xfrm>
            <a:off x="1758949" y="594804"/>
            <a:ext cx="8554457" cy="5447233"/>
          </a:xfrm>
          <a:prstGeom prst="rect">
            <a:avLst/>
          </a:prstGeom>
        </p:spPr>
      </p:pic>
    </p:spTree>
    <p:extLst>
      <p:ext uri="{BB962C8B-B14F-4D97-AF65-F5344CB8AC3E}">
        <p14:creationId xmlns:p14="http://schemas.microsoft.com/office/powerpoint/2010/main" val="42219443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54B4F-814D-854F-A1D6-36244817F79C}"/>
              </a:ext>
            </a:extLst>
          </p:cNvPr>
          <p:cNvSpPr>
            <a:spLocks noGrp="1"/>
          </p:cNvSpPr>
          <p:nvPr>
            <p:ph type="title"/>
          </p:nvPr>
        </p:nvSpPr>
        <p:spPr>
          <a:xfrm>
            <a:off x="411480" y="347472"/>
            <a:ext cx="11074576" cy="461665"/>
          </a:xfrm>
        </p:spPr>
        <p:txBody>
          <a:bodyPr/>
          <a:lstStyle/>
          <a:p>
            <a:r>
              <a:rPr lang="en-US" dirty="0">
                <a:solidFill>
                  <a:schemeClr val="accent5">
                    <a:lumMod val="75000"/>
                  </a:schemeClr>
                </a:solidFill>
              </a:rPr>
              <a:t>Discussion questions</a:t>
            </a:r>
          </a:p>
        </p:txBody>
      </p:sp>
      <p:sp>
        <p:nvSpPr>
          <p:cNvPr id="5" name="Content Placeholder 2"/>
          <p:cNvSpPr txBox="1">
            <a:spLocks/>
          </p:cNvSpPr>
          <p:nvPr/>
        </p:nvSpPr>
        <p:spPr bwMode="auto">
          <a:xfrm>
            <a:off x="607997" y="1114750"/>
            <a:ext cx="11071946" cy="366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7648" rIns="0" bIns="97648" numCol="1" anchor="t" anchorCtr="0" compatLnSpc="1">
            <a:prstTxWarp prst="textNoShape">
              <a:avLst/>
            </a:prstTxWarp>
            <a:spAutoFit/>
          </a:bodyPr>
          <a:lstStyle>
            <a:lvl1pPr marL="242888" indent="-242888" algn="l" defTabSz="901700" rtl="0" eaLnBrk="0" fontAlgn="base" hangingPunct="0">
              <a:spcBef>
                <a:spcPts val="400"/>
              </a:spcBef>
              <a:spcAft>
                <a:spcPts val="200"/>
              </a:spcAft>
              <a:buClr>
                <a:schemeClr val="tx2"/>
              </a:buClr>
              <a:buSzPct val="120000"/>
              <a:buFont typeface="Lucida Grande" panose="020B0600040502020204" pitchFamily="34" charset="0"/>
              <a:buChar char="‣"/>
              <a:defRPr sz="2000" b="0" kern="1200">
                <a:solidFill>
                  <a:schemeClr val="tx1"/>
                </a:solidFill>
                <a:latin typeface="+mn-lt"/>
                <a:ea typeface="+mn-ea"/>
                <a:cs typeface="+mn-cs"/>
              </a:defRPr>
            </a:lvl1pPr>
            <a:lvl2pPr marL="660400" indent="-303213" algn="l" defTabSz="901700" rtl="0" eaLnBrk="0" fontAlgn="base" hangingPunct="0">
              <a:spcBef>
                <a:spcPts val="200"/>
              </a:spcBef>
              <a:spcAft>
                <a:spcPts val="200"/>
              </a:spcAft>
              <a:buClr>
                <a:schemeClr val="tx1"/>
              </a:buClr>
              <a:buSzPct val="110000"/>
              <a:buFont typeface="Arial" panose="020B0604020202020204" pitchFamily="34" charset="0"/>
              <a:buChar char="•"/>
              <a:defRPr kern="1200">
                <a:solidFill>
                  <a:schemeClr val="bg1">
                    <a:lumMod val="50000"/>
                  </a:schemeClr>
                </a:solidFill>
                <a:latin typeface="+mn-lt"/>
                <a:ea typeface="+mn-ea"/>
                <a:cs typeface="+mn-cs"/>
              </a:defRPr>
            </a:lvl2pPr>
            <a:lvl3pPr marL="1077913" indent="-303213" algn="l" defTabSz="901700" rtl="0" eaLnBrk="0" fontAlgn="base" hangingPunct="0">
              <a:spcBef>
                <a:spcPts val="200"/>
              </a:spcBef>
              <a:spcAft>
                <a:spcPts val="200"/>
              </a:spcAft>
              <a:buClr>
                <a:schemeClr val="accent1"/>
              </a:buClr>
              <a:buFont typeface="Arial" panose="020B0604020202020204" pitchFamily="34" charset="0"/>
              <a:buChar char="–"/>
              <a:defRPr sz="1600" b="0" kern="1200">
                <a:solidFill>
                  <a:schemeClr val="bg1">
                    <a:lumMod val="50000"/>
                  </a:schemeClr>
                </a:solidFill>
                <a:latin typeface="+mn-lt"/>
                <a:ea typeface="+mn-ea"/>
                <a:cs typeface="+mn-cs"/>
              </a:defRPr>
            </a:lvl3pPr>
            <a:lvl4pPr marL="1438275" indent="-246063" algn="l" defTabSz="901700" rtl="0" eaLnBrk="0" fontAlgn="base" hangingPunct="0">
              <a:spcBef>
                <a:spcPts val="200"/>
              </a:spcBef>
              <a:spcAft>
                <a:spcPts val="200"/>
              </a:spcAft>
              <a:buClr>
                <a:schemeClr val="tx2"/>
              </a:buClr>
              <a:buFont typeface="Arial" panose="020B0604020202020204" pitchFamily="34" charset="0"/>
              <a:buChar char="•"/>
              <a:defRPr sz="1600" kern="1200">
                <a:solidFill>
                  <a:schemeClr val="bg1">
                    <a:lumMod val="50000"/>
                  </a:schemeClr>
                </a:solidFill>
                <a:latin typeface="+mn-lt"/>
                <a:ea typeface="+mn-ea"/>
                <a:cs typeface="+mn-cs"/>
              </a:defRPr>
            </a:lvl4pPr>
            <a:lvl5pPr marL="1795463" indent="-242888" algn="l" defTabSz="901700" rtl="0" eaLnBrk="0" fontAlgn="base" hangingPunct="0">
              <a:spcBef>
                <a:spcPts val="200"/>
              </a:spcBef>
              <a:spcAft>
                <a:spcPts val="200"/>
              </a:spcAft>
              <a:buClr>
                <a:schemeClr val="tx2"/>
              </a:buClr>
              <a:buFont typeface="Franklin Gothic Book" panose="020B0503020102020204"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would it look like to perform a local gamma analysis (as opposed to the usual global).</a:t>
            </a:r>
          </a:p>
          <a:p>
            <a:pPr lvl="1"/>
            <a:r>
              <a:rPr lang="en-US" sz="1800" dirty="0"/>
              <a:t>In target region?</a:t>
            </a:r>
          </a:p>
          <a:p>
            <a:pPr lvl="1"/>
            <a:r>
              <a:rPr lang="en-US" sz="1800" dirty="0"/>
              <a:t>In OARs?</a:t>
            </a:r>
          </a:p>
          <a:p>
            <a:pPr lvl="1"/>
            <a:r>
              <a:rPr lang="en-US" sz="1800" dirty="0"/>
              <a:t>In high gradient regions?</a:t>
            </a:r>
          </a:p>
          <a:p>
            <a:pPr lvl="1"/>
            <a:endParaRPr lang="en-US" sz="1800" dirty="0"/>
          </a:p>
          <a:p>
            <a:r>
              <a:rPr lang="en-US" dirty="0"/>
              <a:t>Why at Penn do we choose to perform gamma analysis for portal dosimetry, but DTA for </a:t>
            </a:r>
            <a:r>
              <a:rPr lang="en-US" dirty="0" err="1"/>
              <a:t>ArcCheck</a:t>
            </a:r>
            <a:r>
              <a:rPr lang="en-US" dirty="0"/>
              <a:t>?</a:t>
            </a:r>
          </a:p>
          <a:p>
            <a:endParaRPr lang="en-US" dirty="0"/>
          </a:p>
          <a:p>
            <a:r>
              <a:rPr lang="en-US" dirty="0"/>
              <a:t>What are the benefits/limitations of using a 3D dose reconstruction algorithm for IMRT QA?</a:t>
            </a:r>
          </a:p>
          <a:p>
            <a:endParaRPr lang="en-US" dirty="0"/>
          </a:p>
        </p:txBody>
      </p:sp>
    </p:spTree>
    <p:extLst>
      <p:ext uri="{BB962C8B-B14F-4D97-AF65-F5344CB8AC3E}">
        <p14:creationId xmlns:p14="http://schemas.microsoft.com/office/powerpoint/2010/main" val="881038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3444507"/>
      </p:ext>
    </p:extLst>
  </p:cSld>
  <p:clrMapOvr>
    <a:masterClrMapping/>
  </p:clrMapOvr>
</p:sld>
</file>

<file path=ppt/theme/theme1.xml><?xml version="1.0" encoding="utf-8"?>
<a:theme xmlns:a="http://schemas.openxmlformats.org/drawingml/2006/main" name="Penn Medicine Template 2009">
  <a:themeElements>
    <a:clrScheme name="Penn 2018 Color Palette">
      <a:dk1>
        <a:srgbClr val="002243"/>
      </a:dk1>
      <a:lt1>
        <a:srgbClr val="FFFFFF"/>
      </a:lt1>
      <a:dk2>
        <a:srgbClr val="800000"/>
      </a:dk2>
      <a:lt2>
        <a:srgbClr val="B4B5B4"/>
      </a:lt2>
      <a:accent1>
        <a:srgbClr val="326B8B"/>
      </a:accent1>
      <a:accent2>
        <a:srgbClr val="64A4D6"/>
      </a:accent2>
      <a:accent3>
        <a:srgbClr val="022D75"/>
      </a:accent3>
      <a:accent4>
        <a:srgbClr val="C4CE41"/>
      </a:accent4>
      <a:accent5>
        <a:srgbClr val="D75539"/>
      </a:accent5>
      <a:accent6>
        <a:srgbClr val="F7BA01"/>
      </a:accent6>
      <a:hlink>
        <a:srgbClr val="022D75"/>
      </a:hlink>
      <a:folHlink>
        <a:srgbClr val="7F0D00"/>
      </a:folHlink>
    </a:clrScheme>
    <a:fontScheme name="Penn Medicine Template 20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400" b="0" i="0" u="none" strike="noStrike" cap="none" normalizeH="0" baseline="0" smtClean="0">
            <a:ln>
              <a:noFill/>
            </a:ln>
            <a:solidFill>
              <a:schemeClr val="tx2"/>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400" b="0" i="0" u="none" strike="noStrike" cap="none" normalizeH="0" baseline="0" smtClean="0">
            <a:ln>
              <a:noFill/>
            </a:ln>
            <a:solidFill>
              <a:schemeClr val="tx2"/>
            </a:solidFill>
            <a:effectLst/>
            <a:latin typeface="Arial" panose="020B0604020202020204" pitchFamily="34" charset="0"/>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b" anchorCtr="0" compatLnSpc="1">
        <a:prstTxWarp prst="textNoShape">
          <a:avLst/>
        </a:prstTxWarp>
        <a:spAutoFit/>
      </a:bodyPr>
      <a:lstStyle>
        <a:defPPr algn="l">
          <a:defRPr sz="1400" b="1" dirty="0" smtClean="0">
            <a:solidFill>
              <a:schemeClr val="bg1">
                <a:lumMod val="50000"/>
              </a:schemeClr>
            </a:solidFill>
          </a:defRPr>
        </a:defPPr>
      </a:lstStyle>
    </a:txDef>
  </a:objectDefaults>
  <a:extraClrSchemeLst>
    <a:extraClrScheme>
      <a:clrScheme name="Penn Medicine Template 2009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enn Medicine Template 2009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Penn Medicine Template 2009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enn Medicine Template 2009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enn Medicine Template 2009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enn Medicine Template 2009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Penn Medicine Template 2009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Penn Medicine Template 2009 8">
        <a:dk1>
          <a:srgbClr val="4A85FA"/>
        </a:dk1>
        <a:lt1>
          <a:srgbClr val="FFFFFF"/>
        </a:lt1>
        <a:dk2>
          <a:srgbClr val="001D3A"/>
        </a:dk2>
        <a:lt2>
          <a:srgbClr val="003366"/>
        </a:lt2>
        <a:accent1>
          <a:srgbClr val="A66E5A"/>
        </a:accent1>
        <a:accent2>
          <a:srgbClr val="BA003E"/>
        </a:accent2>
        <a:accent3>
          <a:srgbClr val="AAABAE"/>
        </a:accent3>
        <a:accent4>
          <a:srgbClr val="DADADA"/>
        </a:accent4>
        <a:accent5>
          <a:srgbClr val="D0BAB5"/>
        </a:accent5>
        <a:accent6>
          <a:srgbClr val="A80037"/>
        </a:accent6>
        <a:hlink>
          <a:srgbClr val="666633"/>
        </a:hlink>
        <a:folHlink>
          <a:srgbClr val="FEC420"/>
        </a:folHlink>
      </a:clrScheme>
      <a:clrMap bg1="dk2" tx1="lt1" bg2="dk1" tx2="lt2" accent1="accent1" accent2="accent2" accent3="accent3" accent4="accent4" accent5="accent5" accent6="accent6" hlink="hlink" folHlink="folHlink"/>
    </a:extraClrScheme>
    <a:extraClrScheme>
      <a:clrScheme name="Penn Medicine Template 2009 9">
        <a:dk1>
          <a:srgbClr val="000000"/>
        </a:dk1>
        <a:lt1>
          <a:srgbClr val="FFFFFF"/>
        </a:lt1>
        <a:dk2>
          <a:srgbClr val="A20000"/>
        </a:dk2>
        <a:lt2>
          <a:srgbClr val="C0C0C0"/>
        </a:lt2>
        <a:accent1>
          <a:srgbClr val="0099E6"/>
        </a:accent1>
        <a:accent2>
          <a:srgbClr val="F6C700"/>
        </a:accent2>
        <a:accent3>
          <a:srgbClr val="FFFFFF"/>
        </a:accent3>
        <a:accent4>
          <a:srgbClr val="000000"/>
        </a:accent4>
        <a:accent5>
          <a:srgbClr val="AACAF0"/>
        </a:accent5>
        <a:accent6>
          <a:srgbClr val="DFB400"/>
        </a:accent6>
        <a:hlink>
          <a:srgbClr val="003399"/>
        </a:hlink>
        <a:folHlink>
          <a:srgbClr val="6600CC"/>
        </a:folHlink>
      </a:clrScheme>
      <a:clrMap bg1="lt1" tx1="dk1" bg2="lt2" tx2="dk2" accent1="accent1" accent2="accent2" accent3="accent3" accent4="accent4" accent5="accent5" accent6="accent6" hlink="hlink" folHlink="folHlink"/>
    </a:extraClrScheme>
    <a:extraClrScheme>
      <a:clrScheme name="Penn Medicine Template 2009 10">
        <a:dk1>
          <a:srgbClr val="000000"/>
        </a:dk1>
        <a:lt1>
          <a:srgbClr val="FFFFFF"/>
        </a:lt1>
        <a:dk2>
          <a:srgbClr val="800000"/>
        </a:dk2>
        <a:lt2>
          <a:srgbClr val="C0C0C0"/>
        </a:lt2>
        <a:accent1>
          <a:srgbClr val="0099E6"/>
        </a:accent1>
        <a:accent2>
          <a:srgbClr val="F6C700"/>
        </a:accent2>
        <a:accent3>
          <a:srgbClr val="FFFFFF"/>
        </a:accent3>
        <a:accent4>
          <a:srgbClr val="000000"/>
        </a:accent4>
        <a:accent5>
          <a:srgbClr val="AACAF0"/>
        </a:accent5>
        <a:accent6>
          <a:srgbClr val="DFB400"/>
        </a:accent6>
        <a:hlink>
          <a:srgbClr val="003399"/>
        </a:hlink>
        <a:folHlink>
          <a:srgbClr val="6600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TotalTime>
  <Words>4467</Words>
  <Application>Microsoft Office PowerPoint</Application>
  <PresentationFormat>Widescreen</PresentationFormat>
  <Paragraphs>556</Paragraphs>
  <Slides>57</Slides>
  <Notes>41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57</vt:i4>
      </vt:variant>
    </vt:vector>
  </HeadingPairs>
  <TitlesOfParts>
    <vt:vector size="70" baseType="lpstr">
      <vt:lpstr>MS PGothic</vt:lpstr>
      <vt:lpstr>AdvPSMP13</vt:lpstr>
      <vt:lpstr>AdvTTa966caec</vt:lpstr>
      <vt:lpstr>AdvTTe0f01e5b.I</vt:lpstr>
      <vt:lpstr>AdvTTec369687+20</vt:lpstr>
      <vt:lpstr>Arial</vt:lpstr>
      <vt:lpstr>Cambria Math</vt:lpstr>
      <vt:lpstr>Franklin Gothic Book</vt:lpstr>
      <vt:lpstr>Lucida Grande</vt:lpstr>
      <vt:lpstr>Lucida Grande,Sans-Serif</vt:lpstr>
      <vt:lpstr>Segoe UI</vt:lpstr>
      <vt:lpstr>Times New Roman</vt:lpstr>
      <vt:lpstr>Penn Medicine Template 2009</vt:lpstr>
      <vt:lpstr>TG 218: Tolerance limits and methodologies for IMRT measurement-based verification QA</vt:lpstr>
      <vt:lpstr>History of IMRT</vt:lpstr>
      <vt:lpstr>Purpose of patient-specific IMRT verification QA</vt:lpstr>
      <vt:lpstr>Topics of TG 218: Review the different ways to perform IMRT QA</vt:lpstr>
      <vt:lpstr>IMRT QA - What are we analyzing?</vt:lpstr>
      <vt:lpstr>The dose difference test</vt:lpstr>
      <vt:lpstr>Dose to agreement (DTA)</vt:lpstr>
      <vt:lpstr>Composite test</vt:lpstr>
      <vt:lpstr>The γ (gamma) test</vt:lpstr>
      <vt:lpstr>The γ (gamma) test – visual representation </vt:lpstr>
      <vt:lpstr>Question for the audience:</vt:lpstr>
      <vt:lpstr>Question for the audience:</vt:lpstr>
      <vt:lpstr>Example Gamma Index Values and their relation to DTA/DD</vt:lpstr>
      <vt:lpstr>The gamma test under different dose gradient conditions</vt:lpstr>
      <vt:lpstr>Gamma – Strengths and Weaknesses</vt:lpstr>
      <vt:lpstr>Dose difference vs gamma</vt:lpstr>
      <vt:lpstr>Dose difference vs gamma</vt:lpstr>
      <vt:lpstr>Calculation parameters to consider…</vt:lpstr>
      <vt:lpstr>PowerPoint Presentation</vt:lpstr>
      <vt:lpstr>PowerPoint Presentation</vt:lpstr>
      <vt:lpstr>PowerPoint Presentation</vt:lpstr>
      <vt:lpstr>Spatial resolution</vt:lpstr>
      <vt:lpstr>Interpretation</vt:lpstr>
      <vt:lpstr>IMRT QA Delivery Techniques</vt:lpstr>
      <vt:lpstr>Perpendicular composite </vt:lpstr>
      <vt:lpstr>Perpendicular field by field (PFF)</vt:lpstr>
      <vt:lpstr>True composite (TC)</vt:lpstr>
      <vt:lpstr>Absolute dose verification</vt:lpstr>
      <vt:lpstr>Suggestions for IMRT QA for fixed gantry and rotational</vt:lpstr>
      <vt:lpstr>Suggestions for IMRT QA for fixed gantry and rotational</vt:lpstr>
      <vt:lpstr>Actions for failed or marginal QA results</vt:lpstr>
      <vt:lpstr>Actions for failed or marginal QA results</vt:lpstr>
      <vt:lpstr>Actions for failed or marginal QA results</vt:lpstr>
      <vt:lpstr>Actions for failed or marginal QA results</vt:lpstr>
      <vt:lpstr>PowerPoint Presentation</vt:lpstr>
      <vt:lpstr>EXTRA SLIDES  Reported IMRT Measured vs. Calculated Methods Agreement  Vendor Survey and Algorithm Testing  Process Based Tolerance and Action Limits    </vt:lpstr>
      <vt:lpstr>Reported IMRT Measurement Methods</vt:lpstr>
      <vt:lpstr>PowerPoint Presentation</vt:lpstr>
      <vt:lpstr>PowerPoint Presentation</vt:lpstr>
      <vt:lpstr>PowerPoint Presentation</vt:lpstr>
      <vt:lpstr>PowerPoint Presentation</vt:lpstr>
      <vt:lpstr>Considerations when using the Gamma test passing rates for evaluation</vt:lpstr>
      <vt:lpstr>Considerations when using the Gamma test passing rates for evaluation</vt:lpstr>
      <vt:lpstr>Vendor Survey and Algorithm Testing</vt:lpstr>
      <vt:lpstr>Vendor Survey and Algorithm Testing</vt:lpstr>
      <vt:lpstr>Testing of vendor algorithms</vt:lpstr>
      <vt:lpstr>Testing of vendor algorithms</vt:lpstr>
      <vt:lpstr>Testing of vendor algorithms</vt:lpstr>
      <vt:lpstr>Testing of vendor algorithms</vt:lpstr>
      <vt:lpstr>Testing of vendor algorithms</vt:lpstr>
      <vt:lpstr>Testing of vendor algorithms</vt:lpstr>
      <vt:lpstr>Process Based Tolerance and Action Limits</vt:lpstr>
      <vt:lpstr>Examples of Process Based Tolerance and Action Limits</vt:lpstr>
      <vt:lpstr>Recommendations</vt:lpstr>
      <vt:lpstr>Passing rates for given tolerances and corresponding action limits </vt:lpstr>
      <vt:lpstr>Discussion questions</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subject>
  <dc:creator>PWheeler</dc:creator>
  <cp:keywords/>
  <dc:description/>
  <cp:lastModifiedBy>Alexander, Daniel</cp:lastModifiedBy>
  <cp:revision>40</cp:revision>
  <cp:lastPrinted>2003-06-10T14:31:25Z</cp:lastPrinted>
  <dcterms:created xsi:type="dcterms:W3CDTF">2006-02-16T01:55:53Z</dcterms:created>
  <dcterms:modified xsi:type="dcterms:W3CDTF">2023-07-21T15:05:01Z</dcterms:modified>
</cp:coreProperties>
</file>