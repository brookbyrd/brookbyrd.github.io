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57" r:id="rId5"/>
    <p:sldId id="259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86253" autoAdjust="0"/>
  </p:normalViewPr>
  <p:slideViewPr>
    <p:cSldViewPr snapToGrid="0">
      <p:cViewPr varScale="1">
        <p:scale>
          <a:sx n="93" d="100"/>
          <a:sy n="93" d="100"/>
        </p:scale>
        <p:origin x="4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6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9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6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9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60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4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82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5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0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3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80DEB-AF5E-4027-BDF8-57FD17B24DF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49A4C-B99D-4D6F-99C6-0226C7AB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50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Electron Quiz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5</a:t>
            </a:r>
          </a:p>
        </p:txBody>
      </p:sp>
    </p:spTree>
    <p:extLst>
      <p:ext uri="{BB962C8B-B14F-4D97-AF65-F5344CB8AC3E}">
        <p14:creationId xmlns:p14="http://schemas.microsoft.com/office/powerpoint/2010/main" val="1632700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618383" cy="4351338"/>
          </a:xfrm>
        </p:spPr>
        <p:txBody>
          <a:bodyPr/>
          <a:lstStyle/>
          <a:p>
            <a:r>
              <a:rPr lang="en-US" dirty="0"/>
              <a:t>Define missing terms.</a:t>
            </a:r>
          </a:p>
          <a:p>
            <a:r>
              <a:rPr lang="en-US" dirty="0"/>
              <a:t>What are their rules of thumb, as related to energy?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792" y="1222512"/>
            <a:ext cx="6224700" cy="46239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515" y="5258982"/>
            <a:ext cx="369254" cy="2560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0788" y="5258982"/>
            <a:ext cx="369254" cy="2560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392478" y="1898374"/>
            <a:ext cx="1510748" cy="1192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9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618383" cy="4351338"/>
          </a:xfrm>
        </p:spPr>
        <p:txBody>
          <a:bodyPr/>
          <a:lstStyle/>
          <a:p>
            <a:r>
              <a:rPr lang="en-US" dirty="0"/>
              <a:t>Define missing terms.</a:t>
            </a:r>
          </a:p>
          <a:p>
            <a:r>
              <a:rPr lang="en-US" dirty="0"/>
              <a:t>What are their rules of thumb, as related to energy?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792" y="1222512"/>
            <a:ext cx="6224700" cy="46239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392478" y="1898374"/>
            <a:ext cx="1510748" cy="1192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26921" y="353446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dirty="0">
                <a:solidFill>
                  <a:srgbClr val="0000FF"/>
                </a:solidFill>
              </a:rPr>
              <a:t>R</a:t>
            </a:r>
            <a:r>
              <a:rPr lang="en-US" baseline="-25000" dirty="0">
                <a:solidFill>
                  <a:srgbClr val="0000FF"/>
                </a:solidFill>
              </a:rPr>
              <a:t>90</a:t>
            </a:r>
            <a:r>
              <a:rPr lang="en-US" dirty="0">
                <a:solidFill>
                  <a:srgbClr val="0000FF"/>
                </a:solidFill>
              </a:rPr>
              <a:t>(cm)=E/4 (=E/3.2)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>
                <a:solidFill>
                  <a:srgbClr val="0000FF"/>
                </a:solidFill>
              </a:rPr>
              <a:t>R</a:t>
            </a:r>
            <a:r>
              <a:rPr lang="en-US" baseline="-25000" dirty="0">
                <a:solidFill>
                  <a:srgbClr val="0000FF"/>
                </a:solidFill>
              </a:rPr>
              <a:t>80</a:t>
            </a:r>
            <a:r>
              <a:rPr lang="en-US" dirty="0">
                <a:solidFill>
                  <a:srgbClr val="0000FF"/>
                </a:solidFill>
              </a:rPr>
              <a:t>(cm)=E/3 (=E/2.8)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>
                <a:solidFill>
                  <a:srgbClr val="0000FF"/>
                </a:solidFill>
              </a:rPr>
              <a:t>R</a:t>
            </a:r>
            <a:r>
              <a:rPr lang="en-US" baseline="-25000" dirty="0">
                <a:solidFill>
                  <a:srgbClr val="0000FF"/>
                </a:solidFill>
              </a:rPr>
              <a:t>P</a:t>
            </a:r>
            <a:r>
              <a:rPr lang="en-US" dirty="0">
                <a:solidFill>
                  <a:srgbClr val="0000FF"/>
                </a:solidFill>
              </a:rPr>
              <a:t>(cm)=E/2 </a:t>
            </a:r>
          </a:p>
        </p:txBody>
      </p:sp>
    </p:spTree>
    <p:extLst>
      <p:ext uri="{BB962C8B-B14F-4D97-AF65-F5344CB8AC3E}">
        <p14:creationId xmlns:p14="http://schemas.microsoft.com/office/powerpoint/2010/main" val="234108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84304" cy="4351338"/>
          </a:xfrm>
        </p:spPr>
        <p:txBody>
          <a:bodyPr/>
          <a:lstStyle/>
          <a:p>
            <a:r>
              <a:rPr lang="en-US" dirty="0"/>
              <a:t>What is the difference between A and B?</a:t>
            </a:r>
          </a:p>
          <a:p>
            <a:r>
              <a:rPr lang="en-US" dirty="0"/>
              <a:t>What is the energy of this beam?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25802"/>
          <a:stretch/>
        </p:blipFill>
        <p:spPr>
          <a:xfrm>
            <a:off x="6342794" y="615452"/>
            <a:ext cx="5072312" cy="41752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90446" y="3597965"/>
            <a:ext cx="815008" cy="506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9206942" y="3597965"/>
            <a:ext cx="815008" cy="506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8497950" y="615452"/>
            <a:ext cx="1099929" cy="246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</p:spTree>
    <p:extLst>
      <p:ext uri="{BB962C8B-B14F-4D97-AF65-F5344CB8AC3E}">
        <p14:creationId xmlns:p14="http://schemas.microsoft.com/office/powerpoint/2010/main" val="3566125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/>
          <a:lstStyle/>
          <a:p>
            <a:r>
              <a:rPr lang="en-US" dirty="0"/>
              <a:t>You are treating a 1 cm thick lesion in the lip.  You have 0.5 cm of bolus.  You have a 6 MeV beam.</a:t>
            </a:r>
          </a:p>
          <a:p>
            <a:r>
              <a:rPr lang="en-US" dirty="0"/>
              <a:t>How much energy will be left after the lesion?</a:t>
            </a:r>
          </a:p>
          <a:p>
            <a:r>
              <a:rPr lang="en-US" dirty="0"/>
              <a:t>What could you do for OAR sparing? </a:t>
            </a:r>
          </a:p>
        </p:txBody>
      </p:sp>
    </p:spTree>
    <p:extLst>
      <p:ext uri="{BB962C8B-B14F-4D97-AF65-F5344CB8AC3E}">
        <p14:creationId xmlns:p14="http://schemas.microsoft.com/office/powerpoint/2010/main" val="611518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/>
          <a:lstStyle/>
          <a:p>
            <a:r>
              <a:rPr lang="en-US" dirty="0"/>
              <a:t>You are treating a 1 cm thick lesion in the lip.  You have 0.5 cm of bolus.  You have a 6 MeV beam.</a:t>
            </a:r>
          </a:p>
          <a:p>
            <a:r>
              <a:rPr lang="en-US" dirty="0"/>
              <a:t>How much energy will be left after the lesion?</a:t>
            </a:r>
          </a:p>
          <a:p>
            <a:r>
              <a:rPr lang="en-US" dirty="0"/>
              <a:t>What could you do for OAR sparing?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8952" y="2412271"/>
            <a:ext cx="20573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RULE OF THUMB: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Blocking thickness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baseline="-25000" dirty="0" err="1">
                <a:solidFill>
                  <a:schemeClr val="accent1">
                    <a:lumMod val="75000"/>
                  </a:schemeClr>
                </a:solidFill>
              </a:rPr>
              <a:t>PB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=E/2+1 mm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baseline="-25000" dirty="0" err="1">
                <a:solidFill>
                  <a:schemeClr val="accent1">
                    <a:lumMod val="75000"/>
                  </a:schemeClr>
                </a:solidFill>
              </a:rPr>
              <a:t>cerr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baseline="-25000" dirty="0" err="1">
                <a:solidFill>
                  <a:schemeClr val="accent1">
                    <a:lumMod val="75000"/>
                  </a:schemeClr>
                </a:solidFill>
              </a:rPr>
              <a:t>PB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(1+20%) mm</a:t>
            </a:r>
          </a:p>
        </p:txBody>
      </p:sp>
    </p:spTree>
    <p:extLst>
      <p:ext uri="{BB962C8B-B14F-4D97-AF65-F5344CB8AC3E}">
        <p14:creationId xmlns:p14="http://schemas.microsoft.com/office/powerpoint/2010/main" val="14313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difference between A, B, C?</a:t>
            </a:r>
          </a:p>
          <a:p>
            <a:endParaRPr lang="en-US" dirty="0"/>
          </a:p>
          <a:p>
            <a:r>
              <a:rPr lang="en-US" dirty="0"/>
              <a:t>Which setup would we use clinically?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235" t="11245" r="52094" b="13382"/>
          <a:stretch/>
        </p:blipFill>
        <p:spPr>
          <a:xfrm>
            <a:off x="7747233" y="199597"/>
            <a:ext cx="3682767" cy="61508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2767" y="128279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2767" y="297949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1142" y="496069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9113386" y="381903"/>
            <a:ext cx="1099929" cy="246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18635" y="2231472"/>
            <a:ext cx="894680" cy="176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318635" y="4001294"/>
            <a:ext cx="894680" cy="176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750578" cy="4351338"/>
          </a:xfrm>
        </p:spPr>
        <p:txBody>
          <a:bodyPr/>
          <a:lstStyle/>
          <a:p>
            <a:r>
              <a:rPr lang="en-US" dirty="0"/>
              <a:t>What treatment site may you see this beam arrangement?</a:t>
            </a:r>
          </a:p>
          <a:p>
            <a:r>
              <a:rPr lang="en-US" dirty="0"/>
              <a:t>Describe the reason for the hot spot location.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8645" b="51245"/>
          <a:stretch/>
        </p:blipFill>
        <p:spPr>
          <a:xfrm>
            <a:off x="5268729" y="716220"/>
            <a:ext cx="6383579" cy="491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1885</TotalTime>
  <Words>240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Electron Quiz</vt:lpstr>
      <vt:lpstr>Q1</vt:lpstr>
      <vt:lpstr>Q1</vt:lpstr>
      <vt:lpstr>Q2</vt:lpstr>
      <vt:lpstr>Q3</vt:lpstr>
      <vt:lpstr>Q3</vt:lpstr>
      <vt:lpstr>Q4</vt:lpstr>
      <vt:lpstr>Q5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 Quiz</dc:title>
  <dc:creator>O'Reilly, Shannon</dc:creator>
  <cp:lastModifiedBy>Byrd, Brook</cp:lastModifiedBy>
  <cp:revision>10</cp:revision>
  <dcterms:created xsi:type="dcterms:W3CDTF">2019-08-29T14:36:58Z</dcterms:created>
  <dcterms:modified xsi:type="dcterms:W3CDTF">2024-10-17T16:19:44Z</dcterms:modified>
</cp:coreProperties>
</file>