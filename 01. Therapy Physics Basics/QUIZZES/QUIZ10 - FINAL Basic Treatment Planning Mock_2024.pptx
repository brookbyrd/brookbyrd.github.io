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49" autoAdjust="0"/>
    <p:restoredTop sz="84580" autoAdjust="0"/>
  </p:normalViewPr>
  <p:slideViewPr>
    <p:cSldViewPr snapToGrid="0">
      <p:cViewPr varScale="1">
        <p:scale>
          <a:sx n="104" d="100"/>
          <a:sy n="104" d="100"/>
        </p:scale>
        <p:origin x="6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18D77-F994-4CAC-9337-48E97BE268C7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B1481-4179-4C6D-869F-5B62D0A79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6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Irregular</a:t>
            </a:r>
            <a:r>
              <a:rPr lang="en-US" b="1" baseline="0" dirty="0"/>
              <a:t> surfaces, angle of incidence, likely small field, shielding behind nostril, how much shielding if you were to use lead, what would you put on the lead and why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B1481-4179-4C6D-869F-5B62D0A794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6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B1481-4179-4C6D-869F-5B62D0A794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88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Vendor differences?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B1481-4179-4C6D-869F-5B62D0A794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16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B1481-4179-4C6D-869F-5B62D0A794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02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B1481-4179-4C6D-869F-5B62D0A794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54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F4F5-DC49-4577-A8DC-EAB70D2B5DB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D6E9-D78F-487B-8292-5970B91EC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1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F4F5-DC49-4577-A8DC-EAB70D2B5DB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D6E9-D78F-487B-8292-5970B91EC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19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F4F5-DC49-4577-A8DC-EAB70D2B5DB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D6E9-D78F-487B-8292-5970B91EC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49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F4F5-DC49-4577-A8DC-EAB70D2B5DB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D6E9-D78F-487B-8292-5970B91EC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24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F4F5-DC49-4577-A8DC-EAB70D2B5DB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D6E9-D78F-487B-8292-5970B91EC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5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F4F5-DC49-4577-A8DC-EAB70D2B5DB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D6E9-D78F-487B-8292-5970B91EC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4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F4F5-DC49-4577-A8DC-EAB70D2B5DB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D6E9-D78F-487B-8292-5970B91EC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F4F5-DC49-4577-A8DC-EAB70D2B5DB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D6E9-D78F-487B-8292-5970B91EC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39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F4F5-DC49-4577-A8DC-EAB70D2B5DB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D6E9-D78F-487B-8292-5970B91EC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8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F4F5-DC49-4577-A8DC-EAB70D2B5DB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D6E9-D78F-487B-8292-5970B91EC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8F4F5-DC49-4577-A8DC-EAB70D2B5DB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0D6E9-D78F-487B-8292-5970B91EC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7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8F4F5-DC49-4577-A8DC-EAB70D2B5DB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0D6E9-D78F-487B-8292-5970B91EC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50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Treatment Planning Mock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8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 a 6 MeV and 15 MeV electron PDD.</a:t>
            </a:r>
          </a:p>
          <a:p>
            <a:r>
              <a:rPr lang="en-US" dirty="0"/>
              <a:t>You are treating a skin cancer on the nostril with a 6 MeV beam, what do you need to consider?</a:t>
            </a:r>
          </a:p>
          <a:p>
            <a:r>
              <a:rPr lang="en-US" dirty="0"/>
              <a:t>The lesion is 1 cm, and you are using 1 cm of bolus.  Is 6 MeV an appropriate energy?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730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6970"/>
            <a:ext cx="10515600" cy="46399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Draw the PDD for a 18 MV beam for the</a:t>
            </a:r>
            <a:br>
              <a:rPr lang="en-US" dirty="0"/>
            </a:br>
            <a:r>
              <a:rPr lang="en-US" dirty="0"/>
              <a:t>setup in the figure.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Explain the interactions taking </a:t>
            </a:r>
            <a:br>
              <a:rPr lang="en-US" dirty="0"/>
            </a:br>
            <a:r>
              <a:rPr lang="en-US" dirty="0"/>
              <a:t>place at ‘2’ and ‘3’.</a:t>
            </a:r>
            <a:br>
              <a:rPr lang="en-US" dirty="0"/>
            </a:br>
            <a:endParaRPr lang="en-US" dirty="0"/>
          </a:p>
          <a:p>
            <a:r>
              <a:rPr lang="en-US" dirty="0"/>
              <a:t>Draw the PDD if Co-Cr-Mo were replaced </a:t>
            </a:r>
            <a:br>
              <a:rPr lang="en-US" dirty="0"/>
            </a:br>
            <a:r>
              <a:rPr lang="en-US" dirty="0"/>
              <a:t>with lung tissue. </a:t>
            </a:r>
          </a:p>
          <a:p>
            <a:endParaRPr lang="en-US" dirty="0"/>
          </a:p>
          <a:p>
            <a:r>
              <a:rPr lang="en-US" dirty="0"/>
              <a:t>How does your treatment planning system </a:t>
            </a:r>
            <a:br>
              <a:rPr lang="en-US" dirty="0"/>
            </a:br>
            <a:r>
              <a:rPr lang="en-US" dirty="0"/>
              <a:t>handle heterogeneous interfaces?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47" y="1825625"/>
            <a:ext cx="4690152" cy="323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160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6247"/>
            <a:ext cx="10515600" cy="4351338"/>
          </a:xfrm>
        </p:spPr>
        <p:txBody>
          <a:bodyPr/>
          <a:lstStyle/>
          <a:p>
            <a:r>
              <a:rPr lang="en-US" dirty="0"/>
              <a:t>What variables are graphed in the following figure?  Explain the reason for their behavior? Explain how these variables are measured?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529" y="2470253"/>
            <a:ext cx="6331939" cy="39875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54576" y="3773930"/>
            <a:ext cx="226369" cy="13802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96686" y="2606090"/>
            <a:ext cx="1311127" cy="8364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92604" y="2612065"/>
            <a:ext cx="2949788" cy="4122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15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8520114" cy="4351338"/>
          </a:xfrm>
        </p:spPr>
        <p:txBody>
          <a:bodyPr>
            <a:normAutofit/>
          </a:bodyPr>
          <a:lstStyle/>
          <a:p>
            <a:r>
              <a:rPr lang="en-US" dirty="0"/>
              <a:t>What is the SAD setup MU </a:t>
            </a:r>
            <a:r>
              <a:rPr lang="en-US" dirty="0" err="1"/>
              <a:t>calc</a:t>
            </a:r>
            <a:r>
              <a:rPr lang="en-US" dirty="0"/>
              <a:t> formula for photons?  Explain the terms.</a:t>
            </a:r>
          </a:p>
          <a:p>
            <a:endParaRPr lang="en-US" dirty="0"/>
          </a:p>
          <a:p>
            <a:r>
              <a:rPr lang="en-US" dirty="0"/>
              <a:t>What is different for an electron MU </a:t>
            </a:r>
            <a:r>
              <a:rPr lang="en-US" dirty="0" err="1"/>
              <a:t>calc</a:t>
            </a:r>
            <a:r>
              <a:rPr lang="en-US" dirty="0"/>
              <a:t>?  How would you determine the electron output factor for a cutout with FS of 8 cm x 12 cm?</a:t>
            </a:r>
          </a:p>
          <a:p>
            <a:endParaRPr lang="en-US" dirty="0"/>
          </a:p>
          <a:p>
            <a:r>
              <a:rPr lang="en-US" dirty="0"/>
              <a:t>What task group would you reference for MU </a:t>
            </a:r>
            <a:r>
              <a:rPr lang="en-US" dirty="0" err="1"/>
              <a:t>calcs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274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383" y="1806170"/>
            <a:ext cx="10515600" cy="3223030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How do you treat a breast cancer with 3D planning technique 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Immobilization used &amp; simulation set up?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Usual Beam arrangement? Why? How does the beam arrangement change with nodal treatment volumes?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OARs you are concerned about and tolerances?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728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283</Words>
  <Application>Microsoft Office PowerPoint</Application>
  <PresentationFormat>Widescreen</PresentationFormat>
  <Paragraphs>31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Basic Treatment Planning Mock</vt:lpstr>
      <vt:lpstr>Q1</vt:lpstr>
      <vt:lpstr>Q2</vt:lpstr>
      <vt:lpstr>Q3</vt:lpstr>
      <vt:lpstr>Q4</vt:lpstr>
      <vt:lpstr>Q5</vt:lpstr>
    </vt:vector>
  </TitlesOfParts>
  <Company>Penn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Treatment Planning Mock</dc:title>
  <dc:creator>O'Reilly, Shannon</dc:creator>
  <cp:lastModifiedBy>O'Reilly, Shannon</cp:lastModifiedBy>
  <cp:revision>15</cp:revision>
  <dcterms:created xsi:type="dcterms:W3CDTF">2019-09-20T19:50:07Z</dcterms:created>
  <dcterms:modified xsi:type="dcterms:W3CDTF">2024-10-08T18:37:51Z</dcterms:modified>
</cp:coreProperties>
</file>