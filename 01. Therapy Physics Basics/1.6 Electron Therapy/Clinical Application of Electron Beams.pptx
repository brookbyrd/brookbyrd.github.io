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97" r:id="rId4"/>
    <p:sldId id="260" r:id="rId5"/>
    <p:sldId id="298" r:id="rId6"/>
    <p:sldId id="264" r:id="rId7"/>
    <p:sldId id="266" r:id="rId8"/>
    <p:sldId id="269" r:id="rId9"/>
    <p:sldId id="275" r:id="rId10"/>
    <p:sldId id="278" r:id="rId11"/>
    <p:sldId id="280" r:id="rId12"/>
    <p:sldId id="285" r:id="rId13"/>
    <p:sldId id="281" r:id="rId14"/>
    <p:sldId id="282" r:id="rId15"/>
    <p:sldId id="286" r:id="rId16"/>
    <p:sldId id="287" r:id="rId17"/>
    <p:sldId id="284" r:id="rId18"/>
    <p:sldId id="288" r:id="rId19"/>
    <p:sldId id="292" r:id="rId20"/>
    <p:sldId id="294" r:id="rId21"/>
    <p:sldId id="295" r:id="rId22"/>
    <p:sldId id="299" r:id="rId23"/>
    <p:sldId id="29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60"/>
  </p:normalViewPr>
  <p:slideViewPr>
    <p:cSldViewPr>
      <p:cViewPr>
        <p:scale>
          <a:sx n="125" d="100"/>
          <a:sy n="125" d="100"/>
        </p:scale>
        <p:origin x="-630" y="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165531F5-F8CE-4EF1-8C8A-6A00896555C9}" type="datetimeFigureOut">
              <a:rPr lang="en-US" smtClean="0"/>
              <a:t>9/5/2018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816295">
            <a:off x="3343816" y="3015126"/>
            <a:ext cx="4847038" cy="1955511"/>
          </a:xfrm>
        </p:spPr>
        <p:txBody>
          <a:bodyPr/>
          <a:lstStyle/>
          <a:p>
            <a:r>
              <a:rPr lang="en-US" sz="4000" b="1" dirty="0" smtClean="0"/>
              <a:t>Clinical application of </a:t>
            </a:r>
            <a:br>
              <a:rPr lang="en-US" sz="4000" b="1" dirty="0" smtClean="0"/>
            </a:br>
            <a:r>
              <a:rPr lang="en-US" sz="4000" b="1" dirty="0" smtClean="0"/>
              <a:t>Electron beams:  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174945" y="5254524"/>
            <a:ext cx="4836456" cy="551897"/>
          </a:xfrm>
        </p:spPr>
        <p:txBody>
          <a:bodyPr/>
          <a:lstStyle/>
          <a:p>
            <a:r>
              <a:rPr lang="en-US" b="1" dirty="0" smtClean="0"/>
              <a:t>Shibu Anamalayil, 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235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87437"/>
          </a:xfrm>
        </p:spPr>
        <p:txBody>
          <a:bodyPr/>
          <a:lstStyle/>
          <a:p>
            <a:r>
              <a:rPr lang="en-US" b="1" dirty="0" smtClean="0"/>
              <a:t>% Depth Dose</a:t>
            </a:r>
            <a:endParaRPr lang="en-US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42" y="1752600"/>
            <a:ext cx="43815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041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Depth Dose energy Dependence</a:t>
            </a:r>
            <a:br>
              <a:rPr lang="en-US" sz="4000" b="1" dirty="0" smtClean="0"/>
            </a:br>
            <a:r>
              <a:rPr lang="en-US" sz="4000" b="1" dirty="0" smtClean="0"/>
              <a:t>(6-20MeV)</a:t>
            </a:r>
            <a:endParaRPr lang="en-US" sz="4000" b="1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6015" y="2362200"/>
            <a:ext cx="3017385" cy="362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965448" cy="3950208"/>
          </a:xfrm>
        </p:spPr>
        <p:txBody>
          <a:bodyPr>
            <a:normAutofit/>
          </a:bodyPr>
          <a:lstStyle/>
          <a:p>
            <a:r>
              <a:rPr lang="en-US" b="1" dirty="0" smtClean="0"/>
              <a:t>As energy increases</a:t>
            </a:r>
          </a:p>
          <a:p>
            <a:pPr lvl="1"/>
            <a:r>
              <a:rPr lang="en-US" b="1" dirty="0" smtClean="0"/>
              <a:t>Surface dose (Ds) increases (70%-90%)</a:t>
            </a:r>
          </a:p>
          <a:p>
            <a:pPr lvl="1"/>
            <a:r>
              <a:rPr lang="en-US" sz="2000" b="1" dirty="0" smtClean="0"/>
              <a:t>Therapeutic depth( R</a:t>
            </a:r>
            <a:r>
              <a:rPr lang="en-US" sz="2000" b="1" baseline="-25000" dirty="0" smtClean="0"/>
              <a:t>90</a:t>
            </a:r>
            <a:r>
              <a:rPr lang="en-US" sz="2000" b="1" dirty="0" smtClean="0"/>
              <a:t>) increases.</a:t>
            </a:r>
          </a:p>
          <a:p>
            <a:pPr lvl="1"/>
            <a:r>
              <a:rPr lang="en-US" sz="2000" b="1" dirty="0" smtClean="0"/>
              <a:t>Dose falloff (R</a:t>
            </a:r>
            <a:r>
              <a:rPr lang="en-US" sz="2000" b="1" baseline="-25000" dirty="0" smtClean="0"/>
              <a:t>10</a:t>
            </a:r>
            <a:r>
              <a:rPr lang="en-US" sz="2000" b="1" dirty="0" smtClean="0"/>
              <a:t>-R</a:t>
            </a:r>
            <a:r>
              <a:rPr lang="en-US" sz="2000" b="1" baseline="-25000" dirty="0" smtClean="0"/>
              <a:t>90</a:t>
            </a:r>
            <a:r>
              <a:rPr lang="en-US" sz="2000" b="1" dirty="0" smtClean="0"/>
              <a:t>) increases.</a:t>
            </a:r>
          </a:p>
          <a:p>
            <a:pPr lvl="1"/>
            <a:r>
              <a:rPr lang="en-US" sz="2000" b="1" dirty="0" smtClean="0"/>
              <a:t>Practical range (</a:t>
            </a:r>
            <a:r>
              <a:rPr lang="en-US" sz="2000" b="1" dirty="0" err="1" smtClean="0"/>
              <a:t>Rp</a:t>
            </a:r>
            <a:r>
              <a:rPr lang="en-US" sz="2000" b="1" dirty="0" smtClean="0"/>
              <a:t>) increases.</a:t>
            </a:r>
          </a:p>
          <a:p>
            <a:pPr lvl="1"/>
            <a:r>
              <a:rPr lang="en-US" sz="2000" b="1" dirty="0" smtClean="0"/>
              <a:t>Bremsstrahlung dose (</a:t>
            </a:r>
            <a:r>
              <a:rPr lang="en-US" sz="2000" b="1" dirty="0" err="1" smtClean="0"/>
              <a:t>Dx</a:t>
            </a:r>
            <a:r>
              <a:rPr lang="en-US" sz="2000" b="1" dirty="0" smtClean="0"/>
              <a:t>) increases.</a:t>
            </a:r>
            <a:endParaRPr lang="en-US" sz="2000" b="1" dirty="0"/>
          </a:p>
          <a:p>
            <a:pPr lvl="1"/>
            <a:endParaRPr lang="en-US" sz="2000" b="1" dirty="0" smtClean="0"/>
          </a:p>
          <a:p>
            <a:pPr lvl="1"/>
            <a:endParaRPr lang="en-US" sz="2000" b="1" dirty="0" smtClean="0"/>
          </a:p>
          <a:p>
            <a:pPr lvl="1"/>
            <a:endParaRPr lang="en-US" sz="2000" b="1" dirty="0" smtClean="0"/>
          </a:p>
          <a:p>
            <a:pPr marL="329184" lvl="1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2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% Depth Dose</a:t>
            </a:r>
            <a:br>
              <a:rPr lang="en-US" b="1" dirty="0" smtClean="0"/>
            </a:br>
            <a:r>
              <a:rPr lang="en-US" b="1" dirty="0" smtClean="0"/>
              <a:t>Filed size dependence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4645152" y="1981200"/>
            <a:ext cx="4117848" cy="4008120"/>
          </a:xfrm>
        </p:spPr>
        <p:txBody>
          <a:bodyPr>
            <a:normAutofit/>
          </a:bodyPr>
          <a:lstStyle/>
          <a:p>
            <a:r>
              <a:rPr lang="en-US" b="1" dirty="0"/>
              <a:t>As field size </a:t>
            </a:r>
            <a:r>
              <a:rPr lang="en-US" b="1" dirty="0" smtClean="0"/>
              <a:t>decreases</a:t>
            </a:r>
            <a:endParaRPr lang="en-US" b="1" dirty="0"/>
          </a:p>
          <a:p>
            <a:pPr lvl="1"/>
            <a:r>
              <a:rPr lang="en-US" sz="2000" b="1" dirty="0"/>
              <a:t>Therapeutic depth( R90) decreases.</a:t>
            </a:r>
          </a:p>
          <a:p>
            <a:pPr lvl="1"/>
            <a:r>
              <a:rPr lang="en-US" sz="2000" b="1" dirty="0"/>
              <a:t>Surface dose(Ds) increases.</a:t>
            </a:r>
          </a:p>
          <a:p>
            <a:pPr lvl="1"/>
            <a:r>
              <a:rPr lang="en-US" sz="2000" b="1" dirty="0"/>
              <a:t>Practical range remains constant</a:t>
            </a:r>
            <a:r>
              <a:rPr lang="en-US" sz="2000" b="1" dirty="0" smtClean="0"/>
              <a:t>.</a:t>
            </a:r>
          </a:p>
          <a:p>
            <a:pPr lvl="1"/>
            <a:r>
              <a:rPr lang="en-US" sz="2000" b="1" dirty="0" smtClean="0"/>
              <a:t>Increase of </a:t>
            </a:r>
            <a:r>
              <a:rPr lang="en-US" sz="2000" b="1" dirty="0"/>
              <a:t>Ds </a:t>
            </a:r>
            <a:r>
              <a:rPr lang="en-US" sz="2000" b="1" dirty="0" smtClean="0"/>
              <a:t>more significant at lower energies.</a:t>
            </a:r>
          </a:p>
          <a:p>
            <a:pPr lvl="1"/>
            <a:r>
              <a:rPr lang="en-US" sz="2000" b="1" dirty="0"/>
              <a:t>Decrease in R90 </a:t>
            </a:r>
            <a:r>
              <a:rPr lang="en-US" sz="2000" b="1" dirty="0" smtClean="0"/>
              <a:t>is less significant </a:t>
            </a:r>
            <a:r>
              <a:rPr lang="en-US" sz="2000" b="1" dirty="0"/>
              <a:t>at </a:t>
            </a:r>
            <a:r>
              <a:rPr lang="en-US" sz="2000" b="1" dirty="0" smtClean="0"/>
              <a:t>lower energies.</a:t>
            </a:r>
            <a:endParaRPr lang="en-US" sz="2000" b="1" dirty="0"/>
          </a:p>
          <a:p>
            <a:pPr marL="329184" lvl="1" indent="0">
              <a:buNone/>
            </a:pPr>
            <a:endParaRPr lang="en-US" sz="2000" b="1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1"/>
            <a:ext cx="3657600" cy="3966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58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% Depth Dose</a:t>
            </a:r>
            <a:br>
              <a:rPr lang="en-US" b="1" dirty="0" smtClean="0"/>
            </a:br>
            <a:r>
              <a:rPr lang="en-US" b="1" dirty="0" smtClean="0"/>
              <a:t>Filed size dependence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As field size increases</a:t>
            </a:r>
          </a:p>
          <a:p>
            <a:pPr lvl="1"/>
            <a:r>
              <a:rPr lang="en-US" sz="2000" dirty="0" smtClean="0"/>
              <a:t>Therapeutic depth( R90) decreases.</a:t>
            </a:r>
          </a:p>
          <a:p>
            <a:pPr lvl="1"/>
            <a:r>
              <a:rPr lang="en-US" sz="2000" dirty="0" smtClean="0"/>
              <a:t>Surface dose(Ds) increases.</a:t>
            </a:r>
          </a:p>
          <a:p>
            <a:pPr lvl="1"/>
            <a:r>
              <a:rPr lang="en-US" sz="2000" dirty="0" smtClean="0"/>
              <a:t>Practical range remains constant.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Increase in Ds less significant at higher energies.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Decrease in R90 more significant at higher energies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4645152" y="1981200"/>
            <a:ext cx="4117848" cy="400812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As field size </a:t>
            </a:r>
            <a:r>
              <a:rPr lang="en-US" b="1" dirty="0" smtClean="0"/>
              <a:t>decreases</a:t>
            </a:r>
            <a:endParaRPr lang="en-US" b="1" dirty="0"/>
          </a:p>
          <a:p>
            <a:pPr lvl="1"/>
            <a:r>
              <a:rPr lang="en-US" sz="2000" b="1" dirty="0"/>
              <a:t>Therapeutic depth( R90) decreases.</a:t>
            </a:r>
          </a:p>
          <a:p>
            <a:pPr lvl="1"/>
            <a:r>
              <a:rPr lang="en-US" sz="2000" b="1" dirty="0"/>
              <a:t>Surface dose(Ds) increases.</a:t>
            </a:r>
          </a:p>
          <a:p>
            <a:pPr lvl="1"/>
            <a:r>
              <a:rPr lang="en-US" sz="2000" b="1" dirty="0"/>
              <a:t>Practical range remains constant</a:t>
            </a:r>
            <a:r>
              <a:rPr lang="en-US" sz="2000" b="1" dirty="0" smtClean="0"/>
              <a:t>.</a:t>
            </a:r>
          </a:p>
          <a:p>
            <a:pPr lvl="1"/>
            <a:r>
              <a:rPr lang="en-US" sz="2000" b="1" dirty="0"/>
              <a:t>Increase in Ds almost insignificant  at higher </a:t>
            </a:r>
            <a:r>
              <a:rPr lang="en-US" sz="2000" b="1" dirty="0" smtClean="0"/>
              <a:t>energies.</a:t>
            </a:r>
          </a:p>
          <a:p>
            <a:pPr lvl="1"/>
            <a:r>
              <a:rPr lang="en-US" sz="2000" b="1" dirty="0"/>
              <a:t>Decrease in R90 more significant at higher energies</a:t>
            </a:r>
            <a:r>
              <a:rPr lang="en-US" sz="2000" b="1" dirty="0" smtClean="0"/>
              <a:t>.</a:t>
            </a:r>
            <a:endParaRPr lang="en-US" sz="2000" b="1" dirty="0"/>
          </a:p>
          <a:p>
            <a:pPr marL="329184" lvl="1" indent="0">
              <a:buNone/>
            </a:pPr>
            <a:endParaRPr lang="en-US" sz="2000" b="1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824" y="2133599"/>
            <a:ext cx="3547976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075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371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% Depth dose </a:t>
            </a:r>
            <a:br>
              <a:rPr lang="en-US" b="1" dirty="0" smtClean="0"/>
            </a:br>
            <a:r>
              <a:rPr lang="en-US" b="1" dirty="0" smtClean="0"/>
              <a:t>Applicator dependence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8388"/>
            <a:ext cx="7848600" cy="4210012"/>
          </a:xfrm>
        </p:spPr>
        <p:txBody>
          <a:bodyPr/>
          <a:lstStyle/>
          <a:p>
            <a:r>
              <a:rPr lang="en-US" sz="2400" b="1" dirty="0" smtClean="0"/>
              <a:t>Dependence of %DD on applicator is minimal and is ignored. (</a:t>
            </a:r>
            <a:r>
              <a:rPr lang="en-US" sz="2400" b="1" dirty="0" err="1" smtClean="0"/>
              <a:t>Shiu</a:t>
            </a:r>
            <a:r>
              <a:rPr lang="en-US" sz="2400" b="1" dirty="0" smtClean="0"/>
              <a:t> et al., 1994)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4200"/>
            <a:ext cx="8124634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396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228601"/>
            <a:ext cx="8041440" cy="1524000"/>
          </a:xfrm>
        </p:spPr>
        <p:txBody>
          <a:bodyPr/>
          <a:lstStyle/>
          <a:p>
            <a:r>
              <a:rPr lang="en-US" sz="4400" b="1" dirty="0" smtClean="0"/>
              <a:t>Penumbra-field size dependence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2039112"/>
            <a:ext cx="4117848" cy="420928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Penumbra is the edge of the beam where there is not side scatter equilibrium</a:t>
            </a:r>
          </a:p>
          <a:p>
            <a:r>
              <a:rPr lang="en-US" b="1" dirty="0" smtClean="0"/>
              <a:t>Penumbra width is a measure of penumbra shape. P</a:t>
            </a:r>
            <a:r>
              <a:rPr lang="en-US" b="1" baseline="-25000" dirty="0" smtClean="0"/>
              <a:t>80-20</a:t>
            </a:r>
            <a:r>
              <a:rPr lang="en-US" b="1" dirty="0" smtClean="0"/>
              <a:t>=distance from 80% to 20%</a:t>
            </a:r>
          </a:p>
          <a:p>
            <a:r>
              <a:rPr lang="en-US" b="1" dirty="0" smtClean="0"/>
              <a:t>Penumbra width remains constant as field size increases if there is side scatter equilibrium on central axis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362200"/>
            <a:ext cx="3779491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767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Penumbra – Energy and SSD dependence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685800" y="2057400"/>
            <a:ext cx="3962400" cy="609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Penumbra width at surface increases in proportion to air gap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410200" y="2133600"/>
            <a:ext cx="3014662" cy="54292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Penumbra width at surface is sharper at higher energies</a:t>
            </a:r>
            <a:endParaRPr lang="en-US" b="1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971800"/>
            <a:ext cx="3616325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94" y="2819400"/>
            <a:ext cx="4062844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909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316037"/>
          </a:xfrm>
        </p:spPr>
        <p:txBody>
          <a:bodyPr/>
          <a:lstStyle/>
          <a:p>
            <a:r>
              <a:rPr lang="en-US" sz="4400" b="1" dirty="0" smtClean="0"/>
              <a:t>Output Field size dependence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2039112"/>
            <a:ext cx="4194048" cy="436168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Once the field size reaches below the practical range , the output increasingly begins to decrease as electrons previously reaching R100 are removed from the beam by collimation.</a:t>
            </a:r>
          </a:p>
          <a:p>
            <a:r>
              <a:rPr lang="en-US" b="1" dirty="0" smtClean="0"/>
              <a:t>Loss of side scatter equilibrium</a:t>
            </a:r>
          </a:p>
          <a:p>
            <a:r>
              <a:rPr lang="en-US" b="1" dirty="0"/>
              <a:t>Electrons scattering off the edge of the collimator increases with increasing field size due to increased perimeter of aperture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3733800" cy="3809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8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11237"/>
          </a:xfrm>
        </p:spPr>
        <p:txBody>
          <a:bodyPr/>
          <a:lstStyle/>
          <a:p>
            <a:r>
              <a:rPr lang="en-US" b="1" dirty="0" smtClean="0"/>
              <a:t>Output SSD dependence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2133600"/>
            <a:ext cx="4114800" cy="3992563"/>
          </a:xfrm>
        </p:spPr>
        <p:txBody>
          <a:bodyPr/>
          <a:lstStyle/>
          <a:p>
            <a:r>
              <a:rPr lang="en-US" b="1" dirty="0" smtClean="0"/>
              <a:t>Output decreases with increasing SSD ( </a:t>
            </a:r>
            <a:r>
              <a:rPr lang="en-US" b="1" dirty="0" err="1" smtClean="0"/>
              <a:t>ie</a:t>
            </a:r>
            <a:r>
              <a:rPr lang="en-US" b="1" dirty="0" smtClean="0"/>
              <a:t>, increasing air gap) due to 2 effects.</a:t>
            </a:r>
          </a:p>
          <a:p>
            <a:r>
              <a:rPr lang="en-US" b="1" dirty="0" smtClean="0"/>
              <a:t>Inverse square effect from virtual source</a:t>
            </a:r>
          </a:p>
          <a:p>
            <a:r>
              <a:rPr lang="en-US" b="1" dirty="0" smtClean="0"/>
              <a:t>Loss of side scatter equilibrium</a:t>
            </a:r>
            <a:endParaRPr lang="en-US" b="1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209800"/>
            <a:ext cx="3058754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2976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630237"/>
          </a:xfrm>
        </p:spPr>
        <p:txBody>
          <a:bodyPr/>
          <a:lstStyle/>
          <a:p>
            <a:r>
              <a:rPr lang="en-US" sz="4400" b="1" dirty="0" smtClean="0"/>
              <a:t>Output factor measurements: </a:t>
            </a:r>
            <a:endParaRPr lang="en-US" sz="44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609600" y="2743200"/>
            <a:ext cx="8077200" cy="3763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Parallel plate chamber, small ionization chamber, or diode can be used for measurements.</a:t>
            </a:r>
          </a:p>
          <a:p>
            <a:r>
              <a:rPr lang="en-US" b="1" dirty="0" smtClean="0"/>
              <a:t>Place the chamber at the center of the field at Dmax with 100SSD to the top of phantom.</a:t>
            </a:r>
          </a:p>
          <a:p>
            <a:r>
              <a:rPr lang="en-US" b="1" dirty="0" smtClean="0"/>
              <a:t>For extended SSD setup, measure the cutout at clinical SSD and open cone at 100SSD.  The measured output includes output factor and SSD factor.</a:t>
            </a:r>
          </a:p>
          <a:p>
            <a:r>
              <a:rPr lang="en-US" b="1" dirty="0" smtClean="0"/>
              <a:t>If the cutout is highly irregular, measure at multiple points and take the average.</a:t>
            </a:r>
          </a:p>
          <a:p>
            <a:r>
              <a:rPr lang="en-US" b="1" dirty="0" smtClean="0"/>
              <a:t>For small cut outs without lateral equilibrium, the Dmax  will shift towards the surface. For these cases find the true Dmax with a PDD measurement using water tank or use 1mm solid water.</a:t>
            </a:r>
            <a:endParaRPr lang="en-US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26" y="1447800"/>
            <a:ext cx="8177074" cy="914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8175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Influence of patient Anatomy on Electron dose Distribution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438400"/>
            <a:ext cx="7086600" cy="3551325"/>
          </a:xfrm>
        </p:spPr>
        <p:txBody>
          <a:bodyPr/>
          <a:lstStyle/>
          <a:p>
            <a:r>
              <a:rPr lang="en-US" b="1" dirty="0" smtClean="0"/>
              <a:t>Patient Surface</a:t>
            </a:r>
          </a:p>
          <a:p>
            <a:pPr lvl="1"/>
            <a:r>
              <a:rPr lang="en-US" b="1" dirty="0" smtClean="0"/>
              <a:t>Oblique incidence</a:t>
            </a:r>
          </a:p>
          <a:p>
            <a:pPr lvl="1"/>
            <a:r>
              <a:rPr lang="en-US" b="1" dirty="0" smtClean="0"/>
              <a:t>Irregular surface</a:t>
            </a:r>
          </a:p>
          <a:p>
            <a:r>
              <a:rPr lang="en-US" b="1" dirty="0" smtClean="0"/>
              <a:t>Internal Heterogeneities</a:t>
            </a:r>
          </a:p>
          <a:p>
            <a:pPr lvl="1"/>
            <a:r>
              <a:rPr lang="en-US" b="1" dirty="0" smtClean="0"/>
              <a:t>Bone</a:t>
            </a:r>
          </a:p>
          <a:p>
            <a:pPr lvl="1"/>
            <a:r>
              <a:rPr lang="en-US" b="1" dirty="0" smtClean="0"/>
              <a:t>Air </a:t>
            </a:r>
          </a:p>
          <a:p>
            <a:pPr lvl="1"/>
            <a:r>
              <a:rPr lang="en-US" b="1" dirty="0" smtClean="0"/>
              <a:t>Lung</a:t>
            </a:r>
          </a:p>
        </p:txBody>
      </p:sp>
    </p:spTree>
    <p:extLst>
      <p:ext uri="{BB962C8B-B14F-4D97-AF65-F5344CB8AC3E}">
        <p14:creationId xmlns:p14="http://schemas.microsoft.com/office/powerpoint/2010/main" val="1913469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228601"/>
            <a:ext cx="8041440" cy="1295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Effect of Oblique incidence on Dose distribution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5486400" y="2362200"/>
            <a:ext cx="2971800" cy="3627438"/>
          </a:xfrm>
        </p:spPr>
        <p:txBody>
          <a:bodyPr/>
          <a:lstStyle/>
          <a:p>
            <a:r>
              <a:rPr lang="en-US" b="1" dirty="0" smtClean="0"/>
              <a:t>Penumbra </a:t>
            </a:r>
          </a:p>
          <a:p>
            <a:pPr lvl="1"/>
            <a:r>
              <a:rPr lang="en-US" b="1" dirty="0" smtClean="0"/>
              <a:t>Decreases for surfaces closer to source</a:t>
            </a:r>
          </a:p>
          <a:p>
            <a:pPr lvl="1"/>
            <a:r>
              <a:rPr lang="en-US" b="1" dirty="0" smtClean="0"/>
              <a:t>Increases for surface farther from the source</a:t>
            </a:r>
            <a:endParaRPr lang="en-US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3916799" cy="4076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1023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31603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Effect of irregular surface on Electron dose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Increased dose in shadow of depression</a:t>
            </a:r>
          </a:p>
          <a:p>
            <a:r>
              <a:rPr lang="en-US" b="1" dirty="0" smtClean="0"/>
              <a:t>Decreased dose around its periphery</a:t>
            </a:r>
            <a:endParaRPr lang="en-US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4" y="3200400"/>
            <a:ext cx="7324725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655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239837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Effect of irregular surface on Electron dose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Decreased dose in shadow of protrusion</a:t>
            </a:r>
          </a:p>
          <a:p>
            <a:r>
              <a:rPr lang="en-US" b="1" dirty="0" smtClean="0"/>
              <a:t>Increased dose around its periphery</a:t>
            </a:r>
            <a:endParaRPr lang="en-US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9" y="3200400"/>
            <a:ext cx="76009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0796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/>
              <a:t>Effects of Bone on Electron dose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457200" y="2514600"/>
            <a:ext cx="3276600" cy="3535363"/>
          </a:xfrm>
        </p:spPr>
        <p:txBody>
          <a:bodyPr/>
          <a:lstStyle/>
          <a:p>
            <a:r>
              <a:rPr lang="en-US" b="1" dirty="0" smtClean="0"/>
              <a:t>Therapeutic dose contours( 80%-90%) shift toward surface </a:t>
            </a:r>
          </a:p>
          <a:p>
            <a:r>
              <a:rPr lang="en-US" b="1" dirty="0" smtClean="0"/>
              <a:t>Hot spots lateral to bone and cold spots under bone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2057400"/>
            <a:ext cx="4370528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419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163637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Effects of Air on Electron dose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85800" y="2514600"/>
            <a:ext cx="2590800" cy="3611563"/>
          </a:xfrm>
        </p:spPr>
        <p:txBody>
          <a:bodyPr>
            <a:normAutofit/>
          </a:bodyPr>
          <a:lstStyle/>
          <a:p>
            <a:r>
              <a:rPr lang="en-US" b="1" dirty="0" smtClean="0"/>
              <a:t>Dose falloff regions penetrates deeper </a:t>
            </a:r>
          </a:p>
          <a:p>
            <a:r>
              <a:rPr lang="en-US" b="1" dirty="0" smtClean="0"/>
              <a:t>Hot/Cold spots can become significant ( as much as 20%)</a:t>
            </a:r>
            <a:endParaRPr lang="en-US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043722"/>
            <a:ext cx="4305300" cy="391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940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239837"/>
          </a:xfrm>
        </p:spPr>
        <p:txBody>
          <a:bodyPr/>
          <a:lstStyle/>
          <a:p>
            <a:r>
              <a:rPr lang="en-US" sz="4000" b="1" dirty="0" smtClean="0"/>
              <a:t>Electron-Electron Field Matching</a:t>
            </a:r>
            <a:endParaRPr lang="en-US" sz="4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12" y="1905001"/>
            <a:ext cx="7601788" cy="4038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120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87437"/>
          </a:xfrm>
        </p:spPr>
        <p:txBody>
          <a:bodyPr/>
          <a:lstStyle/>
          <a:p>
            <a:r>
              <a:rPr lang="en-US" sz="4000" b="1" dirty="0" smtClean="0"/>
              <a:t>Electron Field matching contd..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012535"/>
            <a:ext cx="3965448" cy="397678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Electron – Electron field matching needs special considerations. </a:t>
            </a:r>
          </a:p>
          <a:p>
            <a:r>
              <a:rPr lang="en-US" b="1" dirty="0" smtClean="0"/>
              <a:t>Matching can cause unintended hot spots.</a:t>
            </a:r>
          </a:p>
          <a:p>
            <a:r>
              <a:rPr lang="en-US" b="1" dirty="0" smtClean="0"/>
              <a:t>Matching of different beam angles causes even more hotspots. </a:t>
            </a:r>
          </a:p>
          <a:p>
            <a:r>
              <a:rPr lang="en-US" b="1" dirty="0" smtClean="0"/>
              <a:t>Matching at the skin and feathering is the normal clinical approach.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Matching at skin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824737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201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52401"/>
            <a:ext cx="8041440" cy="762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Electron-Photon</a:t>
            </a:r>
            <a:r>
              <a:rPr lang="en-US" sz="2800" b="1" dirty="0" smtClean="0"/>
              <a:t> Field Matching </a:t>
            </a:r>
            <a:endParaRPr lang="en-US" sz="28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" y="1371600"/>
            <a:ext cx="3505200" cy="5105400"/>
          </a:xfrm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Matching can cause </a:t>
            </a:r>
            <a:r>
              <a:rPr lang="en-US" sz="2000" b="1" dirty="0" smtClean="0"/>
              <a:t>unintended hot </a:t>
            </a:r>
            <a:r>
              <a:rPr lang="en-US" sz="2000" b="1" dirty="0"/>
              <a:t>spots.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Hotspots are on the photon field side due to bulging of isodose lines.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Hotspots  increases when extended SSD used.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Matching at the skin and </a:t>
            </a:r>
            <a:r>
              <a:rPr lang="en-US" sz="2000" b="1" dirty="0" smtClean="0"/>
              <a:t>feathering </a:t>
            </a:r>
            <a:r>
              <a:rPr lang="en-US" sz="2000" b="1" dirty="0"/>
              <a:t>is the normal clinical approach</a:t>
            </a:r>
            <a:r>
              <a:rPr lang="en-US" sz="2000" b="1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IMN field matching for  breast treatment planning is the most common. </a:t>
            </a:r>
            <a:endParaRPr lang="en-US" sz="2000" b="1" dirty="0"/>
          </a:p>
          <a:p>
            <a:endParaRPr lang="en-US" sz="2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090" y="1219200"/>
            <a:ext cx="3969110" cy="4969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542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Internal Shielding for electron treatments :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8388"/>
            <a:ext cx="7543800" cy="4438612"/>
          </a:xfrm>
        </p:spPr>
        <p:txBody>
          <a:bodyPr>
            <a:normAutofit/>
          </a:bodyPr>
          <a:lstStyle/>
          <a:p>
            <a:r>
              <a:rPr lang="en-US" b="1" dirty="0" smtClean="0"/>
              <a:t>Treatment of lips, </a:t>
            </a:r>
            <a:r>
              <a:rPr lang="en-US" b="1" dirty="0" err="1"/>
              <a:t>B</a:t>
            </a:r>
            <a:r>
              <a:rPr lang="en-US" b="1" dirty="0" err="1" smtClean="0"/>
              <a:t>uccal</a:t>
            </a:r>
            <a:r>
              <a:rPr lang="en-US" b="1" dirty="0" smtClean="0"/>
              <a:t> mucosa, eyelid lesions.</a:t>
            </a:r>
          </a:p>
          <a:p>
            <a:r>
              <a:rPr lang="en-US" b="1" dirty="0" smtClean="0"/>
              <a:t>Lead shielding is used.</a:t>
            </a:r>
          </a:p>
          <a:p>
            <a:r>
              <a:rPr lang="en-US" b="1" dirty="0" smtClean="0"/>
              <a:t>The dose enhancement due to back scatter at the tissue-lead interface can be in the range 30%-70% for 1MeV-20MeV with higher value for the lower energy.</a:t>
            </a:r>
          </a:p>
          <a:p>
            <a:r>
              <a:rPr lang="en-US" b="1" dirty="0" smtClean="0"/>
              <a:t>To dissipate backscatter, a suitable thickness of low atomic number absorber such as bolus or wax can be placed between the lead tissue interface.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16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239837"/>
          </a:xfrm>
        </p:spPr>
        <p:txBody>
          <a:bodyPr>
            <a:normAutofit/>
          </a:bodyPr>
          <a:lstStyle/>
          <a:p>
            <a:r>
              <a:rPr lang="en-US" b="1" dirty="0" smtClean="0"/>
              <a:t>Clinical Electron – Rules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0"/>
            <a:ext cx="7467600" cy="4237125"/>
          </a:xfrm>
        </p:spPr>
        <p:txBody>
          <a:bodyPr>
            <a:normAutofit/>
          </a:bodyPr>
          <a:lstStyle/>
          <a:p>
            <a:r>
              <a:rPr lang="en-US" b="1" dirty="0" smtClean="0"/>
              <a:t>Beam energy should be selected to ensure that </a:t>
            </a:r>
          </a:p>
          <a:p>
            <a:pPr lvl="1"/>
            <a:r>
              <a:rPr lang="en-US" b="1" dirty="0" smtClean="0"/>
              <a:t>R90 &gt; maximum depth of PTV</a:t>
            </a:r>
          </a:p>
          <a:p>
            <a:pPr lvl="1"/>
            <a:r>
              <a:rPr lang="en-US" b="1" dirty="0" err="1" smtClean="0"/>
              <a:t>Rp</a:t>
            </a:r>
            <a:r>
              <a:rPr lang="en-US" b="1" dirty="0" smtClean="0"/>
              <a:t> &lt; depth of critical structure.</a:t>
            </a:r>
          </a:p>
          <a:p>
            <a:r>
              <a:rPr lang="en-US" b="1" dirty="0" smtClean="0"/>
              <a:t>Practical range = Energy/2</a:t>
            </a:r>
          </a:p>
          <a:p>
            <a:r>
              <a:rPr lang="en-US" b="1" dirty="0" smtClean="0"/>
              <a:t>R90~ Energy / 3.3</a:t>
            </a:r>
          </a:p>
          <a:p>
            <a:r>
              <a:rPr lang="en-US" b="1" dirty="0" smtClean="0"/>
              <a:t>Energy loss in tissue is 2MeV/cm </a:t>
            </a:r>
          </a:p>
          <a:p>
            <a:r>
              <a:rPr lang="en-US" b="1" dirty="0" smtClean="0"/>
              <a:t>Most probable energy in </a:t>
            </a:r>
            <a:r>
              <a:rPr lang="en-US" b="1" dirty="0" err="1" smtClean="0"/>
              <a:t>tissueEd</a:t>
            </a:r>
            <a:r>
              <a:rPr lang="en-US" b="1" dirty="0" smtClean="0"/>
              <a:t>= E0(1- d/</a:t>
            </a:r>
            <a:r>
              <a:rPr lang="en-US" b="1" dirty="0" err="1" smtClean="0"/>
              <a:t>Rp</a:t>
            </a:r>
            <a:r>
              <a:rPr lang="en-US" b="1" dirty="0" smtClean="0"/>
              <a:t>)</a:t>
            </a:r>
          </a:p>
          <a:p>
            <a:r>
              <a:rPr lang="en-US" b="1" dirty="0" smtClean="0"/>
              <a:t>Lead thickness to block= Energy/2 in mm.</a:t>
            </a:r>
          </a:p>
          <a:p>
            <a:r>
              <a:rPr lang="en-US" b="1" dirty="0" smtClean="0"/>
              <a:t>If </a:t>
            </a:r>
            <a:r>
              <a:rPr lang="en-US" b="1" dirty="0" err="1" smtClean="0"/>
              <a:t>Cerrebond</a:t>
            </a:r>
            <a:r>
              <a:rPr lang="en-US" b="1" dirty="0" smtClean="0"/>
              <a:t> : Use 1.2*</a:t>
            </a:r>
            <a:r>
              <a:rPr lang="en-US" b="1" dirty="0" err="1" smtClean="0"/>
              <a:t>Pb</a:t>
            </a:r>
            <a:r>
              <a:rPr lang="en-US" b="1" dirty="0" smtClean="0"/>
              <a:t> thickness.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500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392237"/>
          </a:xfrm>
        </p:spPr>
        <p:txBody>
          <a:bodyPr/>
          <a:lstStyle/>
          <a:p>
            <a:r>
              <a:rPr lang="en-US" sz="7200" b="1" dirty="0" smtClean="0"/>
              <a:t>Thank you</a:t>
            </a:r>
            <a:endParaRPr lang="en-US" sz="7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38388"/>
            <a:ext cx="7696200" cy="4210012"/>
          </a:xfrm>
        </p:spPr>
        <p:txBody>
          <a:bodyPr/>
          <a:lstStyle/>
          <a:p>
            <a:r>
              <a:rPr lang="en-US" sz="4400" b="1" u="sng" dirty="0" smtClean="0"/>
              <a:t>References :</a:t>
            </a:r>
          </a:p>
          <a:p>
            <a:r>
              <a:rPr lang="en-US" b="1" dirty="0" smtClean="0"/>
              <a:t>The physics of radiation therapy: Third edition by </a:t>
            </a:r>
            <a:r>
              <a:rPr lang="en-US" b="1" dirty="0" err="1" smtClean="0"/>
              <a:t>Faiz</a:t>
            </a:r>
            <a:r>
              <a:rPr lang="en-US" b="1" dirty="0" smtClean="0"/>
              <a:t> M Khan PhD.</a:t>
            </a:r>
          </a:p>
          <a:p>
            <a:r>
              <a:rPr lang="en-US" b="1" dirty="0" smtClean="0"/>
              <a:t>AAPM Therapy Physics review course by John A </a:t>
            </a:r>
            <a:r>
              <a:rPr lang="en-US" b="1" dirty="0" err="1" smtClean="0"/>
              <a:t>Antalock</a:t>
            </a:r>
            <a:r>
              <a:rPr lang="en-US" b="1" dirty="0" smtClean="0"/>
              <a:t>. PhD.</a:t>
            </a:r>
          </a:p>
          <a:p>
            <a:r>
              <a:rPr lang="en-US" b="1" dirty="0" smtClean="0"/>
              <a:t>Recommendation of Clinical electron dosimetry: Supplement to the recommendation of TG25 by </a:t>
            </a:r>
            <a:r>
              <a:rPr lang="en-US" b="1" dirty="0" err="1" smtClean="0"/>
              <a:t>Gerbi</a:t>
            </a:r>
            <a:r>
              <a:rPr lang="en-US" b="1" dirty="0" smtClean="0"/>
              <a:t> </a:t>
            </a:r>
            <a:r>
              <a:rPr lang="en-US" b="1" dirty="0" err="1" smtClean="0"/>
              <a:t>etal</a:t>
            </a:r>
            <a:r>
              <a:rPr lang="en-US" b="1" dirty="0" smtClean="0"/>
              <a:t>..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01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612</TotalTime>
  <Words>906</Words>
  <Application>Microsoft Office PowerPoint</Application>
  <PresentationFormat>On-screen Show (4:3)</PresentationFormat>
  <Paragraphs>115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Sketchbook</vt:lpstr>
      <vt:lpstr>Clinical application of  Electron beams:  </vt:lpstr>
      <vt:lpstr>% Depth Dose</vt:lpstr>
      <vt:lpstr>Depth Dose energy Dependence (6-20MeV)</vt:lpstr>
      <vt:lpstr>% Depth Dose Filed size dependence</vt:lpstr>
      <vt:lpstr>% Depth Dose Filed size dependence</vt:lpstr>
      <vt:lpstr>% Depth dose  Applicator dependence </vt:lpstr>
      <vt:lpstr>Penumbra-field size dependence</vt:lpstr>
      <vt:lpstr>Penumbra – Energy and SSD dependence</vt:lpstr>
      <vt:lpstr>Output Field size dependence</vt:lpstr>
      <vt:lpstr>Output SSD dependence</vt:lpstr>
      <vt:lpstr>Output factor measurements: </vt:lpstr>
      <vt:lpstr>Influence of patient Anatomy on Electron dose Distribution</vt:lpstr>
      <vt:lpstr>Effect of Oblique incidence on Dose distribution</vt:lpstr>
      <vt:lpstr>Effect of irregular surface on Electron dose distribution</vt:lpstr>
      <vt:lpstr>Effect of irregular surface on Electron dose distribution</vt:lpstr>
      <vt:lpstr>Effects of Bone on Electron dose distribution</vt:lpstr>
      <vt:lpstr>Effects of Air on Electron dose distribution</vt:lpstr>
      <vt:lpstr>Electron-Electron Field Matching</vt:lpstr>
      <vt:lpstr>Electron Field matching contd..</vt:lpstr>
      <vt:lpstr>Electron-Photon Field Matching </vt:lpstr>
      <vt:lpstr>Internal Shielding for electron treatments : </vt:lpstr>
      <vt:lpstr>Clinical Electron – Rules </vt:lpstr>
      <vt:lpstr>Thank you</vt:lpstr>
    </vt:vector>
  </TitlesOfParts>
  <Company>Penn Medicine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Treatment planning: Clinicial electrons</dc:title>
  <dc:creator>anamalas</dc:creator>
  <cp:lastModifiedBy>anamalas</cp:lastModifiedBy>
  <cp:revision>47</cp:revision>
  <dcterms:created xsi:type="dcterms:W3CDTF">2018-05-16T14:38:41Z</dcterms:created>
  <dcterms:modified xsi:type="dcterms:W3CDTF">2018-09-05T20:01:46Z</dcterms:modified>
</cp:coreProperties>
</file>