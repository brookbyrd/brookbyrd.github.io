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1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>
        <p:scale>
          <a:sx n="66" d="100"/>
          <a:sy n="66" d="100"/>
        </p:scale>
        <p:origin x="-516" y="-10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0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6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6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6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2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2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9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8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9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4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E3CA3-E9C1-44A7-BB57-3D472DF47687}" type="datetimeFigureOut">
              <a:rPr lang="en-US" smtClean="0"/>
              <a:t>4/2/2018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91BB7-46AA-4FD6-881A-FC0A0719C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6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Electron Cutout Factors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7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you measure electron cutout factors?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1892" r="4187"/>
          <a:stretch/>
        </p:blipFill>
        <p:spPr>
          <a:xfrm>
            <a:off x="2245179" y="1848304"/>
            <a:ext cx="7468693" cy="446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 cutout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47400" cy="4351338"/>
          </a:xfrm>
        </p:spPr>
        <p:txBody>
          <a:bodyPr/>
          <a:lstStyle/>
          <a:p>
            <a:r>
              <a:rPr lang="en-US" dirty="0" smtClean="0"/>
              <a:t>How do you perform an electron MU calculation?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</a:t>
            </a:r>
            <a:r>
              <a:rPr lang="en-US" baseline="-25000" dirty="0" smtClean="0"/>
              <a:t>0</a:t>
            </a:r>
            <a:r>
              <a:rPr lang="en-US" dirty="0" smtClean="0"/>
              <a:t>’ = 1cGy/MU at </a:t>
            </a:r>
            <a:r>
              <a:rPr lang="en-US" dirty="0" err="1" smtClean="0"/>
              <a:t>dmax</a:t>
            </a:r>
            <a:r>
              <a:rPr lang="en-US" dirty="0" smtClean="0"/>
              <a:t>, 100cm SSD, 10x10cm cone</a:t>
            </a:r>
          </a:p>
          <a:p>
            <a:r>
              <a:rPr lang="en-US" dirty="0" smtClean="0"/>
              <a:t>S</a:t>
            </a:r>
            <a:r>
              <a:rPr lang="en-US" baseline="-25000" dirty="0" smtClean="0"/>
              <a:t>e</a:t>
            </a:r>
            <a:r>
              <a:rPr lang="en-US" dirty="0" smtClean="0"/>
              <a:t> = cone factor and cutout factor combined</a:t>
            </a:r>
          </a:p>
          <a:p>
            <a:r>
              <a:rPr lang="en-US" dirty="0" smtClean="0"/>
              <a:t>ISL Factor is last term, where g is the gap between the treatment SSD and calibration SSD, and </a:t>
            </a:r>
            <a:r>
              <a:rPr lang="en-US" dirty="0" err="1" smtClean="0"/>
              <a:t>SSD</a:t>
            </a:r>
            <a:r>
              <a:rPr lang="en-US" baseline="-25000" dirty="0" err="1" smtClean="0"/>
              <a:t>eff</a:t>
            </a:r>
            <a:r>
              <a:rPr lang="en-US" dirty="0" smtClean="0"/>
              <a:t> is the effective SSD for the given cone size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55" r="29957" b="49885"/>
          <a:stretch/>
        </p:blipFill>
        <p:spPr>
          <a:xfrm>
            <a:off x="1080655" y="2480356"/>
            <a:ext cx="10030689" cy="8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 cutout factor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2261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Cutout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factor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𝑚𝑒𝑎𝑠𝑢𝑟𝑒𝑑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𝑑𝑚𝑎𝑥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𝑐𝑢𝑡𝑜𝑢𝑡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𝑖𝑛𝑠𝑒𝑟𝑡𝑒𝑑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𝐷𝑜𝑠𝑒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𝑚𝑒𝑎𝑠𝑢𝑟𝑒𝑑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𝑑𝑚𝑎𝑥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𝑐𝑜𝑛𝑒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Use the same cone size for each reading</a:t>
                </a:r>
              </a:p>
              <a:p>
                <a:endParaRPr lang="en-US" dirty="0"/>
              </a:p>
              <a:p>
                <a:r>
                  <a:rPr lang="en-US" dirty="0" smtClean="0"/>
                  <a:t>Will </a:t>
                </a:r>
                <a:r>
                  <a:rPr lang="en-US" dirty="0" err="1" smtClean="0"/>
                  <a:t>d</a:t>
                </a:r>
                <a:r>
                  <a:rPr lang="en-US" baseline="-25000" dirty="0" err="1" smtClean="0"/>
                  <a:t>max</a:t>
                </a:r>
                <a:r>
                  <a:rPr lang="en-US" dirty="0" smtClean="0"/>
                  <a:t> change with cutout inserted?</a:t>
                </a:r>
              </a:p>
              <a:p>
                <a:pPr lvl="1"/>
                <a:r>
                  <a:rPr lang="en-US" dirty="0" smtClean="0"/>
                  <a:t>Theoretically, yes. But the change is so small that it does not need to be accounted for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What should be used for cutout measurement?</a:t>
                </a:r>
              </a:p>
              <a:p>
                <a:pPr lvl="1"/>
                <a:r>
                  <a:rPr lang="en-US" dirty="0" smtClean="0"/>
                  <a:t>Small cylindrical ionization chamber, parallel plate chamber, or diode</a:t>
                </a:r>
              </a:p>
              <a:p>
                <a:pPr lvl="1"/>
                <a:r>
                  <a:rPr lang="en-US" dirty="0" smtClean="0"/>
                  <a:t>Minimize issues due to effective measurement depth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2261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91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are electron cutout factors handled at PCAM?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Lookup table for many circular, square, and rectangular cutouts</a:t>
            </a:r>
          </a:p>
          <a:p>
            <a:endParaRPr lang="en-US" dirty="0"/>
          </a:p>
          <a:p>
            <a:r>
              <a:rPr lang="en-US" dirty="0" smtClean="0"/>
              <a:t>We will typically measure electron cutout factors for cutouts that:</a:t>
            </a:r>
          </a:p>
          <a:p>
            <a:pPr lvl="1"/>
            <a:r>
              <a:rPr lang="en-US" dirty="0" smtClean="0"/>
              <a:t>Have irregular shape</a:t>
            </a:r>
          </a:p>
          <a:p>
            <a:pPr lvl="1"/>
            <a:r>
              <a:rPr lang="en-US" dirty="0" smtClean="0"/>
              <a:t>Have large disagreement between </a:t>
            </a:r>
            <a:r>
              <a:rPr lang="en-US" dirty="0" err="1" smtClean="0"/>
              <a:t>Radcalc</a:t>
            </a:r>
            <a:r>
              <a:rPr lang="en-US" dirty="0" smtClean="0"/>
              <a:t> and </a:t>
            </a:r>
            <a:r>
              <a:rPr lang="en-US" dirty="0" err="1" smtClean="0"/>
              <a:t>PennMU</a:t>
            </a:r>
            <a:endParaRPr lang="en-US" dirty="0" smtClean="0"/>
          </a:p>
          <a:p>
            <a:pPr lvl="1"/>
            <a:r>
              <a:rPr lang="en-US" dirty="0" smtClean="0"/>
              <a:t>Have a dimension that is smaller than the electron range being used</a:t>
            </a:r>
          </a:p>
          <a:p>
            <a:pPr lvl="1"/>
            <a:r>
              <a:rPr lang="en-US" dirty="0" smtClean="0"/>
              <a:t>Why?</a:t>
            </a:r>
          </a:p>
          <a:p>
            <a:pPr lvl="2"/>
            <a:r>
              <a:rPr lang="en-US" dirty="0" smtClean="0"/>
              <a:t>Lack of lateral scatter equilibrium</a:t>
            </a:r>
          </a:p>
        </p:txBody>
      </p:sp>
    </p:spTree>
    <p:extLst>
      <p:ext uri="{BB962C8B-B14F-4D97-AF65-F5344CB8AC3E}">
        <p14:creationId xmlns:p14="http://schemas.microsoft.com/office/powerpoint/2010/main" val="261871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Does cutout factor change when SSD is changed?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Yes</a:t>
            </a:r>
            <a:endParaRPr lang="en-US" dirty="0"/>
          </a:p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Each cutout creates a different virtual source position and, therefore, divergence</a:t>
            </a:r>
          </a:p>
          <a:p>
            <a:pPr lvl="1"/>
            <a:r>
              <a:rPr lang="en-US" dirty="0" smtClean="0"/>
              <a:t>At extended SSD, the relative output decreases faster for smaller cutouts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42" y="4123591"/>
            <a:ext cx="4829121" cy="260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2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cutout factor at SSD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SSD</a:t>
            </a:r>
            <a:r>
              <a:rPr lang="en-US" baseline="-25000" dirty="0" smtClean="0">
                <a:sym typeface="Wingdings" panose="05000000000000000000" pitchFamily="2" charset="2"/>
              </a:rPr>
              <a:t>2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25" y="1690688"/>
            <a:ext cx="6954591" cy="49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4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cutout factor be greater than 1?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Yes</a:t>
            </a:r>
          </a:p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Detector reading = Direct radiation + Head scatter radiation</a:t>
            </a:r>
          </a:p>
          <a:p>
            <a:pPr lvl="2"/>
            <a:r>
              <a:rPr lang="en-US" dirty="0" smtClean="0"/>
              <a:t>Direct radiation = Primary beam + phantom scatter hitting detector</a:t>
            </a:r>
          </a:p>
          <a:p>
            <a:pPr lvl="2"/>
            <a:r>
              <a:rPr lang="en-US" dirty="0" smtClean="0"/>
              <a:t>Head scatter radiation = Scatter from jaws, MLC, electron applicator, electron cutout</a:t>
            </a:r>
          </a:p>
          <a:p>
            <a:pPr lvl="1"/>
            <a:r>
              <a:rPr lang="en-US" dirty="0" smtClean="0"/>
              <a:t>Direct contribution always increases with increasing cutout</a:t>
            </a:r>
          </a:p>
          <a:p>
            <a:pPr lvl="1"/>
            <a:r>
              <a:rPr lang="en-US" dirty="0" smtClean="0"/>
              <a:t>Head scatter contribution depends on the energy and range of scattered particles</a:t>
            </a:r>
          </a:p>
          <a:p>
            <a:pPr lvl="2"/>
            <a:r>
              <a:rPr lang="en-US" dirty="0" smtClean="0"/>
              <a:t>Electron-electron scattering is mostly at large angles (compared to photon-electron scattering which is mostly forward)</a:t>
            </a:r>
          </a:p>
          <a:p>
            <a:pPr lvl="2"/>
            <a:r>
              <a:rPr lang="en-US" dirty="0" smtClean="0"/>
              <a:t>Scattered particles reaching the detector are mostly from the </a:t>
            </a:r>
            <a:r>
              <a:rPr lang="en-US" b="1" dirty="0" smtClean="0"/>
              <a:t>inner edge of the cutout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040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cutout factor be greater than 1?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926" y="1574574"/>
            <a:ext cx="6826931" cy="513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cutout factor be greater than 1?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816" y="1462343"/>
            <a:ext cx="7154069" cy="524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0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146143" cy="457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6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844314" cy="45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0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376</Words>
  <Application>Microsoft Office PowerPoint</Application>
  <PresentationFormat>Custom</PresentationFormat>
  <Paragraphs>50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Electron Cutout Factors</vt:lpstr>
      <vt:lpstr>How do you measure electron cutout factors?</vt:lpstr>
      <vt:lpstr>Electron cutout factor</vt:lpstr>
      <vt:lpstr>Electron cutout factor</vt:lpstr>
      <vt:lpstr>How are electron cutout factors handled at PCAM?</vt:lpstr>
      <vt:lpstr>Does cutout factor change when SSD is changed?</vt:lpstr>
      <vt:lpstr>Converting cutout factor at SSD1  SSD2</vt:lpstr>
      <vt:lpstr>Can cutout factor be greater than 1?</vt:lpstr>
      <vt:lpstr>Can cutout factor be greater than 1?</vt:lpstr>
      <vt:lpstr>Can cutout factor be greater than 1?</vt:lpstr>
      <vt:lpstr>Clinical example </vt:lpstr>
      <vt:lpstr>Clinical example</vt:lpstr>
    </vt:vector>
  </TitlesOfParts>
  <Company>Penn Medicine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 Cutout Factors</dc:title>
  <dc:creator>Burgdorf, Brendan</dc:creator>
  <cp:lastModifiedBy>teok</cp:lastModifiedBy>
  <cp:revision>7</cp:revision>
  <dcterms:created xsi:type="dcterms:W3CDTF">2018-04-02T16:03:13Z</dcterms:created>
  <dcterms:modified xsi:type="dcterms:W3CDTF">2018-04-02T17:04:47Z</dcterms:modified>
</cp:coreProperties>
</file>