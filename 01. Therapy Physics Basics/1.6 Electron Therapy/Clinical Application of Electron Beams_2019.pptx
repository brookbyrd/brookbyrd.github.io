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97" r:id="rId4"/>
    <p:sldId id="260" r:id="rId5"/>
    <p:sldId id="298" r:id="rId6"/>
    <p:sldId id="264" r:id="rId7"/>
    <p:sldId id="266" r:id="rId8"/>
    <p:sldId id="269" r:id="rId9"/>
    <p:sldId id="275" r:id="rId10"/>
    <p:sldId id="278" r:id="rId11"/>
    <p:sldId id="285" r:id="rId12"/>
    <p:sldId id="281" r:id="rId13"/>
    <p:sldId id="282" r:id="rId14"/>
    <p:sldId id="286" r:id="rId15"/>
    <p:sldId id="287" r:id="rId16"/>
    <p:sldId id="284" r:id="rId17"/>
    <p:sldId id="288" r:id="rId18"/>
    <p:sldId id="292" r:id="rId19"/>
    <p:sldId id="294" r:id="rId20"/>
    <p:sldId id="300" r:id="rId21"/>
    <p:sldId id="295" r:id="rId22"/>
    <p:sldId id="302" r:id="rId23"/>
    <p:sldId id="299" r:id="rId24"/>
    <p:sldId id="296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60"/>
  </p:normalViewPr>
  <p:slideViewPr>
    <p:cSldViewPr>
      <p:cViewPr varScale="1">
        <p:scale>
          <a:sx n="105" d="100"/>
          <a:sy n="105" d="100"/>
        </p:scale>
        <p:origin x="1764" y="114"/>
      </p:cViewPr>
      <p:guideLst>
        <p:guide orient="horz" pos="2160"/>
        <p:guide pos="27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69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5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4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8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0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2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5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8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2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11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5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5531F5-F8CE-4EF1-8C8A-6A00896555C9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86BD942-5064-4060-92E4-E93D3157A98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53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52239"/>
            <a:ext cx="7620000" cy="3191161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7200" b="1" dirty="0" smtClean="0"/>
              <a:t>Electron Dosimetry</a:t>
            </a:r>
            <a:br>
              <a:rPr lang="en-US" sz="7200" b="1" dirty="0" smtClean="0"/>
            </a:br>
            <a:endParaRPr lang="en-US" sz="6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638800"/>
            <a:ext cx="4836456" cy="533401"/>
          </a:xfrm>
        </p:spPr>
        <p:txBody>
          <a:bodyPr>
            <a:normAutofit/>
          </a:bodyPr>
          <a:lstStyle/>
          <a:p>
            <a:pPr algn="r"/>
            <a:r>
              <a:rPr lang="en-US" b="1" dirty="0" smtClean="0"/>
              <a:t>Shibu J Anamalayil, 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235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87437"/>
          </a:xfrm>
        </p:spPr>
        <p:txBody>
          <a:bodyPr/>
          <a:lstStyle/>
          <a:p>
            <a:r>
              <a:rPr lang="en-US" b="1" dirty="0" smtClean="0"/>
              <a:t>% Depth Dose</a:t>
            </a:r>
            <a:endParaRPr lang="en-US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42" y="1752600"/>
            <a:ext cx="43815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4400" y="6464284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The picture from the book : The </a:t>
            </a:r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physics of radiation therapy: Third edition by </a:t>
            </a:r>
            <a:r>
              <a:rPr lang="en-US" sz="1600" b="1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Faiz</a:t>
            </a:r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 M Khan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3041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Depth Dose energy Dependence</a:t>
            </a:r>
            <a:br>
              <a:rPr lang="en-US" sz="4000" b="1" dirty="0" smtClean="0"/>
            </a:br>
            <a:r>
              <a:rPr lang="en-US" sz="4000" b="1" dirty="0" smtClean="0"/>
              <a:t>(6-20MeV)</a:t>
            </a:r>
            <a:endParaRPr lang="en-US" sz="4000" b="1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1600" y="2038572"/>
            <a:ext cx="2688319" cy="395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965448" cy="3950208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As energy increases</a:t>
            </a:r>
          </a:p>
          <a:p>
            <a:pPr lvl="1"/>
            <a:r>
              <a:rPr lang="en-US" sz="2400" b="1" dirty="0" smtClean="0"/>
              <a:t>Surface dose (Ds) increases (70%-90%)</a:t>
            </a:r>
          </a:p>
          <a:p>
            <a:pPr lvl="1"/>
            <a:r>
              <a:rPr lang="en-US" sz="2400" b="1" dirty="0" smtClean="0"/>
              <a:t>Therapeutic depth( R</a:t>
            </a:r>
            <a:r>
              <a:rPr lang="en-US" sz="2400" b="1" baseline="-25000" dirty="0" smtClean="0"/>
              <a:t>90</a:t>
            </a:r>
            <a:r>
              <a:rPr lang="en-US" sz="2400" b="1" dirty="0" smtClean="0"/>
              <a:t>) increases.</a:t>
            </a:r>
          </a:p>
          <a:p>
            <a:pPr lvl="1"/>
            <a:r>
              <a:rPr lang="en-US" sz="2400" b="1" dirty="0" smtClean="0"/>
              <a:t>Practical range (</a:t>
            </a:r>
            <a:r>
              <a:rPr lang="en-US" sz="2400" b="1" dirty="0" err="1" smtClean="0"/>
              <a:t>Rp</a:t>
            </a:r>
            <a:r>
              <a:rPr lang="en-US" sz="2400" b="1" dirty="0" smtClean="0"/>
              <a:t>) increases.</a:t>
            </a:r>
          </a:p>
          <a:p>
            <a:pPr lvl="1"/>
            <a:r>
              <a:rPr lang="en-US" sz="2400" b="1" dirty="0" smtClean="0"/>
              <a:t>Bremsstrahlung dose (</a:t>
            </a:r>
            <a:r>
              <a:rPr lang="en-US" sz="2400" b="1" dirty="0" err="1" smtClean="0"/>
              <a:t>Dx</a:t>
            </a:r>
            <a:r>
              <a:rPr lang="en-US" sz="2400" b="1" dirty="0" smtClean="0"/>
              <a:t>) increases.</a:t>
            </a:r>
            <a:endParaRPr lang="en-US" sz="2400" b="1" dirty="0"/>
          </a:p>
          <a:p>
            <a:pPr lvl="1"/>
            <a:endParaRPr lang="en-US" sz="2000" b="1" dirty="0" smtClean="0"/>
          </a:p>
          <a:p>
            <a:pPr lvl="1"/>
            <a:endParaRPr lang="en-US" sz="2000" b="1" dirty="0" smtClean="0"/>
          </a:p>
          <a:p>
            <a:pPr lvl="1"/>
            <a:endParaRPr lang="en-US" sz="2000" b="1" dirty="0" smtClean="0"/>
          </a:p>
          <a:p>
            <a:pPr marL="329184" lvl="1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6464808"/>
            <a:ext cx="6324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Picture from AAPM therapy review course John </a:t>
            </a:r>
            <a:r>
              <a:rPr lang="en-US" dirty="0" err="1" smtClean="0"/>
              <a:t>Antalock</a:t>
            </a:r>
            <a:r>
              <a:rPr lang="en-US" dirty="0" smtClean="0"/>
              <a:t> PhD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2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% Depth Dose</a:t>
            </a:r>
            <a:br>
              <a:rPr lang="en-US" b="1" dirty="0" smtClean="0"/>
            </a:br>
            <a:r>
              <a:rPr lang="en-US" b="1" dirty="0" smtClean="0"/>
              <a:t>Filed size dependence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4645152" y="1981200"/>
            <a:ext cx="4117848" cy="4008120"/>
          </a:xfrm>
        </p:spPr>
        <p:txBody>
          <a:bodyPr>
            <a:normAutofit/>
          </a:bodyPr>
          <a:lstStyle/>
          <a:p>
            <a:r>
              <a:rPr lang="en-US" b="1" dirty="0"/>
              <a:t>As field size </a:t>
            </a:r>
            <a:r>
              <a:rPr lang="en-US" b="1" dirty="0" smtClean="0"/>
              <a:t>decreases</a:t>
            </a:r>
            <a:endParaRPr lang="en-US" b="1" dirty="0"/>
          </a:p>
          <a:p>
            <a:pPr lvl="1"/>
            <a:r>
              <a:rPr lang="en-US" sz="2000" b="1" dirty="0"/>
              <a:t>Therapeutic depth( R90) decreases.</a:t>
            </a:r>
          </a:p>
          <a:p>
            <a:pPr lvl="1"/>
            <a:r>
              <a:rPr lang="en-US" sz="2000" b="1" dirty="0"/>
              <a:t>Surface dose(Ds) increases.</a:t>
            </a:r>
          </a:p>
          <a:p>
            <a:pPr lvl="1"/>
            <a:r>
              <a:rPr lang="en-US" sz="2000" b="1" dirty="0"/>
              <a:t>Practical range remains constant</a:t>
            </a:r>
            <a:r>
              <a:rPr lang="en-US" sz="2000" b="1" dirty="0" smtClean="0"/>
              <a:t>.</a:t>
            </a:r>
          </a:p>
          <a:p>
            <a:pPr lvl="1"/>
            <a:r>
              <a:rPr lang="en-US" sz="2000" b="1" dirty="0" smtClean="0"/>
              <a:t>Increase of </a:t>
            </a:r>
            <a:r>
              <a:rPr lang="en-US" sz="2000" b="1" dirty="0"/>
              <a:t>Ds </a:t>
            </a:r>
            <a:r>
              <a:rPr lang="en-US" sz="2000" b="1" dirty="0" smtClean="0"/>
              <a:t>more significant at lower energies.</a:t>
            </a:r>
          </a:p>
          <a:p>
            <a:pPr lvl="1"/>
            <a:r>
              <a:rPr lang="en-US" sz="2000" b="1" dirty="0"/>
              <a:t>Decrease in R90 </a:t>
            </a:r>
            <a:r>
              <a:rPr lang="en-US" sz="2000" b="1" dirty="0" smtClean="0"/>
              <a:t>is less significant </a:t>
            </a:r>
            <a:r>
              <a:rPr lang="en-US" sz="2000" b="1" dirty="0"/>
              <a:t>at </a:t>
            </a:r>
            <a:r>
              <a:rPr lang="en-US" sz="2000" b="1" dirty="0" smtClean="0"/>
              <a:t>lower energies.</a:t>
            </a:r>
            <a:endParaRPr lang="en-US" sz="2000" b="1" dirty="0"/>
          </a:p>
          <a:p>
            <a:pPr marL="329184" lvl="1" indent="0">
              <a:buNone/>
            </a:pPr>
            <a:endParaRPr lang="en-US" sz="2000" b="1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1"/>
            <a:ext cx="3657600" cy="3966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676400" y="6488668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61958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% Depth Dose</a:t>
            </a:r>
            <a:br>
              <a:rPr lang="en-US" b="1" dirty="0" smtClean="0"/>
            </a:br>
            <a:r>
              <a:rPr lang="en-US" b="1" dirty="0" smtClean="0"/>
              <a:t>Filed size dependence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 field size increases</a:t>
            </a:r>
          </a:p>
          <a:p>
            <a:pPr lvl="1"/>
            <a:r>
              <a:rPr lang="en-US" sz="2000" dirty="0" smtClean="0"/>
              <a:t>Therapeutic depth( R90) decreases.</a:t>
            </a:r>
          </a:p>
          <a:p>
            <a:pPr lvl="1"/>
            <a:r>
              <a:rPr lang="en-US" sz="2000" dirty="0" smtClean="0"/>
              <a:t>Surface dose(Ds) increases.</a:t>
            </a:r>
          </a:p>
          <a:p>
            <a:pPr lvl="1"/>
            <a:r>
              <a:rPr lang="en-US" sz="2000" dirty="0" smtClean="0"/>
              <a:t>Practical range remains constant.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Increase in Ds less significant at higher energies.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Decrease in R90 more significant at higher energies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4645152" y="1981200"/>
            <a:ext cx="4117848" cy="4008120"/>
          </a:xfrm>
        </p:spPr>
        <p:txBody>
          <a:bodyPr>
            <a:normAutofit/>
          </a:bodyPr>
          <a:lstStyle/>
          <a:p>
            <a:r>
              <a:rPr lang="en-US" b="1" dirty="0"/>
              <a:t>As field size </a:t>
            </a:r>
            <a:r>
              <a:rPr lang="en-US" b="1" dirty="0" smtClean="0"/>
              <a:t>decreases</a:t>
            </a:r>
            <a:endParaRPr lang="en-US" b="1" dirty="0"/>
          </a:p>
          <a:p>
            <a:pPr lvl="1"/>
            <a:r>
              <a:rPr lang="en-US" sz="2000" b="1" dirty="0"/>
              <a:t>Therapeutic depth( R90) decreases.</a:t>
            </a:r>
          </a:p>
          <a:p>
            <a:pPr lvl="1"/>
            <a:r>
              <a:rPr lang="en-US" sz="2000" b="1" dirty="0"/>
              <a:t>Surface dose(Ds) increases.</a:t>
            </a:r>
          </a:p>
          <a:p>
            <a:pPr lvl="1"/>
            <a:r>
              <a:rPr lang="en-US" sz="2000" b="1" dirty="0"/>
              <a:t>Practical range remains constant</a:t>
            </a:r>
            <a:r>
              <a:rPr lang="en-US" sz="2000" b="1" dirty="0" smtClean="0"/>
              <a:t>.</a:t>
            </a:r>
          </a:p>
          <a:p>
            <a:pPr lvl="1"/>
            <a:r>
              <a:rPr lang="en-US" sz="2000" b="1" dirty="0"/>
              <a:t>Increase in Ds almost insignificant  at higher </a:t>
            </a:r>
            <a:r>
              <a:rPr lang="en-US" sz="2000" b="1" dirty="0" smtClean="0"/>
              <a:t>energies.</a:t>
            </a:r>
          </a:p>
          <a:p>
            <a:pPr lvl="1"/>
            <a:r>
              <a:rPr lang="en-US" sz="2000" b="1" dirty="0"/>
              <a:t>Decrease in R90 more significant at higher energies</a:t>
            </a:r>
            <a:r>
              <a:rPr lang="en-US" sz="2000" b="1" dirty="0" smtClean="0"/>
              <a:t>.</a:t>
            </a:r>
            <a:endParaRPr lang="en-US" sz="2000" b="1" dirty="0"/>
          </a:p>
          <a:p>
            <a:pPr marL="329184" lvl="1" indent="0">
              <a:buNone/>
            </a:pPr>
            <a:endParaRPr lang="en-US" sz="2000" b="1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40" y="1864995"/>
            <a:ext cx="3547976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52600" y="64008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337075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371600"/>
          </a:xfrm>
        </p:spPr>
        <p:txBody>
          <a:bodyPr>
            <a:normAutofit/>
          </a:bodyPr>
          <a:lstStyle/>
          <a:p>
            <a:r>
              <a:rPr lang="en-US" b="1" dirty="0" smtClean="0"/>
              <a:t>% Depth dose </a:t>
            </a:r>
            <a:br>
              <a:rPr lang="en-US" b="1" dirty="0" smtClean="0"/>
            </a:br>
            <a:r>
              <a:rPr lang="en-US" b="1" dirty="0" smtClean="0"/>
              <a:t>Applicator dependence: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8388"/>
            <a:ext cx="7848600" cy="4210012"/>
          </a:xfrm>
        </p:spPr>
        <p:txBody>
          <a:bodyPr/>
          <a:lstStyle/>
          <a:p>
            <a:r>
              <a:rPr lang="en-US" sz="2400" b="1" dirty="0" smtClean="0"/>
              <a:t>Dependence of %DD on applicator is minimal and is ignored. (</a:t>
            </a:r>
            <a:r>
              <a:rPr lang="en-US" sz="2400" b="1" dirty="0" err="1" smtClean="0"/>
              <a:t>Shiu</a:t>
            </a:r>
            <a:r>
              <a:rPr lang="en-US" sz="2400" b="1" dirty="0" smtClean="0"/>
              <a:t> et al., 1994)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4200"/>
            <a:ext cx="8124634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28800" y="6488668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418396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228601"/>
            <a:ext cx="8041440" cy="1524000"/>
          </a:xfrm>
        </p:spPr>
        <p:txBody>
          <a:bodyPr/>
          <a:lstStyle/>
          <a:p>
            <a:r>
              <a:rPr lang="en-US" sz="4400" b="1" dirty="0" smtClean="0"/>
              <a:t>Penumbra-field size dependence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286000"/>
            <a:ext cx="3889248" cy="3962400"/>
          </a:xfrm>
        </p:spPr>
        <p:txBody>
          <a:bodyPr>
            <a:normAutofit/>
          </a:bodyPr>
          <a:lstStyle/>
          <a:p>
            <a:r>
              <a:rPr lang="en-US" b="1" dirty="0" smtClean="0"/>
              <a:t>Penumbra is the edge of the beam where there is not side scatter equilibrium</a:t>
            </a:r>
          </a:p>
          <a:p>
            <a:r>
              <a:rPr lang="en-US" b="1" dirty="0" smtClean="0"/>
              <a:t>Penumbra width is a measure of penumbra shape. P</a:t>
            </a:r>
            <a:r>
              <a:rPr lang="en-US" b="1" baseline="-25000" dirty="0" smtClean="0"/>
              <a:t>80-20</a:t>
            </a:r>
            <a:r>
              <a:rPr lang="en-US" b="1" dirty="0" smtClean="0"/>
              <a:t>=distance from 80% to 20%</a:t>
            </a:r>
          </a:p>
          <a:p>
            <a:r>
              <a:rPr lang="en-US" b="1" dirty="0" smtClean="0"/>
              <a:t>Penumbra width remains constant as field size increases if there is side scatter equilibrium on central axis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362200"/>
            <a:ext cx="3779491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76400" y="6419088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306767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Penumbra – Energy and SSD dependence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457200" y="2048827"/>
            <a:ext cx="3962400" cy="609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Penumbra width at surface increases in proportion to air gap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181600" y="2057400"/>
            <a:ext cx="3014662" cy="54292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Penumbra width at surface is sharper at higher energies</a:t>
            </a:r>
            <a:endParaRPr lang="en-US" b="1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514600"/>
            <a:ext cx="3616325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94" y="2819400"/>
            <a:ext cx="4062844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600200" y="6415205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96909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316037"/>
          </a:xfrm>
        </p:spPr>
        <p:txBody>
          <a:bodyPr/>
          <a:lstStyle/>
          <a:p>
            <a:r>
              <a:rPr lang="en-US" sz="4400" b="1" dirty="0" smtClean="0"/>
              <a:t>Output Field size dependence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057400"/>
            <a:ext cx="4194048" cy="3810000"/>
          </a:xfrm>
        </p:spPr>
        <p:txBody>
          <a:bodyPr>
            <a:normAutofit/>
          </a:bodyPr>
          <a:lstStyle/>
          <a:p>
            <a:r>
              <a:rPr lang="en-US" b="1" dirty="0" smtClean="0"/>
              <a:t>Once the field size reaches below the practical range , the output increasingly begins to decrease as electrons previously reaching R100 are removed from the beam by collimation.</a:t>
            </a:r>
          </a:p>
          <a:p>
            <a:r>
              <a:rPr lang="en-US" b="1" dirty="0" smtClean="0"/>
              <a:t>Loss of side scatter equilibrium</a:t>
            </a:r>
          </a:p>
          <a:p>
            <a:r>
              <a:rPr lang="en-US" b="1" dirty="0"/>
              <a:t>Electrons scattering off the edge of the collimator increases with increasing field size due to increased perimeter of aperture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3733800" cy="3809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76400" y="643128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2198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11237"/>
          </a:xfrm>
        </p:spPr>
        <p:txBody>
          <a:bodyPr/>
          <a:lstStyle/>
          <a:p>
            <a:r>
              <a:rPr lang="en-US" b="1" dirty="0" smtClean="0"/>
              <a:t>Output SSD dependence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981200"/>
            <a:ext cx="4267200" cy="41449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Output decreases with increasing SSD ( </a:t>
            </a:r>
            <a:r>
              <a:rPr lang="en-US" sz="2400" b="1" dirty="0" err="1" smtClean="0"/>
              <a:t>ie</a:t>
            </a:r>
            <a:r>
              <a:rPr lang="en-US" sz="2400" b="1" dirty="0" smtClean="0"/>
              <a:t>, increasing air gap) due to 2 effects.</a:t>
            </a:r>
          </a:p>
          <a:p>
            <a:r>
              <a:rPr lang="en-US" sz="2400" b="1" dirty="0" smtClean="0"/>
              <a:t>Inverse square effect from virtual source</a:t>
            </a:r>
          </a:p>
          <a:p>
            <a:r>
              <a:rPr lang="en-US" sz="2400" b="1" dirty="0" smtClean="0"/>
              <a:t>Loss of side scatter equilibrium</a:t>
            </a:r>
            <a:endParaRPr lang="en-US" sz="2400" b="1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057400"/>
            <a:ext cx="3058754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28800" y="6488668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399297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Influence of patient Anatomy on Electron dose Distribution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8400"/>
            <a:ext cx="7467600" cy="355132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Patient Surface</a:t>
            </a:r>
          </a:p>
          <a:p>
            <a:pPr lvl="1"/>
            <a:r>
              <a:rPr lang="en-US" sz="2800" b="1" dirty="0" smtClean="0"/>
              <a:t>Oblique incidence</a:t>
            </a:r>
          </a:p>
          <a:p>
            <a:pPr lvl="1"/>
            <a:r>
              <a:rPr lang="en-US" sz="2800" b="1" dirty="0" smtClean="0"/>
              <a:t>Irregular surface</a:t>
            </a:r>
          </a:p>
          <a:p>
            <a:r>
              <a:rPr lang="en-US" sz="3200" b="1" dirty="0" smtClean="0"/>
              <a:t>Internal Heterogeneities</a:t>
            </a:r>
          </a:p>
          <a:p>
            <a:pPr lvl="1"/>
            <a:r>
              <a:rPr lang="en-US" sz="2800" b="1" dirty="0" smtClean="0"/>
              <a:t>Bone</a:t>
            </a:r>
          </a:p>
          <a:p>
            <a:pPr lvl="1"/>
            <a:r>
              <a:rPr lang="en-US" sz="2800" b="1" dirty="0" smtClean="0"/>
              <a:t>Air </a:t>
            </a:r>
          </a:p>
          <a:p>
            <a:pPr lvl="1"/>
            <a:r>
              <a:rPr lang="en-US" sz="2800" b="1" dirty="0" smtClean="0"/>
              <a:t>Lung</a:t>
            </a:r>
          </a:p>
        </p:txBody>
      </p:sp>
    </p:spTree>
    <p:extLst>
      <p:ext uri="{BB962C8B-B14F-4D97-AF65-F5344CB8AC3E}">
        <p14:creationId xmlns:p14="http://schemas.microsoft.com/office/powerpoint/2010/main" val="191346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228601"/>
            <a:ext cx="8211720" cy="1295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Effect of Oblique incidence on Dose distribution: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5029200" y="2438400"/>
            <a:ext cx="3505200" cy="3627438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Penumbra </a:t>
            </a:r>
          </a:p>
          <a:p>
            <a:pPr lvl="1"/>
            <a:r>
              <a:rPr lang="en-US" sz="2800" b="1" dirty="0" smtClean="0"/>
              <a:t>Decreases for surfaces closer to source</a:t>
            </a:r>
          </a:p>
          <a:p>
            <a:pPr lvl="1"/>
            <a:r>
              <a:rPr lang="en-US" sz="2800" b="1" dirty="0" smtClean="0"/>
              <a:t>Increases for surface farther from the source</a:t>
            </a:r>
            <a:endParaRPr lang="en-US" sz="2800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3916799" cy="4076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2600" y="6458505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20910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31603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Effect of irregular surface on Electron dose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11441" cy="4326466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Increased dose in shadow of depression</a:t>
            </a:r>
          </a:p>
          <a:p>
            <a:r>
              <a:rPr lang="en-US" sz="2400" b="1" dirty="0" smtClean="0"/>
              <a:t>Decreased dose around its periphery</a:t>
            </a:r>
            <a:endParaRPr lang="en-US" sz="2400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4" y="3200400"/>
            <a:ext cx="7324725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28800" y="6464284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39465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23983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Effect of irregular surface on Electron dose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45734"/>
            <a:ext cx="8229599" cy="432646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Decreased dose in shadow of protrusion</a:t>
            </a:r>
          </a:p>
          <a:p>
            <a:r>
              <a:rPr lang="en-US" sz="2800" b="1" dirty="0" smtClean="0"/>
              <a:t>Increased dose around its periphery</a:t>
            </a:r>
            <a:endParaRPr lang="en-US" sz="2800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71800"/>
            <a:ext cx="76009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2600" y="6482572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301079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6604"/>
            <a:ext cx="8001000" cy="1450757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Effects of Bone on Electron dose distribution: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81000" y="2057400"/>
            <a:ext cx="3733800" cy="3763963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Therapeutic dose contours( 80%-90%) shift toward surface </a:t>
            </a:r>
          </a:p>
          <a:p>
            <a:r>
              <a:rPr lang="en-US" sz="3200" b="1" dirty="0" smtClean="0"/>
              <a:t>Hot spots lateral to bone and cold spots under bone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2057400"/>
            <a:ext cx="4370528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28800" y="645787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48419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36563"/>
            <a:ext cx="8458200" cy="1163637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Effects of Air on Electron dose distribution: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85800" y="2057400"/>
            <a:ext cx="3276600" cy="36115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Dose falloff regions penetrates deeper 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Hot/Cold spots can become significant    ( as much as 20%)</a:t>
            </a:r>
            <a:endParaRPr lang="en-US" sz="2800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905000"/>
            <a:ext cx="4305300" cy="4057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28800" y="6406171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417940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87437"/>
          </a:xfrm>
        </p:spPr>
        <p:txBody>
          <a:bodyPr>
            <a:normAutofit/>
          </a:bodyPr>
          <a:lstStyle/>
          <a:p>
            <a:r>
              <a:rPr lang="en-US" b="1" dirty="0" smtClean="0"/>
              <a:t>Electron-Electron Field Matching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1"/>
            <a:ext cx="8001000" cy="426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71600" y="6476476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</a:t>
            </a:r>
            <a:r>
              <a:rPr lang="en-US" dirty="0" smtClean="0"/>
              <a:t>PhD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20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87437"/>
          </a:xfrm>
        </p:spPr>
        <p:txBody>
          <a:bodyPr/>
          <a:lstStyle/>
          <a:p>
            <a:r>
              <a:rPr lang="en-US" sz="4000" b="1" dirty="0" smtClean="0"/>
              <a:t>Electron Field matching contd..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2012535"/>
            <a:ext cx="4117848" cy="3976785"/>
          </a:xfrm>
        </p:spPr>
        <p:txBody>
          <a:bodyPr>
            <a:normAutofit/>
          </a:bodyPr>
          <a:lstStyle/>
          <a:p>
            <a:r>
              <a:rPr lang="en-US" b="1" dirty="0" smtClean="0"/>
              <a:t>Electron – Electron field matching needs special considerations. </a:t>
            </a:r>
          </a:p>
          <a:p>
            <a:r>
              <a:rPr lang="en-US" b="1" dirty="0" smtClean="0"/>
              <a:t>Matching can cause unintended hot spots.</a:t>
            </a:r>
          </a:p>
          <a:p>
            <a:r>
              <a:rPr lang="en-US" b="1" dirty="0" smtClean="0"/>
              <a:t>Matching of different beam angles causes even more hotspots. </a:t>
            </a:r>
          </a:p>
          <a:p>
            <a:r>
              <a:rPr lang="en-US" b="1" dirty="0" smtClean="0"/>
              <a:t>Matching at the skin and feathering is the normal clinical approach.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Matching at skin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824737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52600" y="6443472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38020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8041440" cy="762000"/>
          </a:xfrm>
        </p:spPr>
        <p:txBody>
          <a:bodyPr>
            <a:normAutofit/>
          </a:bodyPr>
          <a:lstStyle/>
          <a:p>
            <a:r>
              <a:rPr lang="en-US" b="1" dirty="0" smtClean="0"/>
              <a:t>Electron-Photon Field Matching: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381000" y="1752600"/>
            <a:ext cx="3733800" cy="4419600"/>
          </a:xfrm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Matching can cause </a:t>
            </a:r>
            <a:r>
              <a:rPr lang="en-US" sz="2000" b="1" dirty="0" smtClean="0"/>
              <a:t>unintended hot </a:t>
            </a:r>
            <a:r>
              <a:rPr lang="en-US" sz="2000" b="1" dirty="0"/>
              <a:t>spots.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Hotspots are on the photon field side due to bulging of isodose lines.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Hotspots  increases when extended SSD used.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Matching at the skin and </a:t>
            </a:r>
            <a:r>
              <a:rPr lang="en-US" sz="2000" b="1" dirty="0" smtClean="0"/>
              <a:t>feathering </a:t>
            </a:r>
            <a:r>
              <a:rPr lang="en-US" sz="2000" b="1" dirty="0"/>
              <a:t>is the normal clinical approach</a:t>
            </a:r>
            <a:r>
              <a:rPr lang="en-US" sz="2000" b="1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IMN field matching for  breast treatment planning is the most common. </a:t>
            </a:r>
            <a:endParaRPr lang="en-US" sz="2000" b="1" dirty="0"/>
          </a:p>
          <a:p>
            <a:endParaRPr lang="en-US" sz="2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33354"/>
            <a:ext cx="4350110" cy="48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2600" y="6420566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from AAPM therapy review course John </a:t>
            </a:r>
            <a:r>
              <a:rPr lang="en-US" dirty="0" err="1"/>
              <a:t>Antalock</a:t>
            </a:r>
            <a:r>
              <a:rPr lang="en-US" dirty="0"/>
              <a:t> PhD</a:t>
            </a:r>
          </a:p>
        </p:txBody>
      </p:sp>
    </p:spTree>
    <p:extLst>
      <p:ext uri="{BB962C8B-B14F-4D97-AF65-F5344CB8AC3E}">
        <p14:creationId xmlns:p14="http://schemas.microsoft.com/office/powerpoint/2010/main" val="183542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70643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/>
              <a:t>Sharp edge irregularities-Lead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012535"/>
            <a:ext cx="3965448" cy="3976785"/>
          </a:xfrm>
        </p:spPr>
        <p:txBody>
          <a:bodyPr>
            <a:normAutofit/>
          </a:bodyPr>
          <a:lstStyle/>
          <a:p>
            <a:r>
              <a:rPr lang="en-US" b="1" dirty="0" smtClean="0"/>
              <a:t>Electron – Electron field matching needs special considerations. </a:t>
            </a:r>
          </a:p>
          <a:p>
            <a:r>
              <a:rPr lang="en-US" b="1" dirty="0" smtClean="0"/>
              <a:t>Matching can cause unintended hot spots.</a:t>
            </a:r>
          </a:p>
          <a:p>
            <a:r>
              <a:rPr lang="en-US" b="1" dirty="0" smtClean="0"/>
              <a:t>Matching of different beam angles causes even more hotspots. </a:t>
            </a:r>
          </a:p>
          <a:p>
            <a:r>
              <a:rPr lang="en-US" b="1" dirty="0" smtClean="0"/>
              <a:t>Matching at the skin and feathering is the normal clinical approach.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Matching at skin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6453471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Slides taken from Dimitris/</a:t>
            </a:r>
            <a:r>
              <a:rPr lang="en-US" dirty="0" err="1" smtClean="0"/>
              <a:t>Pohlit</a:t>
            </a:r>
            <a:r>
              <a:rPr lang="en-US" dirty="0" smtClean="0"/>
              <a:t> W </a:t>
            </a:r>
            <a:r>
              <a:rPr lang="en-US" dirty="0" err="1" smtClean="0"/>
              <a:t>Manegold</a:t>
            </a:r>
            <a:r>
              <a:rPr lang="en-US" dirty="0" smtClean="0"/>
              <a:t> </a:t>
            </a:r>
            <a:r>
              <a:rPr lang="en-US" dirty="0" err="1" smtClean="0"/>
              <a:t>etal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0200"/>
            <a:ext cx="80995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9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940040" cy="1450757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 smtClean="0"/>
              <a:t>Internal Shielding for electron treatments : 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38388"/>
            <a:ext cx="8001000" cy="4133812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 smtClean="0"/>
              <a:t>Treatment of lips, </a:t>
            </a:r>
            <a:r>
              <a:rPr lang="en-US" sz="2400" b="1" dirty="0"/>
              <a:t>B</a:t>
            </a:r>
            <a:r>
              <a:rPr lang="en-US" sz="2400" b="1" dirty="0" smtClean="0"/>
              <a:t>uccal mucosa, eyelid lesions.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Lead shielding is used.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The dose enhancement due to back scatter at the tissue-lead interface can be in the range 30%-70% for 1MeV-20MeV with higher value for the lower energy.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To dissipate backscatter, a suitable thickness of low atomic number absorber such as bolus or wax can be placed between the lead tissue interface.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16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8938"/>
            <a:ext cx="8001000" cy="90646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would you manage a 2cm thick lesion on the mucosa on the cheek?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82" y="1752600"/>
            <a:ext cx="8735517" cy="45720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What energy?</a:t>
            </a:r>
          </a:p>
          <a:p>
            <a:pPr marL="417512" lvl="1" indent="0">
              <a:buNone/>
            </a:pPr>
            <a:r>
              <a:rPr lang="en-US" b="1" dirty="0"/>
              <a:t>	d</a:t>
            </a:r>
            <a:r>
              <a:rPr lang="en-US" b="1" baseline="-25000" dirty="0"/>
              <a:t>90%</a:t>
            </a:r>
            <a:r>
              <a:rPr lang="en-US" b="1" dirty="0"/>
              <a:t>=E/4cm</a:t>
            </a:r>
            <a:r>
              <a:rPr lang="en-US" b="1" dirty="0">
                <a:sym typeface="Wingdings" panose="05000000000000000000" pitchFamily="2" charset="2"/>
              </a:rPr>
              <a:t>9MeV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Need to protect the oral structures</a:t>
            </a:r>
          </a:p>
          <a:p>
            <a:pPr marL="417512" lvl="1" indent="0">
              <a:buNone/>
            </a:pPr>
            <a:r>
              <a:rPr lang="en-US" b="1" dirty="0"/>
              <a:t>	Compute electron energy beyond tumor</a:t>
            </a:r>
          </a:p>
          <a:p>
            <a:pPr marL="417512" lvl="1" indent="0">
              <a:buNone/>
            </a:pPr>
            <a:r>
              <a:rPr lang="en-US" b="1" dirty="0"/>
              <a:t>	2cm x 2MeV/cm=4MeV lost, thus 5MeV electrons make it beyond the lesion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Need to calculate </a:t>
            </a:r>
            <a:r>
              <a:rPr lang="en-US" b="1" dirty="0" err="1"/>
              <a:t>Pb</a:t>
            </a:r>
            <a:r>
              <a:rPr lang="en-US" b="1" dirty="0"/>
              <a:t> thickness to stop 5MeV electrons</a:t>
            </a:r>
          </a:p>
          <a:p>
            <a:pPr marL="417512" lvl="1" indent="0">
              <a:buNone/>
            </a:pPr>
            <a:r>
              <a:rPr lang="en-US" b="1" dirty="0"/>
              <a:t>	</a:t>
            </a:r>
            <a:r>
              <a:rPr lang="en-US" b="1" dirty="0" err="1"/>
              <a:t>t</a:t>
            </a:r>
            <a:r>
              <a:rPr lang="en-US" b="1" baseline="-25000" dirty="0" err="1"/>
              <a:t>Pb</a:t>
            </a:r>
            <a:r>
              <a:rPr lang="en-US" b="1" dirty="0"/>
              <a:t>=5/2 + 1=3.5mm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Pb</a:t>
            </a:r>
            <a:r>
              <a:rPr lang="en-US" b="1" dirty="0"/>
              <a:t> will create backscatter increase of dose to mucosa</a:t>
            </a:r>
          </a:p>
          <a:p>
            <a:pPr marL="417512" lvl="1" indent="0">
              <a:buNone/>
            </a:pPr>
            <a:r>
              <a:rPr lang="en-US" b="1" dirty="0"/>
              <a:t>	</a:t>
            </a:r>
          </a:p>
          <a:p>
            <a:pPr marL="417512" lvl="1" indent="0">
              <a:buNone/>
            </a:pPr>
            <a:r>
              <a:rPr lang="en-US" b="1" dirty="0"/>
              <a:t>	EBF=1.56, 56% backscatter</a:t>
            </a:r>
          </a:p>
          <a:p>
            <a:pPr marL="417512" lvl="1" indent="0">
              <a:buNone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Need to use bolus (polystyrene or wax) to reduce backscatter to less than 10%</a:t>
            </a:r>
          </a:p>
          <a:p>
            <a:pPr marL="417512" lvl="1" indent="0">
              <a:buNone/>
            </a:pPr>
            <a:r>
              <a:rPr lang="en-US" b="1" dirty="0"/>
              <a:t>	From Fig. 5MeV electron backscatter needs ~4mm bolus.</a:t>
            </a:r>
          </a:p>
          <a:p>
            <a:pPr marL="417512" lvl="1" indent="0">
              <a:buNone/>
            </a:pPr>
            <a:r>
              <a:rPr lang="en-US" b="1" dirty="0"/>
              <a:t>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95" y="4182255"/>
            <a:ext cx="3010603" cy="301367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4876800" y="1447800"/>
            <a:ext cx="3962400" cy="1447800"/>
            <a:chOff x="5074764" y="1036803"/>
            <a:chExt cx="3682303" cy="270076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4764" y="1036803"/>
              <a:ext cx="3682303" cy="2700762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 bwMode="auto">
            <a:xfrm flipV="1">
              <a:off x="5448925" y="2076139"/>
              <a:ext cx="1401580" cy="1498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/>
            <p:cNvCxnSpPr/>
            <p:nvPr/>
          </p:nvCxnSpPr>
          <p:spPr bwMode="auto">
            <a:xfrm>
              <a:off x="5681272" y="2091128"/>
              <a:ext cx="37476" cy="121420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2453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23983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Clinical Electron – Rules 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33600"/>
            <a:ext cx="8001000" cy="4114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Beam energy should be selected to ensure that </a:t>
            </a:r>
          </a:p>
          <a:p>
            <a:pPr lvl="1"/>
            <a:r>
              <a:rPr lang="en-US" sz="2200" b="1" dirty="0" smtClean="0"/>
              <a:t>R90 &gt; maximum depth of PTV</a:t>
            </a:r>
          </a:p>
          <a:p>
            <a:pPr lvl="1"/>
            <a:r>
              <a:rPr lang="en-US" sz="2200" b="1" dirty="0" err="1" smtClean="0"/>
              <a:t>Rp</a:t>
            </a:r>
            <a:r>
              <a:rPr lang="en-US" sz="2200" b="1" dirty="0" smtClean="0"/>
              <a:t> &lt; depth of critical structure.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Practical range = Energy/2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R90~ Energy / 3.3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Energy loss in tissue is 2MeV/cm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Most probable energy in </a:t>
            </a:r>
            <a:r>
              <a:rPr lang="en-US" sz="2200" b="1" dirty="0" err="1" smtClean="0"/>
              <a:t>tissueEd</a:t>
            </a:r>
            <a:r>
              <a:rPr lang="en-US" sz="2200" b="1" dirty="0" smtClean="0"/>
              <a:t>= E0(1- d/</a:t>
            </a:r>
            <a:r>
              <a:rPr lang="en-US" sz="2200" b="1" dirty="0" err="1" smtClean="0"/>
              <a:t>Rp</a:t>
            </a:r>
            <a:r>
              <a:rPr lang="en-US" sz="2200" b="1" dirty="0" smtClean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Lead thickness to block= Energy/2 in mm.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 smtClean="0"/>
              <a:t>If </a:t>
            </a:r>
            <a:r>
              <a:rPr lang="en-US" sz="2200" b="1" dirty="0" err="1" smtClean="0"/>
              <a:t>Cerrebond</a:t>
            </a:r>
            <a:r>
              <a:rPr lang="en-US" sz="2200" b="1" dirty="0" smtClean="0"/>
              <a:t> : Use 1.2*</a:t>
            </a:r>
            <a:r>
              <a:rPr lang="en-US" sz="2200" b="1" dirty="0" err="1" smtClean="0"/>
              <a:t>Pb</a:t>
            </a:r>
            <a:r>
              <a:rPr lang="en-US" sz="2200" b="1" dirty="0" smtClean="0"/>
              <a:t> thickness. 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81500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087437"/>
          </a:xfrm>
        </p:spPr>
        <p:txBody>
          <a:bodyPr/>
          <a:lstStyle/>
          <a:p>
            <a:pPr algn="ctr"/>
            <a:r>
              <a:rPr lang="en-US" sz="7200" b="1" dirty="0" smtClean="0"/>
              <a:t>Thank you</a:t>
            </a:r>
            <a:endParaRPr lang="en-US" sz="7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09800"/>
            <a:ext cx="8382000" cy="3733800"/>
          </a:xfrm>
        </p:spPr>
        <p:txBody>
          <a:bodyPr>
            <a:normAutofit/>
          </a:bodyPr>
          <a:lstStyle/>
          <a:p>
            <a:r>
              <a:rPr lang="en-US" sz="4400" b="1" u="sng" dirty="0" smtClean="0"/>
              <a:t>References : </a:t>
            </a:r>
          </a:p>
          <a:p>
            <a:r>
              <a:rPr lang="en-US" b="1" dirty="0" smtClean="0"/>
              <a:t>The physics of radiation therapy: Third edition by </a:t>
            </a:r>
            <a:r>
              <a:rPr lang="en-US" b="1" dirty="0" err="1" smtClean="0"/>
              <a:t>Faiz</a:t>
            </a:r>
            <a:r>
              <a:rPr lang="en-US" b="1" dirty="0" smtClean="0"/>
              <a:t> M Khan PhD.</a:t>
            </a:r>
          </a:p>
          <a:p>
            <a:r>
              <a:rPr lang="en-US" b="1" dirty="0" smtClean="0"/>
              <a:t>AAPM Therapy Physics review course by John A </a:t>
            </a:r>
            <a:r>
              <a:rPr lang="en-US" b="1" dirty="0" err="1" smtClean="0"/>
              <a:t>Antalock</a:t>
            </a:r>
            <a:r>
              <a:rPr lang="en-US" b="1" dirty="0" smtClean="0"/>
              <a:t>. PhD.</a:t>
            </a:r>
          </a:p>
          <a:p>
            <a:r>
              <a:rPr lang="en-US" b="1" dirty="0"/>
              <a:t>Pictures and slides from </a:t>
            </a:r>
            <a:r>
              <a:rPr lang="en-US" b="1" dirty="0" smtClean="0"/>
              <a:t>Dimitris </a:t>
            </a:r>
            <a:r>
              <a:rPr lang="en-US" b="1" dirty="0" err="1" smtClean="0"/>
              <a:t>Polit</a:t>
            </a:r>
            <a:r>
              <a:rPr lang="en-US" b="1" dirty="0" smtClean="0"/>
              <a:t> </a:t>
            </a:r>
            <a:r>
              <a:rPr lang="en-US" b="1" dirty="0" err="1" smtClean="0"/>
              <a:t>etal</a:t>
            </a:r>
            <a:r>
              <a:rPr lang="en-US" b="1" dirty="0" smtClean="0"/>
              <a:t>…review </a:t>
            </a:r>
            <a:r>
              <a:rPr lang="en-US" b="1" dirty="0"/>
              <a:t>course by John A </a:t>
            </a:r>
            <a:r>
              <a:rPr lang="en-US" b="1" dirty="0" err="1"/>
              <a:t>Antalock</a:t>
            </a:r>
            <a:r>
              <a:rPr lang="en-US" b="1" dirty="0"/>
              <a:t>. PhD.</a:t>
            </a:r>
          </a:p>
          <a:p>
            <a:r>
              <a:rPr lang="en-US" b="1" dirty="0" smtClean="0"/>
              <a:t>Recommendation of Clinical electron dosimetry: Supplement to the recommendation of TG25 by </a:t>
            </a:r>
            <a:r>
              <a:rPr lang="en-US" b="1" dirty="0" err="1" smtClean="0"/>
              <a:t>Gerbi</a:t>
            </a:r>
            <a:r>
              <a:rPr lang="en-US" b="1" dirty="0" smtClean="0"/>
              <a:t> </a:t>
            </a:r>
            <a:r>
              <a:rPr lang="en-US" b="1" dirty="0" err="1" smtClean="0"/>
              <a:t>etal</a:t>
            </a:r>
            <a:r>
              <a:rPr lang="en-US" b="1" dirty="0" smtClean="0"/>
              <a:t>..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01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691</TotalTime>
  <Words>1031</Words>
  <Application>Microsoft Office PowerPoint</Application>
  <PresentationFormat>On-screen Show (4:3)</PresentationFormat>
  <Paragraphs>152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Retrospect</vt:lpstr>
      <vt:lpstr>     Electron Dosimetry </vt:lpstr>
      <vt:lpstr>% Depth Dose</vt:lpstr>
      <vt:lpstr>Depth Dose energy Dependence (6-20MeV)</vt:lpstr>
      <vt:lpstr>% Depth Dose Filed size dependence</vt:lpstr>
      <vt:lpstr>% Depth Dose Filed size dependence</vt:lpstr>
      <vt:lpstr>% Depth dose  Applicator dependence: </vt:lpstr>
      <vt:lpstr>Penumbra-field size dependence</vt:lpstr>
      <vt:lpstr>Penumbra – Energy and SSD dependence</vt:lpstr>
      <vt:lpstr>Output Field size dependence</vt:lpstr>
      <vt:lpstr>Output SSD dependence</vt:lpstr>
      <vt:lpstr>Influence of patient Anatomy on Electron dose Distribution</vt:lpstr>
      <vt:lpstr>Effect of Oblique incidence on Dose distribution:</vt:lpstr>
      <vt:lpstr>Effect of irregular surface on Electron dose distribution</vt:lpstr>
      <vt:lpstr>Effect of irregular surface on Electron dose distribution</vt:lpstr>
      <vt:lpstr>Effects of Bone on Electron dose distribution:</vt:lpstr>
      <vt:lpstr>Effects of Air on Electron dose distribution:</vt:lpstr>
      <vt:lpstr>Electron-Electron Field Matching</vt:lpstr>
      <vt:lpstr>Electron Field matching contd..</vt:lpstr>
      <vt:lpstr>Electron-Photon Field Matching:</vt:lpstr>
      <vt:lpstr>Sharp edge irregularities-Lead</vt:lpstr>
      <vt:lpstr>Internal Shielding for electron treatments : </vt:lpstr>
      <vt:lpstr>How would you manage a 2cm thick lesion on the mucosa on the cheek?</vt:lpstr>
      <vt:lpstr>Clinical Electron – Rules </vt:lpstr>
      <vt:lpstr>Thank you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Treatment planning: Clinicial electrons</dc:title>
  <dc:creator>anamalas</dc:creator>
  <cp:lastModifiedBy>Anamalayil, Shibu</cp:lastModifiedBy>
  <cp:revision>60</cp:revision>
  <dcterms:created xsi:type="dcterms:W3CDTF">2018-05-16T14:38:41Z</dcterms:created>
  <dcterms:modified xsi:type="dcterms:W3CDTF">2019-02-26T15:55:20Z</dcterms:modified>
</cp:coreProperties>
</file>