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3" r:id="rId5"/>
    <p:sldId id="258" r:id="rId6"/>
    <p:sldId id="259" r:id="rId7"/>
    <p:sldId id="265" r:id="rId8"/>
    <p:sldId id="260" r:id="rId9"/>
    <p:sldId id="325" r:id="rId10"/>
    <p:sldId id="262" r:id="rId11"/>
    <p:sldId id="324" r:id="rId12"/>
    <p:sldId id="264" r:id="rId13"/>
    <p:sldId id="323" r:id="rId14"/>
    <p:sldId id="266" r:id="rId15"/>
    <p:sldId id="326" r:id="rId16"/>
    <p:sldId id="272"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6" r:id="rId31"/>
    <p:sldId id="288" r:id="rId32"/>
    <p:sldId id="289" r:id="rId33"/>
    <p:sldId id="291" r:id="rId34"/>
    <p:sldId id="287" r:id="rId35"/>
    <p:sldId id="292" r:id="rId36"/>
    <p:sldId id="293" r:id="rId37"/>
    <p:sldId id="297" r:id="rId38"/>
    <p:sldId id="294" r:id="rId39"/>
    <p:sldId id="296" r:id="rId40"/>
    <p:sldId id="298" r:id="rId41"/>
    <p:sldId id="299" r:id="rId42"/>
    <p:sldId id="295" r:id="rId43"/>
    <p:sldId id="300" r:id="rId44"/>
    <p:sldId id="301" r:id="rId45"/>
    <p:sldId id="302" r:id="rId46"/>
    <p:sldId id="303" r:id="rId47"/>
    <p:sldId id="304" r:id="rId48"/>
    <p:sldId id="305" r:id="rId49"/>
    <p:sldId id="308" r:id="rId50"/>
    <p:sldId id="306" r:id="rId51"/>
    <p:sldId id="307" r:id="rId52"/>
    <p:sldId id="314" r:id="rId53"/>
    <p:sldId id="315" r:id="rId54"/>
    <p:sldId id="313" r:id="rId55"/>
    <p:sldId id="316" r:id="rId56"/>
    <p:sldId id="317" r:id="rId57"/>
    <p:sldId id="318" r:id="rId58"/>
    <p:sldId id="320" r:id="rId59"/>
    <p:sldId id="321" r:id="rId60"/>
    <p:sldId id="322" r:id="rId61"/>
    <p:sldId id="312" r:id="rId62"/>
    <p:sldId id="31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8" autoAdjust="0"/>
    <p:restoredTop sz="94660"/>
  </p:normalViewPr>
  <p:slideViewPr>
    <p:cSldViewPr snapToGrid="0">
      <p:cViewPr varScale="1">
        <p:scale>
          <a:sx n="115" d="100"/>
          <a:sy n="115" d="100"/>
        </p:scale>
        <p:origin x="19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F3872AF-8424-4B02-BDA2-563FAA6A2B09}" type="datetimeFigureOut">
              <a:rPr lang="en-US" smtClean="0"/>
              <a:t>4/3/2019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262027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3872AF-8424-4B02-BDA2-563FAA6A2B09}" type="datetimeFigureOut">
              <a:rPr lang="en-US" smtClean="0"/>
              <a:t>4/3/2019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226719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F3872AF-8424-4B02-BDA2-563FAA6A2B09}" type="datetimeFigureOut">
              <a:rPr lang="en-US" smtClean="0"/>
              <a:t>4/3/2019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218466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F3872AF-8424-4B02-BDA2-563FAA6A2B09}" type="datetimeFigureOut">
              <a:rPr lang="en-US" smtClean="0"/>
              <a:t>4/3/2019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1858699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F3872AF-8424-4B02-BDA2-563FAA6A2B09}" type="datetimeFigureOut">
              <a:rPr lang="en-US" smtClean="0"/>
              <a:t>4/3/2019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3917532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F3872AF-8424-4B02-BDA2-563FAA6A2B09}" type="datetimeFigureOut">
              <a:rPr lang="en-US" smtClean="0"/>
              <a:t>4/3/2019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1229299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3872AF-8424-4B02-BDA2-563FAA6A2B09}" type="datetimeFigureOut">
              <a:rPr lang="en-US" smtClean="0"/>
              <a:t>4/3/2019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2386903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3872AF-8424-4B02-BDA2-563FAA6A2B09}" type="datetimeFigureOut">
              <a:rPr lang="en-US" smtClean="0"/>
              <a:t>4/3/2019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3137631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3872AF-8424-4B02-BDA2-563FAA6A2B09}" type="datetimeFigureOut">
              <a:rPr lang="en-US" smtClean="0"/>
              <a:t>4/3/2019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2556166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3872AF-8424-4B02-BDA2-563FAA6A2B09}" type="datetimeFigureOut">
              <a:rPr lang="en-US" smtClean="0"/>
              <a:t>4/3/2019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543582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3872AF-8424-4B02-BDA2-563FAA6A2B09}" type="datetimeFigureOut">
              <a:rPr lang="en-US" smtClean="0"/>
              <a:t>4/3/2019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A3333-951E-476E-B83B-B32647E6B0BA}" type="slidenum">
              <a:rPr lang="en-US" smtClean="0"/>
              <a:t>‹#›</a:t>
            </a:fld>
            <a:endParaRPr lang="en-US"/>
          </a:p>
        </p:txBody>
      </p:sp>
    </p:spTree>
    <p:extLst>
      <p:ext uri="{BB962C8B-B14F-4D97-AF65-F5344CB8AC3E}">
        <p14:creationId xmlns:p14="http://schemas.microsoft.com/office/powerpoint/2010/main" val="1067615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872AF-8424-4B02-BDA2-563FAA6A2B09}" type="datetimeFigureOut">
              <a:rPr lang="en-US" smtClean="0"/>
              <a:t>4/3/2019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6A3333-951E-476E-B83B-B32647E6B0BA}" type="slidenum">
              <a:rPr lang="en-US" smtClean="0"/>
              <a:t>‹#›</a:t>
            </a:fld>
            <a:endParaRPr lang="en-US"/>
          </a:p>
        </p:txBody>
      </p:sp>
    </p:spTree>
    <p:extLst>
      <p:ext uri="{BB962C8B-B14F-4D97-AF65-F5344CB8AC3E}">
        <p14:creationId xmlns:p14="http://schemas.microsoft.com/office/powerpoint/2010/main" val="508265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youtube.com/watch?v=y17pOqy6SAQ"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Linac</a:t>
            </a:r>
            <a:r>
              <a:rPr lang="en-US" dirty="0" smtClean="0"/>
              <a:t> Components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915169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Overview</a:t>
            </a:r>
            <a:endParaRPr lang="en-US" dirty="0"/>
          </a:p>
        </p:txBody>
      </p:sp>
      <p:sp>
        <p:nvSpPr>
          <p:cNvPr id="3" name="Content Placeholder 2"/>
          <p:cNvSpPr>
            <a:spLocks noGrp="1"/>
          </p:cNvSpPr>
          <p:nvPr>
            <p:ph idx="1"/>
          </p:nvPr>
        </p:nvSpPr>
        <p:spPr>
          <a:xfrm>
            <a:off x="7796894" y="3156404"/>
            <a:ext cx="3902530" cy="1227818"/>
          </a:xfrm>
        </p:spPr>
        <p:txBody>
          <a:bodyPr>
            <a:normAutofit lnSpcReduction="10000"/>
          </a:bodyPr>
          <a:lstStyle/>
          <a:p>
            <a:r>
              <a:rPr lang="en-US" dirty="0" smtClean="0"/>
              <a:t>We will trace path of power through the </a:t>
            </a:r>
            <a:r>
              <a:rPr lang="en-US" dirty="0" err="1" smtClean="0"/>
              <a:t>linac</a:t>
            </a:r>
            <a:r>
              <a:rPr lang="en-US" dirty="0" smtClean="0"/>
              <a:t> from wall </a:t>
            </a:r>
            <a:r>
              <a:rPr lang="en-US" dirty="0" smtClean="0">
                <a:sym typeface="Wingdings" panose="05000000000000000000" pitchFamily="2" charset="2"/>
              </a:rPr>
              <a:t></a:t>
            </a:r>
            <a:r>
              <a:rPr lang="en-US" dirty="0" smtClean="0"/>
              <a:t> patient </a:t>
            </a:r>
            <a:endParaRPr lang="en-US" dirty="0"/>
          </a:p>
        </p:txBody>
      </p:sp>
      <p:pic>
        <p:nvPicPr>
          <p:cNvPr id="4" name="Picture 3"/>
          <p:cNvPicPr>
            <a:picLocks noChangeAspect="1"/>
          </p:cNvPicPr>
          <p:nvPr/>
        </p:nvPicPr>
        <p:blipFill>
          <a:blip r:embed="rId2"/>
          <a:stretch>
            <a:fillRect/>
          </a:stretch>
        </p:blipFill>
        <p:spPr>
          <a:xfrm>
            <a:off x="838200" y="1690688"/>
            <a:ext cx="6762750" cy="5022173"/>
          </a:xfrm>
          <a:prstGeom prst="rect">
            <a:avLst/>
          </a:prstGeom>
        </p:spPr>
      </p:pic>
    </p:spTree>
    <p:extLst>
      <p:ext uri="{BB962C8B-B14F-4D97-AF65-F5344CB8AC3E}">
        <p14:creationId xmlns:p14="http://schemas.microsoft.com/office/powerpoint/2010/main" val="15519826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r>
              <a:rPr lang="en-US" dirty="0" smtClean="0"/>
              <a:t>Is </a:t>
            </a:r>
            <a:r>
              <a:rPr lang="en-US" dirty="0" err="1" smtClean="0"/>
              <a:t>linac</a:t>
            </a:r>
            <a:r>
              <a:rPr lang="en-US" dirty="0" smtClean="0"/>
              <a:t> beam continuous or pulsed? </a:t>
            </a:r>
          </a:p>
          <a:p>
            <a:endParaRPr lang="en-US" dirty="0"/>
          </a:p>
          <a:p>
            <a:r>
              <a:rPr lang="en-US" dirty="0" smtClean="0"/>
              <a:t>Why? </a:t>
            </a:r>
            <a:endParaRPr lang="en-US" dirty="0"/>
          </a:p>
        </p:txBody>
      </p:sp>
    </p:spTree>
    <p:extLst>
      <p:ext uri="{BB962C8B-B14F-4D97-AF65-F5344CB8AC3E}">
        <p14:creationId xmlns:p14="http://schemas.microsoft.com/office/powerpoint/2010/main" val="7533290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2</a:t>
            </a:r>
            <a:endParaRPr lang="en-US" dirty="0"/>
          </a:p>
        </p:txBody>
      </p:sp>
      <p:sp>
        <p:nvSpPr>
          <p:cNvPr id="3" name="Content Placeholder 2"/>
          <p:cNvSpPr>
            <a:spLocks noGrp="1"/>
          </p:cNvSpPr>
          <p:nvPr>
            <p:ph idx="1"/>
          </p:nvPr>
        </p:nvSpPr>
        <p:spPr/>
        <p:txBody>
          <a:bodyPr/>
          <a:lstStyle/>
          <a:p>
            <a:r>
              <a:rPr lang="en-US" dirty="0" smtClean="0"/>
              <a:t>How long are these pulses?</a:t>
            </a:r>
          </a:p>
          <a:p>
            <a:endParaRPr lang="en-US" dirty="0"/>
          </a:p>
          <a:p>
            <a:r>
              <a:rPr lang="en-US" dirty="0" smtClean="0"/>
              <a:t>What is the time in between pulses?</a:t>
            </a:r>
            <a:endParaRPr lang="en-US" dirty="0"/>
          </a:p>
        </p:txBody>
      </p:sp>
    </p:spTree>
    <p:extLst>
      <p:ext uri="{BB962C8B-B14F-4D97-AF65-F5344CB8AC3E}">
        <p14:creationId xmlns:p14="http://schemas.microsoft.com/office/powerpoint/2010/main" val="9196644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Modulator</a:t>
            </a:r>
            <a:endParaRPr lang="en-US" dirty="0"/>
          </a:p>
        </p:txBody>
      </p:sp>
      <p:sp>
        <p:nvSpPr>
          <p:cNvPr id="3" name="Content Placeholder 2"/>
          <p:cNvSpPr>
            <a:spLocks noGrp="1"/>
          </p:cNvSpPr>
          <p:nvPr>
            <p:ph idx="1"/>
          </p:nvPr>
        </p:nvSpPr>
        <p:spPr/>
        <p:txBody>
          <a:bodyPr/>
          <a:lstStyle/>
          <a:p>
            <a:r>
              <a:rPr lang="en-US" dirty="0" smtClean="0"/>
              <a:t>Large power supply</a:t>
            </a:r>
          </a:p>
          <a:p>
            <a:pPr lvl="1"/>
            <a:r>
              <a:rPr lang="en-US" dirty="0" smtClean="0"/>
              <a:t>Supplies power to all components of the LINAC</a:t>
            </a:r>
          </a:p>
          <a:p>
            <a:pPr lvl="1"/>
            <a:endParaRPr lang="en-US" dirty="0"/>
          </a:p>
          <a:p>
            <a:r>
              <a:rPr lang="en-US" dirty="0" smtClean="0"/>
              <a:t>Two main subsystems to Modulator:</a:t>
            </a:r>
          </a:p>
          <a:p>
            <a:endParaRPr lang="en-US" dirty="0"/>
          </a:p>
          <a:p>
            <a:pPr marL="914400" lvl="1" indent="-457200">
              <a:buFont typeface="+mj-lt"/>
              <a:buAutoNum type="arabicPeriod"/>
            </a:pPr>
            <a:r>
              <a:rPr lang="en-US" dirty="0" smtClean="0"/>
              <a:t>Thyratron</a:t>
            </a:r>
          </a:p>
          <a:p>
            <a:pPr marL="914400" lvl="1" indent="-457200">
              <a:buFont typeface="+mj-lt"/>
              <a:buAutoNum type="arabicPeriod"/>
            </a:pPr>
            <a:endParaRPr lang="en-US" dirty="0"/>
          </a:p>
          <a:p>
            <a:pPr marL="914400" lvl="1" indent="-457200">
              <a:buFont typeface="+mj-lt"/>
              <a:buAutoNum type="arabicPeriod"/>
            </a:pPr>
            <a:r>
              <a:rPr lang="en-US" dirty="0" smtClean="0"/>
              <a:t>Pulse Forming Network</a:t>
            </a:r>
            <a:endParaRPr lang="en-US" dirty="0"/>
          </a:p>
        </p:txBody>
      </p:sp>
      <p:pic>
        <p:nvPicPr>
          <p:cNvPr id="4" name="Picture 3"/>
          <p:cNvPicPr>
            <a:picLocks noChangeAspect="1"/>
          </p:cNvPicPr>
          <p:nvPr/>
        </p:nvPicPr>
        <p:blipFill>
          <a:blip r:embed="rId2"/>
          <a:stretch>
            <a:fillRect/>
          </a:stretch>
        </p:blipFill>
        <p:spPr>
          <a:xfrm>
            <a:off x="7527471" y="3276823"/>
            <a:ext cx="4271559" cy="3172158"/>
          </a:xfrm>
          <a:prstGeom prst="rect">
            <a:avLst/>
          </a:prstGeom>
        </p:spPr>
      </p:pic>
    </p:spTree>
    <p:extLst>
      <p:ext uri="{BB962C8B-B14F-4D97-AF65-F5344CB8AC3E}">
        <p14:creationId xmlns:p14="http://schemas.microsoft.com/office/powerpoint/2010/main" val="34409397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Modulator - Thyratron</a:t>
            </a:r>
            <a:endParaRPr lang="en-US" dirty="0"/>
          </a:p>
        </p:txBody>
      </p:sp>
      <p:sp>
        <p:nvSpPr>
          <p:cNvPr id="3" name="Content Placeholder 2"/>
          <p:cNvSpPr>
            <a:spLocks noGrp="1"/>
          </p:cNvSpPr>
          <p:nvPr>
            <p:ph idx="1"/>
          </p:nvPr>
        </p:nvSpPr>
        <p:spPr>
          <a:xfrm>
            <a:off x="838200" y="1825625"/>
            <a:ext cx="9842500" cy="3013075"/>
          </a:xfrm>
        </p:spPr>
        <p:txBody>
          <a:bodyPr>
            <a:normAutofit fontScale="85000" lnSpcReduction="10000"/>
          </a:bodyPr>
          <a:lstStyle/>
          <a:p>
            <a:pPr marL="514350" indent="-514350">
              <a:buFont typeface="+mj-lt"/>
              <a:buAutoNum type="arabicPeriod"/>
            </a:pPr>
            <a:r>
              <a:rPr lang="en-US" b="1" dirty="0" smtClean="0"/>
              <a:t>Thyratron</a:t>
            </a:r>
            <a:r>
              <a:rPr lang="en-US" dirty="0" smtClean="0"/>
              <a:t> – High voltage on/off switch of the modulator</a:t>
            </a:r>
            <a:endParaRPr lang="en-US" dirty="0"/>
          </a:p>
          <a:p>
            <a:pPr lvl="1"/>
            <a:r>
              <a:rPr lang="en-US" dirty="0" smtClean="0"/>
              <a:t>Power requirements of </a:t>
            </a:r>
            <a:r>
              <a:rPr lang="en-US" dirty="0" err="1" smtClean="0"/>
              <a:t>linac</a:t>
            </a:r>
            <a:r>
              <a:rPr lang="en-US" dirty="0" smtClean="0"/>
              <a:t> are too great for it to run power continuously</a:t>
            </a:r>
          </a:p>
          <a:p>
            <a:pPr lvl="1"/>
            <a:r>
              <a:rPr lang="en-US" dirty="0" smtClean="0"/>
              <a:t> Capacitors are charged up and periodically discharged </a:t>
            </a:r>
            <a:r>
              <a:rPr lang="en-US" dirty="0" smtClean="0">
                <a:sym typeface="Wingdings" panose="05000000000000000000" pitchFamily="2" charset="2"/>
              </a:rPr>
              <a:t> controlled by thyratron</a:t>
            </a:r>
            <a:r>
              <a:rPr lang="en-US" dirty="0" smtClean="0"/>
              <a:t> </a:t>
            </a:r>
          </a:p>
          <a:p>
            <a:pPr lvl="1"/>
            <a:r>
              <a:rPr lang="en-US" dirty="0" smtClean="0"/>
              <a:t>Thyratron filled with hydrogen gas with very low pressure to allow for high speed switching </a:t>
            </a:r>
            <a:endParaRPr lang="en-US" dirty="0"/>
          </a:p>
          <a:p>
            <a:pPr lvl="1"/>
            <a:endParaRPr lang="en-US" dirty="0" smtClean="0"/>
          </a:p>
          <a:p>
            <a:pPr lvl="1"/>
            <a:r>
              <a:rPr lang="en-US" dirty="0" smtClean="0"/>
              <a:t>Two separate thyratrons</a:t>
            </a:r>
          </a:p>
          <a:p>
            <a:pPr lvl="2"/>
            <a:r>
              <a:rPr lang="en-US" dirty="0" smtClean="0"/>
              <a:t>De-Qing thyratron sits in front of the Pulse Forming Network and controls the charging of its circuits</a:t>
            </a:r>
          </a:p>
          <a:p>
            <a:pPr lvl="2"/>
            <a:r>
              <a:rPr lang="en-US" dirty="0" smtClean="0"/>
              <a:t>Main thyratron sits after the PFN and controls the timing of pulses leaving the circuit</a:t>
            </a:r>
          </a:p>
          <a:p>
            <a:pPr marL="514350" indent="-514350">
              <a:buFont typeface="+mj-lt"/>
              <a:buAutoNum type="arabicPeriod"/>
            </a:pPr>
            <a:endParaRPr lang="en-US" dirty="0"/>
          </a:p>
          <a:p>
            <a:pPr marL="971550" lvl="1" indent="-514350">
              <a:buFont typeface="+mj-lt"/>
              <a:buAutoNum type="arabicPeriod"/>
            </a:pPr>
            <a:endParaRPr lang="en-US" dirty="0"/>
          </a:p>
        </p:txBody>
      </p:sp>
      <p:pic>
        <p:nvPicPr>
          <p:cNvPr id="1026" name="Picture 2" descr="Image result for on/off light switch"/>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10800" y="1576388"/>
            <a:ext cx="1943099" cy="223059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rotWithShape="1">
          <a:blip r:embed="rId3"/>
          <a:srcRect t="14218" b="11820"/>
          <a:stretch/>
        </p:blipFill>
        <p:spPr>
          <a:xfrm>
            <a:off x="3282950" y="4762500"/>
            <a:ext cx="5626100" cy="2015644"/>
          </a:xfrm>
          <a:prstGeom prst="rect">
            <a:avLst/>
          </a:prstGeom>
        </p:spPr>
      </p:pic>
      <p:sp>
        <p:nvSpPr>
          <p:cNvPr id="5" name="TextBox 4"/>
          <p:cNvSpPr txBox="1"/>
          <p:nvPr/>
        </p:nvSpPr>
        <p:spPr>
          <a:xfrm>
            <a:off x="8737600" y="5447156"/>
            <a:ext cx="1473200" cy="646331"/>
          </a:xfrm>
          <a:prstGeom prst="rect">
            <a:avLst/>
          </a:prstGeom>
          <a:noFill/>
        </p:spPr>
        <p:txBody>
          <a:bodyPr wrap="square" rtlCol="0">
            <a:spAutoFit/>
          </a:bodyPr>
          <a:lstStyle/>
          <a:p>
            <a:pPr algn="ctr"/>
            <a:r>
              <a:rPr lang="en-US" dirty="0" smtClean="0"/>
              <a:t>Main Thyratron</a:t>
            </a:r>
            <a:endParaRPr lang="en-US" dirty="0"/>
          </a:p>
        </p:txBody>
      </p:sp>
    </p:spTree>
    <p:extLst>
      <p:ext uri="{BB962C8B-B14F-4D97-AF65-F5344CB8AC3E}">
        <p14:creationId xmlns:p14="http://schemas.microsoft.com/office/powerpoint/2010/main" val="15195930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3</a:t>
            </a:r>
            <a:endParaRPr lang="en-US" dirty="0"/>
          </a:p>
        </p:txBody>
      </p:sp>
      <p:sp>
        <p:nvSpPr>
          <p:cNvPr id="3" name="Content Placeholder 2"/>
          <p:cNvSpPr>
            <a:spLocks noGrp="1"/>
          </p:cNvSpPr>
          <p:nvPr>
            <p:ph idx="1"/>
          </p:nvPr>
        </p:nvSpPr>
        <p:spPr/>
        <p:txBody>
          <a:bodyPr/>
          <a:lstStyle/>
          <a:p>
            <a:r>
              <a:rPr lang="en-US" dirty="0" smtClean="0"/>
              <a:t>If the thyratron in your </a:t>
            </a:r>
            <a:r>
              <a:rPr lang="en-US" dirty="0" err="1" smtClean="0"/>
              <a:t>linac</a:t>
            </a:r>
            <a:r>
              <a:rPr lang="en-US" dirty="0" smtClean="0"/>
              <a:t> breaks, what symptoms will the machine exhibit? </a:t>
            </a:r>
          </a:p>
          <a:p>
            <a:endParaRPr lang="en-US" dirty="0"/>
          </a:p>
          <a:p>
            <a:r>
              <a:rPr lang="en-US" dirty="0" smtClean="0"/>
              <a:t>What QA is recommended after replacement of the thyratron?</a:t>
            </a:r>
            <a:endParaRPr lang="en-US" dirty="0"/>
          </a:p>
        </p:txBody>
      </p:sp>
    </p:spTree>
    <p:extLst>
      <p:ext uri="{BB962C8B-B14F-4D97-AF65-F5344CB8AC3E}">
        <p14:creationId xmlns:p14="http://schemas.microsoft.com/office/powerpoint/2010/main" val="22253687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Modulator</a:t>
            </a:r>
            <a:endParaRPr lang="en-US" dirty="0"/>
          </a:p>
        </p:txBody>
      </p:sp>
      <p:sp>
        <p:nvSpPr>
          <p:cNvPr id="3" name="Content Placeholder 2"/>
          <p:cNvSpPr>
            <a:spLocks noGrp="1"/>
          </p:cNvSpPr>
          <p:nvPr>
            <p:ph idx="1"/>
          </p:nvPr>
        </p:nvSpPr>
        <p:spPr/>
        <p:txBody>
          <a:bodyPr/>
          <a:lstStyle/>
          <a:p>
            <a:pPr marL="514350" indent="-514350">
              <a:buFont typeface="+mj-lt"/>
              <a:buAutoNum type="arabicPeriod" startAt="2"/>
            </a:pPr>
            <a:r>
              <a:rPr lang="en-US" dirty="0" smtClean="0"/>
              <a:t>Pulse Forming Network</a:t>
            </a:r>
          </a:p>
          <a:p>
            <a:pPr lvl="1"/>
            <a:r>
              <a:rPr lang="en-US" dirty="0" smtClean="0"/>
              <a:t>Receives power from the De-Qing thyratron</a:t>
            </a:r>
            <a:endParaRPr lang="en-US" dirty="0"/>
          </a:p>
          <a:p>
            <a:pPr lvl="1"/>
            <a:r>
              <a:rPr lang="en-US" dirty="0" smtClean="0"/>
              <a:t>Steps up voltage from 10kV to ~100kV</a:t>
            </a:r>
          </a:p>
          <a:p>
            <a:pPr lvl="1"/>
            <a:r>
              <a:rPr lang="en-US" dirty="0" smtClean="0"/>
              <a:t>Pulses are sent to the RF driver, klystron/magnetron, and electron gun</a:t>
            </a:r>
            <a:endParaRPr lang="en-US" dirty="0"/>
          </a:p>
        </p:txBody>
      </p:sp>
      <p:pic>
        <p:nvPicPr>
          <p:cNvPr id="4" name="Picture 3"/>
          <p:cNvPicPr>
            <a:picLocks noChangeAspect="1"/>
          </p:cNvPicPr>
          <p:nvPr/>
        </p:nvPicPr>
        <p:blipFill>
          <a:blip r:embed="rId2"/>
          <a:stretch>
            <a:fillRect/>
          </a:stretch>
        </p:blipFill>
        <p:spPr>
          <a:xfrm>
            <a:off x="3937000" y="3480815"/>
            <a:ext cx="4318000" cy="3206646"/>
          </a:xfrm>
          <a:prstGeom prst="rect">
            <a:avLst/>
          </a:prstGeom>
        </p:spPr>
      </p:pic>
    </p:spTree>
    <p:extLst>
      <p:ext uri="{BB962C8B-B14F-4D97-AF65-F5344CB8AC3E}">
        <p14:creationId xmlns:p14="http://schemas.microsoft.com/office/powerpoint/2010/main" val="356804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r>
              <a:rPr lang="en-US" dirty="0" smtClean="0"/>
              <a:t>Is </a:t>
            </a:r>
            <a:r>
              <a:rPr lang="en-US" dirty="0" err="1" smtClean="0"/>
              <a:t>linac</a:t>
            </a:r>
            <a:r>
              <a:rPr lang="en-US" dirty="0" smtClean="0"/>
              <a:t> beam continuous or pulsed? </a:t>
            </a:r>
          </a:p>
          <a:p>
            <a:endParaRPr lang="en-US" dirty="0"/>
          </a:p>
          <a:p>
            <a:r>
              <a:rPr lang="en-US" dirty="0" smtClean="0"/>
              <a:t>Why? </a:t>
            </a:r>
            <a:endParaRPr lang="en-US" dirty="0"/>
          </a:p>
        </p:txBody>
      </p:sp>
    </p:spTree>
    <p:extLst>
      <p:ext uri="{BB962C8B-B14F-4D97-AF65-F5344CB8AC3E}">
        <p14:creationId xmlns:p14="http://schemas.microsoft.com/office/powerpoint/2010/main" val="17874124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a:t>
            </a:r>
            <a:endParaRPr lang="en-US" dirty="0"/>
          </a:p>
        </p:txBody>
      </p:sp>
      <p:sp>
        <p:nvSpPr>
          <p:cNvPr id="3" name="Content Placeholder 2"/>
          <p:cNvSpPr>
            <a:spLocks noGrp="1"/>
          </p:cNvSpPr>
          <p:nvPr>
            <p:ph idx="1"/>
          </p:nvPr>
        </p:nvSpPr>
        <p:spPr/>
        <p:txBody>
          <a:bodyPr/>
          <a:lstStyle/>
          <a:p>
            <a:r>
              <a:rPr lang="en-US" dirty="0" smtClean="0"/>
              <a:t>Is beam from LINAC continuous or pulsed? </a:t>
            </a:r>
          </a:p>
          <a:p>
            <a:pPr lvl="1"/>
            <a:r>
              <a:rPr lang="en-US" b="1" i="1" dirty="0" smtClean="0"/>
              <a:t>Pulsed</a:t>
            </a:r>
            <a:endParaRPr lang="en-US" b="1" i="1" dirty="0"/>
          </a:p>
          <a:p>
            <a:endParaRPr lang="en-US" dirty="0" smtClean="0"/>
          </a:p>
          <a:p>
            <a:r>
              <a:rPr lang="en-US" dirty="0" smtClean="0"/>
              <a:t>Why? </a:t>
            </a:r>
          </a:p>
          <a:p>
            <a:pPr lvl="1"/>
            <a:r>
              <a:rPr lang="en-US" b="1" i="1" dirty="0" smtClean="0"/>
              <a:t>Heat dissipation. Very high power needs in accelerating waveguide, so by using pulses, cooling requirement is manageable</a:t>
            </a:r>
            <a:endParaRPr lang="en-US" b="1" i="1" dirty="0"/>
          </a:p>
        </p:txBody>
      </p:sp>
    </p:spTree>
    <p:extLst>
      <p:ext uri="{BB962C8B-B14F-4D97-AF65-F5344CB8AC3E}">
        <p14:creationId xmlns:p14="http://schemas.microsoft.com/office/powerpoint/2010/main" val="10820915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2</a:t>
            </a:r>
            <a:endParaRPr lang="en-US" dirty="0"/>
          </a:p>
        </p:txBody>
      </p:sp>
      <p:sp>
        <p:nvSpPr>
          <p:cNvPr id="3" name="Content Placeholder 2"/>
          <p:cNvSpPr>
            <a:spLocks noGrp="1"/>
          </p:cNvSpPr>
          <p:nvPr>
            <p:ph idx="1"/>
          </p:nvPr>
        </p:nvSpPr>
        <p:spPr/>
        <p:txBody>
          <a:bodyPr/>
          <a:lstStyle/>
          <a:p>
            <a:r>
              <a:rPr lang="en-US" dirty="0" smtClean="0"/>
              <a:t>How long are these pulses?</a:t>
            </a:r>
          </a:p>
          <a:p>
            <a:endParaRPr lang="en-US" dirty="0"/>
          </a:p>
          <a:p>
            <a:r>
              <a:rPr lang="en-US" dirty="0" smtClean="0"/>
              <a:t>What is the time in between pulses?</a:t>
            </a:r>
            <a:endParaRPr lang="en-US" dirty="0"/>
          </a:p>
        </p:txBody>
      </p:sp>
    </p:spTree>
    <p:extLst>
      <p:ext uri="{BB962C8B-B14F-4D97-AF65-F5344CB8AC3E}">
        <p14:creationId xmlns:p14="http://schemas.microsoft.com/office/powerpoint/2010/main" val="17375087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2</a:t>
            </a:r>
            <a:endParaRPr lang="en-US" dirty="0"/>
          </a:p>
        </p:txBody>
      </p:sp>
      <p:sp>
        <p:nvSpPr>
          <p:cNvPr id="3" name="Content Placeholder 2"/>
          <p:cNvSpPr>
            <a:spLocks noGrp="1"/>
          </p:cNvSpPr>
          <p:nvPr>
            <p:ph idx="1"/>
          </p:nvPr>
        </p:nvSpPr>
        <p:spPr/>
        <p:txBody>
          <a:bodyPr/>
          <a:lstStyle/>
          <a:p>
            <a:r>
              <a:rPr lang="en-US" dirty="0" smtClean="0"/>
              <a:t>How long are these pulses?</a:t>
            </a:r>
            <a:endParaRPr lang="en-US" dirty="0"/>
          </a:p>
          <a:p>
            <a:r>
              <a:rPr lang="en-US" dirty="0" smtClean="0"/>
              <a:t>What is the time in between pulses?</a:t>
            </a:r>
            <a:endParaRPr lang="en-US" dirty="0"/>
          </a:p>
        </p:txBody>
      </p:sp>
      <p:pic>
        <p:nvPicPr>
          <p:cNvPr id="4" name="Picture 3"/>
          <p:cNvPicPr>
            <a:picLocks noChangeAspect="1"/>
          </p:cNvPicPr>
          <p:nvPr/>
        </p:nvPicPr>
        <p:blipFill>
          <a:blip r:embed="rId2"/>
          <a:stretch>
            <a:fillRect/>
          </a:stretch>
        </p:blipFill>
        <p:spPr>
          <a:xfrm>
            <a:off x="3094379" y="2768600"/>
            <a:ext cx="6003241" cy="3932237"/>
          </a:xfrm>
          <a:prstGeom prst="rect">
            <a:avLst/>
          </a:prstGeom>
        </p:spPr>
      </p:pic>
      <p:sp>
        <p:nvSpPr>
          <p:cNvPr id="5" name="TextBox 4"/>
          <p:cNvSpPr txBox="1"/>
          <p:nvPr/>
        </p:nvSpPr>
        <p:spPr>
          <a:xfrm>
            <a:off x="9097620" y="3354963"/>
            <a:ext cx="1257300" cy="646331"/>
          </a:xfrm>
          <a:prstGeom prst="rect">
            <a:avLst/>
          </a:prstGeom>
          <a:noFill/>
        </p:spPr>
        <p:txBody>
          <a:bodyPr wrap="square" rtlCol="0">
            <a:spAutoFit/>
          </a:bodyPr>
          <a:lstStyle/>
          <a:p>
            <a:pPr algn="ctr"/>
            <a:r>
              <a:rPr lang="en-US" dirty="0" smtClean="0"/>
              <a:t>Duty cycle of ~0.1%</a:t>
            </a:r>
            <a:endParaRPr lang="en-US" dirty="0"/>
          </a:p>
        </p:txBody>
      </p:sp>
    </p:spTree>
    <p:extLst>
      <p:ext uri="{BB962C8B-B14F-4D97-AF65-F5344CB8AC3E}">
        <p14:creationId xmlns:p14="http://schemas.microsoft.com/office/powerpoint/2010/main" val="16779031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3</a:t>
            </a:r>
            <a:endParaRPr lang="en-US" dirty="0"/>
          </a:p>
        </p:txBody>
      </p:sp>
      <p:sp>
        <p:nvSpPr>
          <p:cNvPr id="3" name="Content Placeholder 2"/>
          <p:cNvSpPr>
            <a:spLocks noGrp="1"/>
          </p:cNvSpPr>
          <p:nvPr>
            <p:ph idx="1"/>
          </p:nvPr>
        </p:nvSpPr>
        <p:spPr/>
        <p:txBody>
          <a:bodyPr/>
          <a:lstStyle/>
          <a:p>
            <a:r>
              <a:rPr lang="en-US" dirty="0" smtClean="0"/>
              <a:t>If the thyratron in your </a:t>
            </a:r>
            <a:r>
              <a:rPr lang="en-US" dirty="0" err="1" smtClean="0"/>
              <a:t>linac</a:t>
            </a:r>
            <a:r>
              <a:rPr lang="en-US" dirty="0" smtClean="0"/>
              <a:t> breaks, what symptoms will the machine exhibit? </a:t>
            </a:r>
          </a:p>
          <a:p>
            <a:endParaRPr lang="en-US" dirty="0"/>
          </a:p>
          <a:p>
            <a:r>
              <a:rPr lang="en-US" dirty="0" smtClean="0"/>
              <a:t>What QA is recommended after replacement of the thyratron?</a:t>
            </a:r>
            <a:endParaRPr lang="en-US" dirty="0"/>
          </a:p>
        </p:txBody>
      </p:sp>
    </p:spTree>
    <p:extLst>
      <p:ext uri="{BB962C8B-B14F-4D97-AF65-F5344CB8AC3E}">
        <p14:creationId xmlns:p14="http://schemas.microsoft.com/office/powerpoint/2010/main" val="1609237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3</a:t>
            </a:r>
            <a:endParaRPr lang="en-US" dirty="0"/>
          </a:p>
        </p:txBody>
      </p:sp>
      <p:sp>
        <p:nvSpPr>
          <p:cNvPr id="3" name="Content Placeholder 2"/>
          <p:cNvSpPr>
            <a:spLocks noGrp="1"/>
          </p:cNvSpPr>
          <p:nvPr>
            <p:ph idx="1"/>
          </p:nvPr>
        </p:nvSpPr>
        <p:spPr/>
        <p:txBody>
          <a:bodyPr/>
          <a:lstStyle/>
          <a:p>
            <a:r>
              <a:rPr lang="en-US" dirty="0" smtClean="0"/>
              <a:t>If the thyratron in your </a:t>
            </a:r>
            <a:r>
              <a:rPr lang="en-US" dirty="0" err="1" smtClean="0"/>
              <a:t>linac</a:t>
            </a:r>
            <a:r>
              <a:rPr lang="en-US" dirty="0" smtClean="0"/>
              <a:t> breaks, what symptoms will the machine exhibit? </a:t>
            </a:r>
          </a:p>
          <a:p>
            <a:pPr lvl="1"/>
            <a:r>
              <a:rPr lang="en-US" b="1" i="1" dirty="0" smtClean="0"/>
              <a:t>There will be no beam at all as the thyratron will essentially remain in the “off switch” mode</a:t>
            </a:r>
            <a:endParaRPr lang="en-US" b="1" i="1" dirty="0"/>
          </a:p>
          <a:p>
            <a:r>
              <a:rPr lang="en-US" dirty="0" smtClean="0"/>
              <a:t>What QA is recommended after replacement of the thyratron?</a:t>
            </a:r>
          </a:p>
          <a:p>
            <a:pPr lvl="1"/>
            <a:r>
              <a:rPr lang="en-US" b="1" i="1" dirty="0" smtClean="0"/>
              <a:t>No beam properties affected, as the thyratron is only a high voltage high speed switch. The actually voltage and pulse repetition rate is controlled by other components in the Pulse Modulator. </a:t>
            </a:r>
          </a:p>
          <a:p>
            <a:pPr lvl="1"/>
            <a:r>
              <a:rPr lang="en-US" b="1" i="1" dirty="0" smtClean="0"/>
              <a:t>Therefore, after thyratron replacement, no QA is recommended</a:t>
            </a:r>
            <a:endParaRPr lang="en-US" b="1" i="1" dirty="0"/>
          </a:p>
        </p:txBody>
      </p:sp>
    </p:spTree>
    <p:extLst>
      <p:ext uri="{BB962C8B-B14F-4D97-AF65-F5344CB8AC3E}">
        <p14:creationId xmlns:p14="http://schemas.microsoft.com/office/powerpoint/2010/main" val="38972477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Modulator</a:t>
            </a:r>
            <a:endParaRPr lang="en-US" dirty="0"/>
          </a:p>
        </p:txBody>
      </p:sp>
      <p:sp>
        <p:nvSpPr>
          <p:cNvPr id="3" name="Content Placeholder 2"/>
          <p:cNvSpPr>
            <a:spLocks noGrp="1"/>
          </p:cNvSpPr>
          <p:nvPr>
            <p:ph idx="1"/>
          </p:nvPr>
        </p:nvSpPr>
        <p:spPr/>
        <p:txBody>
          <a:bodyPr/>
          <a:lstStyle/>
          <a:p>
            <a:pPr marL="514350" indent="-514350">
              <a:buFont typeface="+mj-lt"/>
              <a:buAutoNum type="arabicPeriod" startAt="2"/>
            </a:pPr>
            <a:r>
              <a:rPr lang="en-US" dirty="0" smtClean="0"/>
              <a:t>Pulse Forming Network</a:t>
            </a:r>
          </a:p>
          <a:p>
            <a:pPr lvl="1"/>
            <a:r>
              <a:rPr lang="en-US" dirty="0" smtClean="0"/>
              <a:t>Receives power from the De-Qing thyratron</a:t>
            </a:r>
            <a:endParaRPr lang="en-US" dirty="0"/>
          </a:p>
          <a:p>
            <a:pPr lvl="1"/>
            <a:r>
              <a:rPr lang="en-US" dirty="0" smtClean="0"/>
              <a:t>Steps up voltage from 10kV to ~100kV</a:t>
            </a:r>
          </a:p>
          <a:p>
            <a:pPr lvl="1"/>
            <a:r>
              <a:rPr lang="en-US" dirty="0" smtClean="0"/>
              <a:t>Pulses are sent to the </a:t>
            </a:r>
            <a:r>
              <a:rPr lang="en-US" b="1" dirty="0" smtClean="0"/>
              <a:t>RF driver</a:t>
            </a:r>
            <a:r>
              <a:rPr lang="en-US" dirty="0" smtClean="0"/>
              <a:t>, </a:t>
            </a:r>
            <a:r>
              <a:rPr lang="en-US" b="1" dirty="0" smtClean="0"/>
              <a:t>klystron/magnetron, and electron gun</a:t>
            </a:r>
            <a:endParaRPr lang="en-US" b="1" dirty="0"/>
          </a:p>
        </p:txBody>
      </p:sp>
      <p:pic>
        <p:nvPicPr>
          <p:cNvPr id="4" name="Picture 3"/>
          <p:cNvPicPr>
            <a:picLocks noChangeAspect="1"/>
          </p:cNvPicPr>
          <p:nvPr/>
        </p:nvPicPr>
        <p:blipFill>
          <a:blip r:embed="rId2"/>
          <a:stretch>
            <a:fillRect/>
          </a:stretch>
        </p:blipFill>
        <p:spPr>
          <a:xfrm>
            <a:off x="3937000" y="3480815"/>
            <a:ext cx="4318000" cy="3206646"/>
          </a:xfrm>
          <a:prstGeom prst="rect">
            <a:avLst/>
          </a:prstGeom>
        </p:spPr>
      </p:pic>
    </p:spTree>
    <p:extLst>
      <p:ext uri="{BB962C8B-B14F-4D97-AF65-F5344CB8AC3E}">
        <p14:creationId xmlns:p14="http://schemas.microsoft.com/office/powerpoint/2010/main" val="7990372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RF Driver</a:t>
            </a:r>
            <a:endParaRPr lang="en-US" dirty="0"/>
          </a:p>
        </p:txBody>
      </p:sp>
      <p:sp>
        <p:nvSpPr>
          <p:cNvPr id="3" name="Content Placeholder 2"/>
          <p:cNvSpPr>
            <a:spLocks noGrp="1"/>
          </p:cNvSpPr>
          <p:nvPr>
            <p:ph idx="1"/>
          </p:nvPr>
        </p:nvSpPr>
        <p:spPr/>
        <p:txBody>
          <a:bodyPr/>
          <a:lstStyle/>
          <a:p>
            <a:r>
              <a:rPr lang="en-US" dirty="0" smtClean="0"/>
              <a:t>Generates microwave frequency waves at 3000MHz</a:t>
            </a:r>
          </a:p>
          <a:p>
            <a:endParaRPr lang="en-US" dirty="0"/>
          </a:p>
          <a:p>
            <a:r>
              <a:rPr lang="en-US" dirty="0" smtClean="0"/>
              <a:t>Operates at low power (100-300 peak watts)</a:t>
            </a:r>
          </a:p>
          <a:p>
            <a:endParaRPr lang="en-US" dirty="0"/>
          </a:p>
          <a:p>
            <a:r>
              <a:rPr lang="en-US" dirty="0" smtClean="0"/>
              <a:t>Frequency of the RF driver is controlled precisely to match the resonant frequency of the main waveguide, which can vary with temperature due to expansion/contraction of the tube</a:t>
            </a:r>
          </a:p>
          <a:p>
            <a:pPr lvl="1"/>
            <a:r>
              <a:rPr lang="en-US" dirty="0" smtClean="0"/>
              <a:t>Automatic Frequency Control (AFC) monitors this</a:t>
            </a:r>
            <a:endParaRPr lang="en-US" dirty="0"/>
          </a:p>
        </p:txBody>
      </p:sp>
    </p:spTree>
    <p:extLst>
      <p:ext uri="{BB962C8B-B14F-4D97-AF65-F5344CB8AC3E}">
        <p14:creationId xmlns:p14="http://schemas.microsoft.com/office/powerpoint/2010/main" val="37124375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4</a:t>
            </a:r>
            <a:endParaRPr lang="en-US" dirty="0"/>
          </a:p>
        </p:txBody>
      </p:sp>
      <p:sp>
        <p:nvSpPr>
          <p:cNvPr id="3" name="Content Placeholder 2"/>
          <p:cNvSpPr>
            <a:spLocks noGrp="1"/>
          </p:cNvSpPr>
          <p:nvPr>
            <p:ph idx="1"/>
          </p:nvPr>
        </p:nvSpPr>
        <p:spPr/>
        <p:txBody>
          <a:bodyPr/>
          <a:lstStyle/>
          <a:p>
            <a:r>
              <a:rPr lang="en-US" dirty="0" smtClean="0"/>
              <a:t>Do all LINACs require an RF Driver?</a:t>
            </a:r>
          </a:p>
          <a:p>
            <a:pPr lvl="1"/>
            <a:r>
              <a:rPr lang="en-US" b="1" i="1" dirty="0" smtClean="0"/>
              <a:t>No</a:t>
            </a:r>
          </a:p>
          <a:p>
            <a:endParaRPr lang="en-US" dirty="0" smtClean="0"/>
          </a:p>
          <a:p>
            <a:r>
              <a:rPr lang="en-US" dirty="0" smtClean="0"/>
              <a:t>LINACs with what component require one?</a:t>
            </a:r>
          </a:p>
          <a:p>
            <a:pPr lvl="1"/>
            <a:r>
              <a:rPr lang="en-US" b="1" i="1" dirty="0" smtClean="0"/>
              <a:t>Only LINACs with klystrons require an RF Driver</a:t>
            </a:r>
          </a:p>
          <a:p>
            <a:pPr lvl="1"/>
            <a:r>
              <a:rPr lang="en-US" b="1" i="1" dirty="0" smtClean="0"/>
              <a:t>LINACs with magnetrons do not require RF Drivers</a:t>
            </a:r>
          </a:p>
          <a:p>
            <a:endParaRPr lang="en-US" dirty="0"/>
          </a:p>
        </p:txBody>
      </p:sp>
    </p:spTree>
    <p:extLst>
      <p:ext uri="{BB962C8B-B14F-4D97-AF65-F5344CB8AC3E}">
        <p14:creationId xmlns:p14="http://schemas.microsoft.com/office/powerpoint/2010/main" val="55967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Klystron</a:t>
            </a:r>
            <a:endParaRPr lang="en-US" dirty="0"/>
          </a:p>
        </p:txBody>
      </p:sp>
      <p:sp>
        <p:nvSpPr>
          <p:cNvPr id="3" name="Content Placeholder 2"/>
          <p:cNvSpPr>
            <a:spLocks noGrp="1"/>
          </p:cNvSpPr>
          <p:nvPr>
            <p:ph idx="1"/>
          </p:nvPr>
        </p:nvSpPr>
        <p:spPr>
          <a:xfrm>
            <a:off x="838200" y="1825625"/>
            <a:ext cx="6553200" cy="4351338"/>
          </a:xfrm>
        </p:spPr>
        <p:txBody>
          <a:bodyPr>
            <a:normAutofit lnSpcReduction="10000"/>
          </a:bodyPr>
          <a:lstStyle/>
          <a:p>
            <a:r>
              <a:rPr lang="en-US" dirty="0" smtClean="0"/>
              <a:t>Klystron is a </a:t>
            </a:r>
            <a:r>
              <a:rPr lang="en-US" u="sng" dirty="0" smtClean="0"/>
              <a:t>microwave amplifier</a:t>
            </a:r>
          </a:p>
          <a:p>
            <a:endParaRPr lang="en-US" dirty="0" smtClean="0"/>
          </a:p>
          <a:p>
            <a:r>
              <a:rPr lang="en-US" dirty="0" smtClean="0"/>
              <a:t>Needs low power microwave source input to operate</a:t>
            </a:r>
          </a:p>
          <a:p>
            <a:pPr lvl="1"/>
            <a:r>
              <a:rPr lang="en-US" dirty="0" smtClean="0"/>
              <a:t>RF driver provides this microwave input</a:t>
            </a:r>
          </a:p>
          <a:p>
            <a:pPr lvl="1"/>
            <a:endParaRPr lang="en-US" dirty="0"/>
          </a:p>
          <a:p>
            <a:r>
              <a:rPr lang="en-US" dirty="0" smtClean="0"/>
              <a:t>Takes 100-300 Watt input from RF driver and steps it up to ~5-10MW</a:t>
            </a:r>
          </a:p>
          <a:p>
            <a:endParaRPr lang="en-US" dirty="0"/>
          </a:p>
          <a:p>
            <a:r>
              <a:rPr lang="en-US" dirty="0" smtClean="0"/>
              <a:t>Operates like a mini-</a:t>
            </a:r>
            <a:r>
              <a:rPr lang="en-US" dirty="0" err="1" smtClean="0"/>
              <a:t>linac</a:t>
            </a:r>
            <a:endParaRPr lang="en-US" dirty="0" smtClean="0"/>
          </a:p>
          <a:p>
            <a:pPr lvl="1"/>
            <a:endParaRPr lang="en-US" dirty="0"/>
          </a:p>
        </p:txBody>
      </p:sp>
      <p:pic>
        <p:nvPicPr>
          <p:cNvPr id="4" name="Picture 3"/>
          <p:cNvPicPr>
            <a:picLocks noChangeAspect="1"/>
          </p:cNvPicPr>
          <p:nvPr/>
        </p:nvPicPr>
        <p:blipFill>
          <a:blip r:embed="rId2"/>
          <a:stretch>
            <a:fillRect/>
          </a:stretch>
        </p:blipFill>
        <p:spPr>
          <a:xfrm>
            <a:off x="7566039" y="2105024"/>
            <a:ext cx="4491402" cy="3114675"/>
          </a:xfrm>
          <a:prstGeom prst="rect">
            <a:avLst/>
          </a:prstGeom>
        </p:spPr>
      </p:pic>
    </p:spTree>
    <p:extLst>
      <p:ext uri="{BB962C8B-B14F-4D97-AF65-F5344CB8AC3E}">
        <p14:creationId xmlns:p14="http://schemas.microsoft.com/office/powerpoint/2010/main" val="3839352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Klystron</a:t>
            </a:r>
            <a:endParaRPr lang="en-US" dirty="0"/>
          </a:p>
        </p:txBody>
      </p:sp>
      <p:sp>
        <p:nvSpPr>
          <p:cNvPr id="3" name="Content Placeholder 2"/>
          <p:cNvSpPr>
            <a:spLocks noGrp="1"/>
          </p:cNvSpPr>
          <p:nvPr>
            <p:ph idx="1"/>
          </p:nvPr>
        </p:nvSpPr>
        <p:spPr>
          <a:xfrm>
            <a:off x="838201" y="1597024"/>
            <a:ext cx="6411686" cy="5260976"/>
          </a:xfrm>
        </p:spPr>
        <p:txBody>
          <a:bodyPr>
            <a:normAutofit fontScale="77500" lnSpcReduction="20000"/>
          </a:bodyPr>
          <a:lstStyle/>
          <a:p>
            <a:r>
              <a:rPr lang="en-US" dirty="0" smtClean="0"/>
              <a:t>Its own separate</a:t>
            </a:r>
            <a:r>
              <a:rPr lang="en-US" i="1" dirty="0" smtClean="0"/>
              <a:t> </a:t>
            </a:r>
            <a:r>
              <a:rPr lang="en-US" dirty="0"/>
              <a:t>e</a:t>
            </a:r>
            <a:r>
              <a:rPr lang="en-US" dirty="0" smtClean="0"/>
              <a:t>lectron gun emits electrons which are injected into </a:t>
            </a:r>
            <a:r>
              <a:rPr lang="en-US" dirty="0" err="1" smtClean="0"/>
              <a:t>buncher</a:t>
            </a:r>
            <a:r>
              <a:rPr lang="en-US" dirty="0" smtClean="0"/>
              <a:t> cavity</a:t>
            </a:r>
          </a:p>
          <a:p>
            <a:pPr lvl="1"/>
            <a:endParaRPr lang="en-US" dirty="0"/>
          </a:p>
          <a:p>
            <a:r>
              <a:rPr lang="en-US" dirty="0" smtClean="0"/>
              <a:t>Microwave input from RF driver is also sent into the </a:t>
            </a:r>
            <a:r>
              <a:rPr lang="en-US" dirty="0" err="1" smtClean="0"/>
              <a:t>buncher</a:t>
            </a:r>
            <a:r>
              <a:rPr lang="en-US" dirty="0" smtClean="0"/>
              <a:t> cavity</a:t>
            </a:r>
          </a:p>
          <a:p>
            <a:pPr lvl="1"/>
            <a:endParaRPr lang="en-US" dirty="0"/>
          </a:p>
          <a:p>
            <a:r>
              <a:rPr lang="en-US" dirty="0" smtClean="0"/>
              <a:t>Electrons are bunched together as oscillating E-field of microwave input causes either an accelerating or retarding force on the electrons depending on when they enter the cavity</a:t>
            </a:r>
          </a:p>
          <a:p>
            <a:endParaRPr lang="en-US" dirty="0"/>
          </a:p>
          <a:p>
            <a:r>
              <a:rPr lang="en-US" dirty="0" smtClean="0"/>
              <a:t>Lack of voltage difference between </a:t>
            </a:r>
            <a:r>
              <a:rPr lang="en-US" dirty="0" err="1" smtClean="0"/>
              <a:t>buncher</a:t>
            </a:r>
            <a:r>
              <a:rPr lang="en-US" dirty="0" smtClean="0"/>
              <a:t> and catcher (this region is called the drift tube) encourages the bunching effect</a:t>
            </a:r>
          </a:p>
          <a:p>
            <a:pPr lvl="1"/>
            <a:endParaRPr lang="en-US" dirty="0"/>
          </a:p>
          <a:p>
            <a:r>
              <a:rPr lang="en-US" dirty="0" smtClean="0"/>
              <a:t>High power microwave output produced by passing electron bunches is extracted by the catcher cavity</a:t>
            </a:r>
            <a:endParaRPr lang="en-US" dirty="0"/>
          </a:p>
        </p:txBody>
      </p:sp>
      <p:pic>
        <p:nvPicPr>
          <p:cNvPr id="4" name="Picture 3"/>
          <p:cNvPicPr>
            <a:picLocks noChangeAspect="1"/>
          </p:cNvPicPr>
          <p:nvPr/>
        </p:nvPicPr>
        <p:blipFill>
          <a:blip r:embed="rId2"/>
          <a:stretch>
            <a:fillRect/>
          </a:stretch>
        </p:blipFill>
        <p:spPr>
          <a:xfrm>
            <a:off x="7426339" y="365125"/>
            <a:ext cx="4491402" cy="3114675"/>
          </a:xfrm>
          <a:prstGeom prst="rect">
            <a:avLst/>
          </a:prstGeom>
        </p:spPr>
      </p:pic>
      <p:pic>
        <p:nvPicPr>
          <p:cNvPr id="6" name="Picture 5"/>
          <p:cNvPicPr>
            <a:picLocks noChangeAspect="1"/>
          </p:cNvPicPr>
          <p:nvPr/>
        </p:nvPicPr>
        <p:blipFill rotWithShape="1">
          <a:blip r:embed="rId3"/>
          <a:srcRect t="13241"/>
          <a:stretch/>
        </p:blipFill>
        <p:spPr>
          <a:xfrm>
            <a:off x="7426340" y="4001294"/>
            <a:ext cx="4491402" cy="2693987"/>
          </a:xfrm>
          <a:prstGeom prst="rect">
            <a:avLst/>
          </a:prstGeom>
        </p:spPr>
      </p:pic>
    </p:spTree>
    <p:extLst>
      <p:ext uri="{BB962C8B-B14F-4D97-AF65-F5344CB8AC3E}">
        <p14:creationId xmlns:p14="http://schemas.microsoft.com/office/powerpoint/2010/main" val="20151625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5</a:t>
            </a:r>
            <a:endParaRPr lang="en-US" dirty="0"/>
          </a:p>
        </p:txBody>
      </p:sp>
      <p:sp>
        <p:nvSpPr>
          <p:cNvPr id="3" name="Content Placeholder 2"/>
          <p:cNvSpPr>
            <a:spLocks noGrp="1"/>
          </p:cNvSpPr>
          <p:nvPr>
            <p:ph idx="1"/>
          </p:nvPr>
        </p:nvSpPr>
        <p:spPr/>
        <p:txBody>
          <a:bodyPr/>
          <a:lstStyle/>
          <a:p>
            <a:r>
              <a:rPr lang="en-US" dirty="0" smtClean="0"/>
              <a:t>What is the alternative to klystron in high-power microwave generation?</a:t>
            </a:r>
          </a:p>
          <a:p>
            <a:endParaRPr lang="en-US" dirty="0"/>
          </a:p>
          <a:p>
            <a:r>
              <a:rPr lang="en-US" dirty="0" smtClean="0"/>
              <a:t>What are the advantages of this device?</a:t>
            </a:r>
          </a:p>
          <a:p>
            <a:endParaRPr lang="en-US" dirty="0"/>
          </a:p>
          <a:p>
            <a:r>
              <a:rPr lang="en-US" dirty="0" smtClean="0"/>
              <a:t>What are the disadvantages?</a:t>
            </a:r>
            <a:endParaRPr lang="en-US" dirty="0"/>
          </a:p>
        </p:txBody>
      </p:sp>
    </p:spTree>
    <p:extLst>
      <p:ext uri="{BB962C8B-B14F-4D97-AF65-F5344CB8AC3E}">
        <p14:creationId xmlns:p14="http://schemas.microsoft.com/office/powerpoint/2010/main" val="40774706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Magnetron</a:t>
            </a:r>
            <a:endParaRPr lang="en-US" dirty="0"/>
          </a:p>
        </p:txBody>
      </p:sp>
      <p:sp>
        <p:nvSpPr>
          <p:cNvPr id="3" name="Content Placeholder 2"/>
          <p:cNvSpPr>
            <a:spLocks noGrp="1"/>
          </p:cNvSpPr>
          <p:nvPr>
            <p:ph idx="1"/>
          </p:nvPr>
        </p:nvSpPr>
        <p:spPr>
          <a:xfrm>
            <a:off x="838200" y="1825624"/>
            <a:ext cx="5634789" cy="4635334"/>
          </a:xfrm>
        </p:spPr>
        <p:txBody>
          <a:bodyPr>
            <a:normAutofit fontScale="70000" lnSpcReduction="20000"/>
          </a:bodyPr>
          <a:lstStyle/>
          <a:p>
            <a:r>
              <a:rPr lang="en-US" dirty="0" smtClean="0"/>
              <a:t>Can be used as a </a:t>
            </a:r>
            <a:r>
              <a:rPr lang="en-US" u="sng" dirty="0" smtClean="0"/>
              <a:t>source</a:t>
            </a:r>
            <a:r>
              <a:rPr lang="en-US" dirty="0" smtClean="0"/>
              <a:t> of microwave power</a:t>
            </a:r>
          </a:p>
          <a:p>
            <a:pPr lvl="1"/>
            <a:r>
              <a:rPr lang="en-US" dirty="0" smtClean="0"/>
              <a:t>Does not need an RF driver</a:t>
            </a:r>
          </a:p>
          <a:p>
            <a:endParaRPr lang="en-US" dirty="0"/>
          </a:p>
          <a:p>
            <a:r>
              <a:rPr lang="en-US" dirty="0" smtClean="0"/>
              <a:t>Functions by boiling electrons off a central filament wrapped around a cathode</a:t>
            </a:r>
          </a:p>
          <a:p>
            <a:endParaRPr lang="en-US" dirty="0"/>
          </a:p>
          <a:p>
            <a:r>
              <a:rPr lang="en-US" dirty="0" smtClean="0"/>
              <a:t>Electrons are then attracted to positively charged anode on outer edge of magnetron</a:t>
            </a:r>
          </a:p>
          <a:p>
            <a:endParaRPr lang="en-US" dirty="0"/>
          </a:p>
          <a:p>
            <a:r>
              <a:rPr lang="en-US" dirty="0" smtClean="0"/>
              <a:t>In the presence of external magnetic field, these electrons take on a spiral trajectory</a:t>
            </a:r>
          </a:p>
          <a:p>
            <a:endParaRPr lang="en-US" dirty="0"/>
          </a:p>
          <a:p>
            <a:r>
              <a:rPr lang="en-US" dirty="0" smtClean="0"/>
              <a:t>As the electrons pass the cavity openings, a resonance phenomenon is introduced</a:t>
            </a:r>
          </a:p>
          <a:p>
            <a:pPr lvl="1"/>
            <a:r>
              <a:rPr lang="en-US" dirty="0" smtClean="0"/>
              <a:t>This leads to generation of microwaves at the resonant frequency</a:t>
            </a:r>
          </a:p>
          <a:p>
            <a:endParaRPr lang="en-US" u="sng" dirty="0"/>
          </a:p>
          <a:p>
            <a:endParaRPr lang="en-US" u="sng" dirty="0"/>
          </a:p>
        </p:txBody>
      </p:sp>
      <p:pic>
        <p:nvPicPr>
          <p:cNvPr id="4" name="Picture 3"/>
          <p:cNvPicPr>
            <a:picLocks noChangeAspect="1"/>
          </p:cNvPicPr>
          <p:nvPr/>
        </p:nvPicPr>
        <p:blipFill>
          <a:blip r:embed="rId2"/>
          <a:stretch>
            <a:fillRect/>
          </a:stretch>
        </p:blipFill>
        <p:spPr>
          <a:xfrm>
            <a:off x="6589424" y="84215"/>
            <a:ext cx="5478249" cy="3538036"/>
          </a:xfrm>
          <a:prstGeom prst="rect">
            <a:avLst/>
          </a:prstGeom>
        </p:spPr>
      </p:pic>
      <p:pic>
        <p:nvPicPr>
          <p:cNvPr id="5" name="Picture 4"/>
          <p:cNvPicPr>
            <a:picLocks noChangeAspect="1"/>
          </p:cNvPicPr>
          <p:nvPr/>
        </p:nvPicPr>
        <p:blipFill>
          <a:blip r:embed="rId3"/>
          <a:stretch>
            <a:fillRect/>
          </a:stretch>
        </p:blipFill>
        <p:spPr>
          <a:xfrm>
            <a:off x="7852173" y="3750343"/>
            <a:ext cx="2952750" cy="2990850"/>
          </a:xfrm>
          <a:prstGeom prst="rect">
            <a:avLst/>
          </a:prstGeom>
        </p:spPr>
      </p:pic>
    </p:spTree>
    <p:extLst>
      <p:ext uri="{BB962C8B-B14F-4D97-AF65-F5344CB8AC3E}">
        <p14:creationId xmlns:p14="http://schemas.microsoft.com/office/powerpoint/2010/main" val="28580891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5</a:t>
            </a:r>
            <a:endParaRPr lang="en-US" dirty="0"/>
          </a:p>
        </p:txBody>
      </p:sp>
      <p:sp>
        <p:nvSpPr>
          <p:cNvPr id="3" name="Content Placeholder 2"/>
          <p:cNvSpPr>
            <a:spLocks noGrp="1"/>
          </p:cNvSpPr>
          <p:nvPr>
            <p:ph idx="1"/>
          </p:nvPr>
        </p:nvSpPr>
        <p:spPr/>
        <p:txBody>
          <a:bodyPr/>
          <a:lstStyle/>
          <a:p>
            <a:r>
              <a:rPr lang="en-US" dirty="0" smtClean="0"/>
              <a:t>What is the alternative to klystron in high-power microwave generation?</a:t>
            </a:r>
          </a:p>
          <a:p>
            <a:endParaRPr lang="en-US" dirty="0"/>
          </a:p>
          <a:p>
            <a:r>
              <a:rPr lang="en-US" dirty="0" smtClean="0"/>
              <a:t>What are the advantages of this device?</a:t>
            </a:r>
          </a:p>
          <a:p>
            <a:endParaRPr lang="en-US" dirty="0"/>
          </a:p>
          <a:p>
            <a:r>
              <a:rPr lang="en-US" dirty="0" smtClean="0"/>
              <a:t>What are the disadvantages?</a:t>
            </a:r>
            <a:endParaRPr lang="en-US" dirty="0"/>
          </a:p>
        </p:txBody>
      </p:sp>
    </p:spTree>
    <p:extLst>
      <p:ext uri="{BB962C8B-B14F-4D97-AF65-F5344CB8AC3E}">
        <p14:creationId xmlns:p14="http://schemas.microsoft.com/office/powerpoint/2010/main" val="29844391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5</a:t>
            </a:r>
            <a:endParaRPr lang="en-US" dirty="0"/>
          </a:p>
        </p:txBody>
      </p:sp>
      <p:sp>
        <p:nvSpPr>
          <p:cNvPr id="3" name="Content Placeholder 2"/>
          <p:cNvSpPr>
            <a:spLocks noGrp="1"/>
          </p:cNvSpPr>
          <p:nvPr>
            <p:ph idx="1"/>
          </p:nvPr>
        </p:nvSpPr>
        <p:spPr>
          <a:xfrm>
            <a:off x="838200" y="1825625"/>
            <a:ext cx="6464968" cy="4351338"/>
          </a:xfrm>
        </p:spPr>
        <p:txBody>
          <a:bodyPr/>
          <a:lstStyle/>
          <a:p>
            <a:r>
              <a:rPr lang="en-US" dirty="0" smtClean="0"/>
              <a:t>What is the alternative to klystron in high-power microwave generation?</a:t>
            </a:r>
          </a:p>
          <a:p>
            <a:pPr lvl="1"/>
            <a:r>
              <a:rPr lang="en-US" b="1" i="1" dirty="0" smtClean="0"/>
              <a:t>Magnetron</a:t>
            </a:r>
            <a:endParaRPr lang="en-US" dirty="0"/>
          </a:p>
          <a:p>
            <a:r>
              <a:rPr lang="en-US" dirty="0" smtClean="0"/>
              <a:t>What are the advantages of this device?</a:t>
            </a:r>
          </a:p>
          <a:p>
            <a:pPr lvl="1"/>
            <a:r>
              <a:rPr lang="en-US" b="1" i="1" dirty="0" smtClean="0"/>
              <a:t>Microwave source</a:t>
            </a:r>
          </a:p>
          <a:p>
            <a:pPr lvl="1"/>
            <a:r>
              <a:rPr lang="en-US" b="1" i="1" dirty="0" smtClean="0"/>
              <a:t>Smaller</a:t>
            </a:r>
          </a:p>
          <a:p>
            <a:pPr lvl="1"/>
            <a:r>
              <a:rPr lang="en-US" b="1" i="1" dirty="0" smtClean="0"/>
              <a:t>Cheaper</a:t>
            </a:r>
            <a:endParaRPr lang="en-US" dirty="0"/>
          </a:p>
          <a:p>
            <a:r>
              <a:rPr lang="en-US" dirty="0" smtClean="0"/>
              <a:t>What are the disadvantages?</a:t>
            </a:r>
          </a:p>
          <a:p>
            <a:pPr lvl="1"/>
            <a:r>
              <a:rPr lang="en-US" b="1" i="1" dirty="0" smtClean="0"/>
              <a:t>Lower microwave output power</a:t>
            </a:r>
          </a:p>
          <a:p>
            <a:pPr lvl="1"/>
            <a:r>
              <a:rPr lang="en-US" b="1" i="1" dirty="0" smtClean="0"/>
              <a:t>Shorter lifespan</a:t>
            </a:r>
            <a:endParaRPr lang="en-US" b="1" i="1" dirty="0"/>
          </a:p>
        </p:txBody>
      </p:sp>
      <p:pic>
        <p:nvPicPr>
          <p:cNvPr id="4" name="Picture 3"/>
          <p:cNvPicPr>
            <a:picLocks noChangeAspect="1"/>
          </p:cNvPicPr>
          <p:nvPr/>
        </p:nvPicPr>
        <p:blipFill rotWithShape="1">
          <a:blip r:embed="rId2"/>
          <a:srcRect l="1255" r="4936"/>
          <a:stretch/>
        </p:blipFill>
        <p:spPr>
          <a:xfrm>
            <a:off x="7098631" y="2444954"/>
            <a:ext cx="5031162" cy="3611689"/>
          </a:xfrm>
          <a:prstGeom prst="rect">
            <a:avLst/>
          </a:prstGeom>
        </p:spPr>
      </p:pic>
    </p:spTree>
    <p:extLst>
      <p:ext uri="{BB962C8B-B14F-4D97-AF65-F5344CB8AC3E}">
        <p14:creationId xmlns:p14="http://schemas.microsoft.com/office/powerpoint/2010/main" val="9685711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6</a:t>
            </a:r>
            <a:endParaRPr lang="en-US" dirty="0"/>
          </a:p>
        </p:txBody>
      </p:sp>
      <p:sp>
        <p:nvSpPr>
          <p:cNvPr id="3" name="Content Placeholder 2"/>
          <p:cNvSpPr>
            <a:spLocks noGrp="1"/>
          </p:cNvSpPr>
          <p:nvPr>
            <p:ph idx="1"/>
          </p:nvPr>
        </p:nvSpPr>
        <p:spPr/>
        <p:txBody>
          <a:bodyPr/>
          <a:lstStyle/>
          <a:p>
            <a:r>
              <a:rPr lang="en-US" dirty="0" smtClean="0"/>
              <a:t>What is the biggest limiting factor when considering designing a </a:t>
            </a:r>
            <a:r>
              <a:rPr lang="en-US" dirty="0" err="1" smtClean="0"/>
              <a:t>linac</a:t>
            </a:r>
            <a:r>
              <a:rPr lang="en-US" dirty="0" smtClean="0"/>
              <a:t> with a magnetron? </a:t>
            </a:r>
          </a:p>
          <a:p>
            <a:endParaRPr lang="en-US" dirty="0"/>
          </a:p>
          <a:p>
            <a:r>
              <a:rPr lang="en-US" dirty="0" smtClean="0"/>
              <a:t>Which </a:t>
            </a:r>
            <a:r>
              <a:rPr lang="en-US" dirty="0" err="1" smtClean="0"/>
              <a:t>linacs</a:t>
            </a:r>
            <a:r>
              <a:rPr lang="en-US" dirty="0" smtClean="0"/>
              <a:t> use magnetron? Which use klystron?</a:t>
            </a:r>
            <a:endParaRPr lang="en-US" dirty="0"/>
          </a:p>
        </p:txBody>
      </p:sp>
    </p:spTree>
    <p:extLst>
      <p:ext uri="{BB962C8B-B14F-4D97-AF65-F5344CB8AC3E}">
        <p14:creationId xmlns:p14="http://schemas.microsoft.com/office/powerpoint/2010/main" val="7517122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6</a:t>
            </a:r>
            <a:endParaRPr lang="en-US" dirty="0"/>
          </a:p>
        </p:txBody>
      </p:sp>
      <p:sp>
        <p:nvSpPr>
          <p:cNvPr id="3" name="Content Placeholder 2"/>
          <p:cNvSpPr>
            <a:spLocks noGrp="1"/>
          </p:cNvSpPr>
          <p:nvPr>
            <p:ph idx="1"/>
          </p:nvPr>
        </p:nvSpPr>
        <p:spPr/>
        <p:txBody>
          <a:bodyPr/>
          <a:lstStyle/>
          <a:p>
            <a:r>
              <a:rPr lang="en-US" dirty="0" smtClean="0"/>
              <a:t>What is the biggest limiting factor when considering designing a </a:t>
            </a:r>
            <a:r>
              <a:rPr lang="en-US" dirty="0" err="1" smtClean="0"/>
              <a:t>linac</a:t>
            </a:r>
            <a:r>
              <a:rPr lang="en-US" dirty="0" smtClean="0"/>
              <a:t> with a magnetron? </a:t>
            </a:r>
          </a:p>
          <a:p>
            <a:pPr lvl="1"/>
            <a:r>
              <a:rPr lang="en-US" b="1" i="1" dirty="0" smtClean="0"/>
              <a:t>Reduced output power limits maximum achievable E of </a:t>
            </a:r>
            <a:r>
              <a:rPr lang="en-US" b="1" i="1" dirty="0" err="1" smtClean="0"/>
              <a:t>linac</a:t>
            </a:r>
            <a:endParaRPr lang="en-US" b="1" i="1" dirty="0" smtClean="0"/>
          </a:p>
          <a:p>
            <a:pPr marL="0" indent="0">
              <a:buNone/>
            </a:pPr>
            <a:endParaRPr lang="en-US" dirty="0"/>
          </a:p>
          <a:p>
            <a:r>
              <a:rPr lang="en-US" dirty="0" smtClean="0"/>
              <a:t>Which </a:t>
            </a:r>
            <a:r>
              <a:rPr lang="en-US" dirty="0" err="1" smtClean="0"/>
              <a:t>linacs</a:t>
            </a:r>
            <a:r>
              <a:rPr lang="en-US" dirty="0" smtClean="0"/>
              <a:t> use magnetron? Which use klystron?</a:t>
            </a:r>
          </a:p>
          <a:p>
            <a:pPr lvl="1"/>
            <a:r>
              <a:rPr lang="en-US" b="1" i="1" dirty="0" err="1" smtClean="0"/>
              <a:t>Tomotherapy</a:t>
            </a:r>
            <a:r>
              <a:rPr lang="en-US" b="1" i="1" dirty="0" smtClean="0"/>
              <a:t>, </a:t>
            </a:r>
            <a:r>
              <a:rPr lang="en-US" b="1" i="1" dirty="0" err="1" smtClean="0"/>
              <a:t>Cyberknife</a:t>
            </a:r>
            <a:r>
              <a:rPr lang="en-US" b="1" i="1" dirty="0" smtClean="0"/>
              <a:t> both use magnetron as they only deliver 6MV. Smaller size of magnetron advantageous for those designs. </a:t>
            </a:r>
          </a:p>
          <a:p>
            <a:pPr lvl="1"/>
            <a:r>
              <a:rPr lang="en-US" b="1" i="1" dirty="0" err="1" smtClean="0"/>
              <a:t>Elekta</a:t>
            </a:r>
            <a:r>
              <a:rPr lang="en-US" b="1" i="1" dirty="0" smtClean="0"/>
              <a:t> also uses magnetron</a:t>
            </a:r>
          </a:p>
          <a:p>
            <a:pPr lvl="1"/>
            <a:r>
              <a:rPr lang="en-US" b="1" i="1" dirty="0" smtClean="0"/>
              <a:t>Varian uses klystron</a:t>
            </a:r>
          </a:p>
        </p:txBody>
      </p:sp>
    </p:spTree>
    <p:extLst>
      <p:ext uri="{BB962C8B-B14F-4D97-AF65-F5344CB8AC3E}">
        <p14:creationId xmlns:p14="http://schemas.microsoft.com/office/powerpoint/2010/main" val="42815750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Circulator</a:t>
            </a:r>
            <a:endParaRPr lang="en-US" dirty="0"/>
          </a:p>
        </p:txBody>
      </p:sp>
      <p:sp>
        <p:nvSpPr>
          <p:cNvPr id="3" name="Content Placeholder 2"/>
          <p:cNvSpPr>
            <a:spLocks noGrp="1"/>
          </p:cNvSpPr>
          <p:nvPr>
            <p:ph idx="1"/>
          </p:nvPr>
        </p:nvSpPr>
        <p:spPr>
          <a:xfrm>
            <a:off x="838200" y="1825625"/>
            <a:ext cx="6164179" cy="4351338"/>
          </a:xfrm>
        </p:spPr>
        <p:txBody>
          <a:bodyPr>
            <a:normAutofit fontScale="92500"/>
          </a:bodyPr>
          <a:lstStyle/>
          <a:p>
            <a:r>
              <a:rPr lang="en-US" dirty="0" smtClean="0"/>
              <a:t>One-way microwave valve</a:t>
            </a:r>
          </a:p>
          <a:p>
            <a:endParaRPr lang="en-US" dirty="0" smtClean="0"/>
          </a:p>
          <a:p>
            <a:r>
              <a:rPr lang="en-US" dirty="0" smtClean="0"/>
              <a:t>Prevents any reflected microwaves from returning to the klystron and RF driver, which would potentially damage them</a:t>
            </a:r>
          </a:p>
          <a:p>
            <a:endParaRPr lang="en-US" dirty="0"/>
          </a:p>
          <a:p>
            <a:r>
              <a:rPr lang="en-US" dirty="0" smtClean="0"/>
              <a:t>Diverts reflected microwaves to a water load (for heat dissipation) or back to the accelerator waveguide so they aren’t wasted</a:t>
            </a:r>
            <a:endParaRPr lang="en-US" dirty="0"/>
          </a:p>
        </p:txBody>
      </p:sp>
      <p:pic>
        <p:nvPicPr>
          <p:cNvPr id="4" name="Picture 3"/>
          <p:cNvPicPr>
            <a:picLocks noChangeAspect="1"/>
          </p:cNvPicPr>
          <p:nvPr/>
        </p:nvPicPr>
        <p:blipFill>
          <a:blip r:embed="rId2"/>
          <a:stretch>
            <a:fillRect/>
          </a:stretch>
        </p:blipFill>
        <p:spPr>
          <a:xfrm>
            <a:off x="7126512" y="2120420"/>
            <a:ext cx="5065488" cy="3761748"/>
          </a:xfrm>
          <a:prstGeom prst="rect">
            <a:avLst/>
          </a:prstGeom>
        </p:spPr>
      </p:pic>
    </p:spTree>
    <p:extLst>
      <p:ext uri="{BB962C8B-B14F-4D97-AF65-F5344CB8AC3E}">
        <p14:creationId xmlns:p14="http://schemas.microsoft.com/office/powerpoint/2010/main" val="34737809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Electron Gun</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657727" y="1490207"/>
            <a:ext cx="6762750" cy="5022173"/>
          </a:xfrm>
          <a:prstGeom prst="rect">
            <a:avLst/>
          </a:prstGeom>
        </p:spPr>
      </p:pic>
    </p:spTree>
    <p:extLst>
      <p:ext uri="{BB962C8B-B14F-4D97-AF65-F5344CB8AC3E}">
        <p14:creationId xmlns:p14="http://schemas.microsoft.com/office/powerpoint/2010/main" val="40554998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Electron Gun</a:t>
            </a:r>
            <a:endParaRPr lang="en-US" dirty="0"/>
          </a:p>
        </p:txBody>
      </p:sp>
      <p:sp>
        <p:nvSpPr>
          <p:cNvPr id="3" name="Content Placeholder 2"/>
          <p:cNvSpPr>
            <a:spLocks noGrp="1"/>
          </p:cNvSpPr>
          <p:nvPr>
            <p:ph idx="1"/>
          </p:nvPr>
        </p:nvSpPr>
        <p:spPr>
          <a:xfrm>
            <a:off x="838200" y="1825626"/>
            <a:ext cx="10515600" cy="1230396"/>
          </a:xfrm>
        </p:spPr>
        <p:txBody>
          <a:bodyPr/>
          <a:lstStyle/>
          <a:p>
            <a:r>
              <a:rPr lang="en-US" dirty="0" smtClean="0"/>
              <a:t>In modern </a:t>
            </a:r>
            <a:r>
              <a:rPr lang="en-US" dirty="0" err="1" smtClean="0"/>
              <a:t>linacs</a:t>
            </a:r>
            <a:r>
              <a:rPr lang="en-US" dirty="0" smtClean="0"/>
              <a:t>, typical gun design is called a triode electron gun</a:t>
            </a:r>
          </a:p>
          <a:p>
            <a:pPr lvl="1"/>
            <a:r>
              <a:rPr lang="en-US" dirty="0" smtClean="0"/>
              <a:t>Consists of cathode, anode, and electrified grid</a:t>
            </a:r>
          </a:p>
          <a:p>
            <a:endParaRPr lang="en-US" dirty="0"/>
          </a:p>
        </p:txBody>
      </p:sp>
      <p:pic>
        <p:nvPicPr>
          <p:cNvPr id="4" name="Picture 3"/>
          <p:cNvPicPr>
            <a:picLocks noChangeAspect="1"/>
          </p:cNvPicPr>
          <p:nvPr/>
        </p:nvPicPr>
        <p:blipFill>
          <a:blip r:embed="rId2"/>
          <a:stretch>
            <a:fillRect/>
          </a:stretch>
        </p:blipFill>
        <p:spPr>
          <a:xfrm>
            <a:off x="2328853" y="3007894"/>
            <a:ext cx="6742958" cy="3610281"/>
          </a:xfrm>
          <a:prstGeom prst="rect">
            <a:avLst/>
          </a:prstGeom>
        </p:spPr>
      </p:pic>
    </p:spTree>
    <p:extLst>
      <p:ext uri="{BB962C8B-B14F-4D97-AF65-F5344CB8AC3E}">
        <p14:creationId xmlns:p14="http://schemas.microsoft.com/office/powerpoint/2010/main" val="31430894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7</a:t>
            </a:r>
            <a:endParaRPr lang="en-US" dirty="0"/>
          </a:p>
        </p:txBody>
      </p:sp>
      <p:sp>
        <p:nvSpPr>
          <p:cNvPr id="3" name="Content Placeholder 2"/>
          <p:cNvSpPr>
            <a:spLocks noGrp="1"/>
          </p:cNvSpPr>
          <p:nvPr>
            <p:ph idx="1"/>
          </p:nvPr>
        </p:nvSpPr>
        <p:spPr/>
        <p:txBody>
          <a:bodyPr/>
          <a:lstStyle/>
          <a:p>
            <a:r>
              <a:rPr lang="en-US" dirty="0" smtClean="0"/>
              <a:t>What material is the filament of the electron gun?</a:t>
            </a:r>
          </a:p>
          <a:p>
            <a:endParaRPr lang="en-US" dirty="0"/>
          </a:p>
          <a:p>
            <a:r>
              <a:rPr lang="en-US" dirty="0" smtClean="0"/>
              <a:t>What is the process called in which the electrons are generated from the filament?</a:t>
            </a:r>
            <a:endParaRPr lang="en-US" dirty="0"/>
          </a:p>
        </p:txBody>
      </p:sp>
    </p:spTree>
    <p:extLst>
      <p:ext uri="{BB962C8B-B14F-4D97-AF65-F5344CB8AC3E}">
        <p14:creationId xmlns:p14="http://schemas.microsoft.com/office/powerpoint/2010/main" val="12540626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7</a:t>
            </a:r>
            <a:endParaRPr lang="en-US" dirty="0"/>
          </a:p>
        </p:txBody>
      </p:sp>
      <p:sp>
        <p:nvSpPr>
          <p:cNvPr id="3" name="Content Placeholder 2"/>
          <p:cNvSpPr>
            <a:spLocks noGrp="1"/>
          </p:cNvSpPr>
          <p:nvPr>
            <p:ph idx="1"/>
          </p:nvPr>
        </p:nvSpPr>
        <p:spPr/>
        <p:txBody>
          <a:bodyPr/>
          <a:lstStyle/>
          <a:p>
            <a:r>
              <a:rPr lang="en-US" dirty="0" smtClean="0"/>
              <a:t>What material is the filament of the electron gun?</a:t>
            </a:r>
          </a:p>
          <a:p>
            <a:pPr lvl="1"/>
            <a:r>
              <a:rPr lang="en-US" b="1" dirty="0" smtClean="0"/>
              <a:t>Tungsten doped with barium oxide</a:t>
            </a:r>
          </a:p>
          <a:p>
            <a:pPr lvl="2"/>
            <a:r>
              <a:rPr lang="en-US" b="1" dirty="0" smtClean="0"/>
              <a:t>Tungsten used for its high melting point (3422</a:t>
            </a:r>
            <a:r>
              <a:rPr lang="en-US" b="1" baseline="30000" dirty="0" smtClean="0"/>
              <a:t>0</a:t>
            </a:r>
            <a:r>
              <a:rPr lang="en-US" b="1" dirty="0" smtClean="0"/>
              <a:t>C)</a:t>
            </a:r>
          </a:p>
          <a:p>
            <a:pPr lvl="2"/>
            <a:r>
              <a:rPr lang="en-US" b="1" dirty="0" smtClean="0"/>
              <a:t>Barium used as it is a good donor of electrons that are easily boiled off</a:t>
            </a:r>
          </a:p>
          <a:p>
            <a:endParaRPr lang="en-US" dirty="0"/>
          </a:p>
          <a:p>
            <a:r>
              <a:rPr lang="en-US" dirty="0" smtClean="0"/>
              <a:t>What is the process called in which the electrons are generated from the filament?</a:t>
            </a:r>
          </a:p>
          <a:p>
            <a:pPr lvl="1"/>
            <a:r>
              <a:rPr lang="en-US" b="1" dirty="0" smtClean="0"/>
              <a:t>Thermionic emission </a:t>
            </a:r>
            <a:r>
              <a:rPr lang="en-US" b="1" dirty="0" smtClean="0">
                <a:sym typeface="Wingdings" panose="05000000000000000000" pitchFamily="2" charset="2"/>
              </a:rPr>
              <a:t> filament heated until electrons are boiled off</a:t>
            </a:r>
            <a:endParaRPr lang="en-US" b="1" dirty="0"/>
          </a:p>
        </p:txBody>
      </p:sp>
    </p:spTree>
    <p:extLst>
      <p:ext uri="{BB962C8B-B14F-4D97-AF65-F5344CB8AC3E}">
        <p14:creationId xmlns:p14="http://schemas.microsoft.com/office/powerpoint/2010/main" val="33912480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Electron Gun</a:t>
            </a:r>
            <a:endParaRPr lang="en-US" dirty="0"/>
          </a:p>
        </p:txBody>
      </p:sp>
      <p:sp>
        <p:nvSpPr>
          <p:cNvPr id="3" name="Content Placeholder 2"/>
          <p:cNvSpPr>
            <a:spLocks noGrp="1"/>
          </p:cNvSpPr>
          <p:nvPr>
            <p:ph idx="1"/>
          </p:nvPr>
        </p:nvSpPr>
        <p:spPr>
          <a:xfrm>
            <a:off x="838200" y="1825625"/>
            <a:ext cx="10515600" cy="1771817"/>
          </a:xfrm>
        </p:spPr>
        <p:txBody>
          <a:bodyPr/>
          <a:lstStyle/>
          <a:p>
            <a:r>
              <a:rPr lang="en-US" dirty="0" smtClean="0"/>
              <a:t>Anode is usually doughnut shaped and given a positive charge to attract electrons toward it, which then pass through the hole</a:t>
            </a:r>
          </a:p>
          <a:p>
            <a:r>
              <a:rPr lang="en-US" dirty="0" smtClean="0"/>
              <a:t>Electrons then enter the accelerating waveguide at 15kV</a:t>
            </a:r>
            <a:endParaRPr lang="en-US" dirty="0"/>
          </a:p>
        </p:txBody>
      </p:sp>
      <p:pic>
        <p:nvPicPr>
          <p:cNvPr id="4" name="Picture 3"/>
          <p:cNvPicPr>
            <a:picLocks noChangeAspect="1"/>
          </p:cNvPicPr>
          <p:nvPr/>
        </p:nvPicPr>
        <p:blipFill rotWithShape="1">
          <a:blip r:embed="rId2"/>
          <a:srcRect t="5550"/>
          <a:stretch/>
        </p:blipFill>
        <p:spPr>
          <a:xfrm>
            <a:off x="1742323" y="3561346"/>
            <a:ext cx="8707354" cy="3255040"/>
          </a:xfrm>
          <a:prstGeom prst="rect">
            <a:avLst/>
          </a:prstGeom>
        </p:spPr>
      </p:pic>
    </p:spTree>
    <p:extLst>
      <p:ext uri="{BB962C8B-B14F-4D97-AF65-F5344CB8AC3E}">
        <p14:creationId xmlns:p14="http://schemas.microsoft.com/office/powerpoint/2010/main" val="39157861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8</a:t>
            </a:r>
            <a:endParaRPr lang="en-US" dirty="0"/>
          </a:p>
        </p:txBody>
      </p:sp>
      <p:sp>
        <p:nvSpPr>
          <p:cNvPr id="3" name="Content Placeholder 2"/>
          <p:cNvSpPr>
            <a:spLocks noGrp="1"/>
          </p:cNvSpPr>
          <p:nvPr>
            <p:ph idx="1"/>
          </p:nvPr>
        </p:nvSpPr>
        <p:spPr/>
        <p:txBody>
          <a:bodyPr/>
          <a:lstStyle/>
          <a:p>
            <a:r>
              <a:rPr lang="en-US" dirty="0" smtClean="0"/>
              <a:t>What is the purpose of the electrified grid? </a:t>
            </a:r>
          </a:p>
          <a:p>
            <a:pPr marL="0" indent="0">
              <a:buNone/>
            </a:pPr>
            <a:endParaRPr lang="en-US" dirty="0"/>
          </a:p>
        </p:txBody>
      </p:sp>
    </p:spTree>
    <p:extLst>
      <p:ext uri="{BB962C8B-B14F-4D97-AF65-F5344CB8AC3E}">
        <p14:creationId xmlns:p14="http://schemas.microsoft.com/office/powerpoint/2010/main" val="16590476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8</a:t>
            </a:r>
            <a:endParaRPr lang="en-US" dirty="0"/>
          </a:p>
        </p:txBody>
      </p:sp>
      <p:sp>
        <p:nvSpPr>
          <p:cNvPr id="3" name="Content Placeholder 2"/>
          <p:cNvSpPr>
            <a:spLocks noGrp="1"/>
          </p:cNvSpPr>
          <p:nvPr>
            <p:ph idx="1"/>
          </p:nvPr>
        </p:nvSpPr>
        <p:spPr>
          <a:xfrm>
            <a:off x="838200" y="1416050"/>
            <a:ext cx="10515600" cy="4351338"/>
          </a:xfrm>
        </p:spPr>
        <p:txBody>
          <a:bodyPr/>
          <a:lstStyle/>
          <a:p>
            <a:r>
              <a:rPr lang="en-US" dirty="0" smtClean="0"/>
              <a:t>What is the purpose of the electrified grid?</a:t>
            </a:r>
          </a:p>
          <a:p>
            <a:pPr lvl="1"/>
            <a:r>
              <a:rPr lang="en-US" b="1" i="1" dirty="0" smtClean="0"/>
              <a:t>The grid controls when electrons are allowed to be injected into the accelerating waveguide and when they are electrically deflected away</a:t>
            </a:r>
          </a:p>
          <a:p>
            <a:pPr lvl="1"/>
            <a:r>
              <a:rPr lang="en-US" b="1" i="1" dirty="0" smtClean="0"/>
              <a:t>This feature is used to control the dose rate of the </a:t>
            </a:r>
            <a:r>
              <a:rPr lang="en-US" b="1" i="1" dirty="0" err="1" smtClean="0"/>
              <a:t>linac</a:t>
            </a:r>
            <a:r>
              <a:rPr lang="en-US" b="1" i="1" dirty="0" smtClean="0"/>
              <a:t> by controlling the frequency of electron bunches being allowed to pass through</a:t>
            </a:r>
          </a:p>
          <a:p>
            <a:pPr marL="0" indent="0">
              <a:buNone/>
            </a:pPr>
            <a:endParaRPr lang="en-US" dirty="0"/>
          </a:p>
        </p:txBody>
      </p:sp>
      <p:pic>
        <p:nvPicPr>
          <p:cNvPr id="4" name="Picture 3"/>
          <p:cNvPicPr>
            <a:picLocks noChangeAspect="1"/>
          </p:cNvPicPr>
          <p:nvPr/>
        </p:nvPicPr>
        <p:blipFill>
          <a:blip r:embed="rId2"/>
          <a:stretch>
            <a:fillRect/>
          </a:stretch>
        </p:blipFill>
        <p:spPr>
          <a:xfrm>
            <a:off x="3418230" y="3443899"/>
            <a:ext cx="5030446" cy="3295038"/>
          </a:xfrm>
          <a:prstGeom prst="rect">
            <a:avLst/>
          </a:prstGeom>
        </p:spPr>
      </p:pic>
    </p:spTree>
    <p:extLst>
      <p:ext uri="{BB962C8B-B14F-4D97-AF65-F5344CB8AC3E}">
        <p14:creationId xmlns:p14="http://schemas.microsoft.com/office/powerpoint/2010/main" val="1892225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Accelerator Waveguide</a:t>
            </a:r>
            <a:endParaRPr lang="en-US" dirty="0"/>
          </a:p>
        </p:txBody>
      </p:sp>
      <p:sp>
        <p:nvSpPr>
          <p:cNvPr id="3" name="Content Placeholder 2"/>
          <p:cNvSpPr>
            <a:spLocks noGrp="1"/>
          </p:cNvSpPr>
          <p:nvPr>
            <p:ph idx="1"/>
          </p:nvPr>
        </p:nvSpPr>
        <p:spPr/>
        <p:txBody>
          <a:bodyPr/>
          <a:lstStyle/>
          <a:p>
            <a:r>
              <a:rPr lang="en-US" dirty="0" smtClean="0"/>
              <a:t>Electron gun receives pulses from the modulator’s PFN in phase with the klystron output so electrons are injected into the waveguide with the proper timing for optimal acceleration </a:t>
            </a:r>
            <a:endParaRPr lang="en-US" dirty="0"/>
          </a:p>
        </p:txBody>
      </p:sp>
      <p:pic>
        <p:nvPicPr>
          <p:cNvPr id="4" name="Picture 3"/>
          <p:cNvPicPr>
            <a:picLocks noChangeAspect="1"/>
          </p:cNvPicPr>
          <p:nvPr/>
        </p:nvPicPr>
        <p:blipFill>
          <a:blip r:embed="rId2"/>
          <a:stretch>
            <a:fillRect/>
          </a:stretch>
        </p:blipFill>
        <p:spPr>
          <a:xfrm>
            <a:off x="3464227" y="3106474"/>
            <a:ext cx="4806194" cy="3569190"/>
          </a:xfrm>
          <a:prstGeom prst="rect">
            <a:avLst/>
          </a:prstGeom>
        </p:spPr>
      </p:pic>
    </p:spTree>
    <p:extLst>
      <p:ext uri="{BB962C8B-B14F-4D97-AF65-F5344CB8AC3E}">
        <p14:creationId xmlns:p14="http://schemas.microsoft.com/office/powerpoint/2010/main" val="4765405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9</a:t>
            </a:r>
            <a:endParaRPr lang="en-US" dirty="0"/>
          </a:p>
        </p:txBody>
      </p:sp>
      <p:sp>
        <p:nvSpPr>
          <p:cNvPr id="3" name="Content Placeholder 2"/>
          <p:cNvSpPr>
            <a:spLocks noGrp="1"/>
          </p:cNvSpPr>
          <p:nvPr>
            <p:ph idx="1"/>
          </p:nvPr>
        </p:nvSpPr>
        <p:spPr/>
        <p:txBody>
          <a:bodyPr/>
          <a:lstStyle/>
          <a:p>
            <a:r>
              <a:rPr lang="en-US" dirty="0" smtClean="0"/>
              <a:t>What are the two types of accelerating waveguide designs? </a:t>
            </a:r>
          </a:p>
          <a:p>
            <a:endParaRPr lang="en-US" dirty="0"/>
          </a:p>
          <a:p>
            <a:r>
              <a:rPr lang="en-US" dirty="0" smtClean="0"/>
              <a:t>Which one do most modern </a:t>
            </a:r>
            <a:r>
              <a:rPr lang="en-US" dirty="0" err="1" smtClean="0"/>
              <a:t>linacs</a:t>
            </a:r>
            <a:r>
              <a:rPr lang="en-US" dirty="0" smtClean="0"/>
              <a:t> use? Why?</a:t>
            </a:r>
            <a:endParaRPr lang="en-US" dirty="0"/>
          </a:p>
        </p:txBody>
      </p:sp>
    </p:spTree>
    <p:extLst>
      <p:ext uri="{BB962C8B-B14F-4D97-AF65-F5344CB8AC3E}">
        <p14:creationId xmlns:p14="http://schemas.microsoft.com/office/powerpoint/2010/main" val="3085065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Accelerating Waveguide</a:t>
            </a:r>
            <a:endParaRPr lang="en-US" dirty="0"/>
          </a:p>
        </p:txBody>
      </p:sp>
      <p:sp>
        <p:nvSpPr>
          <p:cNvPr id="3" name="Content Placeholder 2"/>
          <p:cNvSpPr>
            <a:spLocks noGrp="1"/>
          </p:cNvSpPr>
          <p:nvPr>
            <p:ph idx="1"/>
          </p:nvPr>
        </p:nvSpPr>
        <p:spPr>
          <a:xfrm>
            <a:off x="838200" y="1825624"/>
            <a:ext cx="6109607" cy="4811939"/>
          </a:xfrm>
        </p:spPr>
        <p:txBody>
          <a:bodyPr>
            <a:normAutofit fontScale="92500" lnSpcReduction="20000"/>
          </a:bodyPr>
          <a:lstStyle/>
          <a:p>
            <a:r>
              <a:rPr lang="en-US" dirty="0" smtClean="0"/>
              <a:t>Standing Waveguide – waves are reflected back and forth in the waveguide setting up a standing wave with high amplitude and resonance of ~3000MHz</a:t>
            </a:r>
          </a:p>
          <a:p>
            <a:endParaRPr lang="en-US" dirty="0"/>
          </a:p>
          <a:p>
            <a:r>
              <a:rPr lang="en-US" dirty="0" smtClean="0"/>
              <a:t>Travelling waveguide sends microwaves down the accelerating waveguide and then either terminates the waves to a water load or recirculates them back to RF input</a:t>
            </a:r>
          </a:p>
          <a:p>
            <a:endParaRPr lang="en-US" dirty="0" smtClean="0"/>
          </a:p>
          <a:p>
            <a:r>
              <a:rPr lang="en-US" dirty="0" smtClean="0"/>
              <a:t>Standing waveguide are typically shorter in length due to constructive interference and side-coupled cavities, which move the nodes of the waves off to the side</a:t>
            </a:r>
          </a:p>
        </p:txBody>
      </p:sp>
      <p:pic>
        <p:nvPicPr>
          <p:cNvPr id="6" name="Picture 5"/>
          <p:cNvPicPr>
            <a:picLocks noChangeAspect="1"/>
          </p:cNvPicPr>
          <p:nvPr/>
        </p:nvPicPr>
        <p:blipFill>
          <a:blip r:embed="rId2"/>
          <a:stretch>
            <a:fillRect/>
          </a:stretch>
        </p:blipFill>
        <p:spPr>
          <a:xfrm>
            <a:off x="7585302" y="1622770"/>
            <a:ext cx="3983492" cy="4554193"/>
          </a:xfrm>
          <a:prstGeom prst="rect">
            <a:avLst/>
          </a:prstGeom>
        </p:spPr>
      </p:pic>
    </p:spTree>
    <p:extLst>
      <p:ext uri="{BB962C8B-B14F-4D97-AF65-F5344CB8AC3E}">
        <p14:creationId xmlns:p14="http://schemas.microsoft.com/office/powerpoint/2010/main" val="3778244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9</a:t>
            </a:r>
            <a:endParaRPr lang="en-US" dirty="0"/>
          </a:p>
        </p:txBody>
      </p:sp>
      <p:sp>
        <p:nvSpPr>
          <p:cNvPr id="3" name="Content Placeholder 2"/>
          <p:cNvSpPr>
            <a:spLocks noGrp="1"/>
          </p:cNvSpPr>
          <p:nvPr>
            <p:ph idx="1"/>
          </p:nvPr>
        </p:nvSpPr>
        <p:spPr/>
        <p:txBody>
          <a:bodyPr/>
          <a:lstStyle/>
          <a:p>
            <a:r>
              <a:rPr lang="en-US" dirty="0" smtClean="0"/>
              <a:t>What are the two types of accelerating waveguide designs?</a:t>
            </a:r>
          </a:p>
          <a:p>
            <a:pPr lvl="1"/>
            <a:r>
              <a:rPr lang="en-US" b="1" i="1" dirty="0" smtClean="0"/>
              <a:t>Standing and travelling </a:t>
            </a:r>
          </a:p>
          <a:p>
            <a:endParaRPr lang="en-US" dirty="0"/>
          </a:p>
          <a:p>
            <a:r>
              <a:rPr lang="en-US" dirty="0" smtClean="0"/>
              <a:t>Which one do most modern LINACs use? Why?</a:t>
            </a:r>
          </a:p>
          <a:p>
            <a:pPr lvl="1"/>
            <a:r>
              <a:rPr lang="en-US" b="1" i="1" dirty="0" smtClean="0"/>
              <a:t>Standing waveguides </a:t>
            </a:r>
            <a:r>
              <a:rPr lang="en-US" b="1" i="1" dirty="0" smtClean="0">
                <a:sym typeface="Wingdings" panose="05000000000000000000" pitchFamily="2" charset="2"/>
              </a:rPr>
              <a:t> Shorter, more efficient accelerators, more stable</a:t>
            </a:r>
            <a:endParaRPr lang="en-US" b="1" i="1" dirty="0"/>
          </a:p>
        </p:txBody>
      </p:sp>
    </p:spTree>
    <p:extLst>
      <p:ext uri="{BB962C8B-B14F-4D97-AF65-F5344CB8AC3E}">
        <p14:creationId xmlns:p14="http://schemas.microsoft.com/office/powerpoint/2010/main" val="155824336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Accelerating Waveguide</a:t>
            </a:r>
            <a:endParaRPr lang="en-US" dirty="0"/>
          </a:p>
        </p:txBody>
      </p:sp>
      <p:sp>
        <p:nvSpPr>
          <p:cNvPr id="3" name="Content Placeholder 2"/>
          <p:cNvSpPr>
            <a:spLocks noGrp="1"/>
          </p:cNvSpPr>
          <p:nvPr>
            <p:ph idx="1"/>
          </p:nvPr>
        </p:nvSpPr>
        <p:spPr/>
        <p:txBody>
          <a:bodyPr/>
          <a:lstStyle/>
          <a:p>
            <a:r>
              <a:rPr lang="en-US" dirty="0" smtClean="0">
                <a:hlinkClick r:id="rId2"/>
              </a:rPr>
              <a:t>Waveguide Video</a:t>
            </a:r>
            <a:endParaRPr lang="en-US" dirty="0"/>
          </a:p>
        </p:txBody>
      </p:sp>
    </p:spTree>
    <p:extLst>
      <p:ext uri="{BB962C8B-B14F-4D97-AF65-F5344CB8AC3E}">
        <p14:creationId xmlns:p14="http://schemas.microsoft.com/office/powerpoint/2010/main" val="10733745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Standing Accelerating Waveguide</a:t>
            </a:r>
            <a:endParaRPr lang="en-US" dirty="0"/>
          </a:p>
        </p:txBody>
      </p:sp>
      <p:sp>
        <p:nvSpPr>
          <p:cNvPr id="3" name="Content Placeholder 2"/>
          <p:cNvSpPr>
            <a:spLocks noGrp="1"/>
          </p:cNvSpPr>
          <p:nvPr>
            <p:ph idx="1"/>
          </p:nvPr>
        </p:nvSpPr>
        <p:spPr>
          <a:xfrm>
            <a:off x="838200" y="1825625"/>
            <a:ext cx="6466796" cy="4351338"/>
          </a:xfrm>
        </p:spPr>
        <p:txBody>
          <a:bodyPr>
            <a:normAutofit/>
          </a:bodyPr>
          <a:lstStyle/>
          <a:p>
            <a:r>
              <a:rPr lang="en-US" dirty="0" smtClean="0"/>
              <a:t>Each cavity length is ~½ wavelength</a:t>
            </a:r>
          </a:p>
          <a:p>
            <a:endParaRPr lang="en-US" dirty="0"/>
          </a:p>
          <a:p>
            <a:r>
              <a:rPr lang="en-US" dirty="0" smtClean="0"/>
              <a:t>Most accelerating waveguides are operating in the S-band (3000MHz frequency)</a:t>
            </a:r>
          </a:p>
          <a:p>
            <a:endParaRPr lang="en-US" dirty="0"/>
          </a:p>
          <a:p>
            <a:r>
              <a:rPr lang="en-US" dirty="0" smtClean="0"/>
              <a:t>Electrons are accelerated in each cavity. It goes through each cavity every half period. </a:t>
            </a:r>
            <a:endParaRPr lang="en-US" dirty="0"/>
          </a:p>
        </p:txBody>
      </p:sp>
      <p:pic>
        <p:nvPicPr>
          <p:cNvPr id="4" name="Picture 3"/>
          <p:cNvPicPr>
            <a:picLocks noChangeAspect="1"/>
          </p:cNvPicPr>
          <p:nvPr/>
        </p:nvPicPr>
        <p:blipFill>
          <a:blip r:embed="rId2"/>
          <a:stretch>
            <a:fillRect/>
          </a:stretch>
        </p:blipFill>
        <p:spPr>
          <a:xfrm>
            <a:off x="7304996" y="1583871"/>
            <a:ext cx="3979494" cy="2311739"/>
          </a:xfrm>
          <a:prstGeom prst="rect">
            <a:avLst/>
          </a:prstGeom>
        </p:spPr>
      </p:pic>
    </p:spTree>
    <p:extLst>
      <p:ext uri="{BB962C8B-B14F-4D97-AF65-F5344CB8AC3E}">
        <p14:creationId xmlns:p14="http://schemas.microsoft.com/office/powerpoint/2010/main" val="323715344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10</a:t>
            </a:r>
            <a:endParaRPr lang="en-US" dirty="0"/>
          </a:p>
        </p:txBody>
      </p:sp>
      <p:sp>
        <p:nvSpPr>
          <p:cNvPr id="3" name="Content Placeholder 2"/>
          <p:cNvSpPr>
            <a:spLocks noGrp="1"/>
          </p:cNvSpPr>
          <p:nvPr>
            <p:ph idx="1"/>
          </p:nvPr>
        </p:nvSpPr>
        <p:spPr/>
        <p:txBody>
          <a:bodyPr/>
          <a:lstStyle/>
          <a:p>
            <a:r>
              <a:rPr lang="en-US" dirty="0" smtClean="0"/>
              <a:t>Are all cavity lengths actually the same? </a:t>
            </a:r>
          </a:p>
          <a:p>
            <a:endParaRPr lang="en-US" dirty="0"/>
          </a:p>
          <a:p>
            <a:r>
              <a:rPr lang="en-US" dirty="0" smtClean="0"/>
              <a:t>How could you design a smaller waveguide?</a:t>
            </a:r>
            <a:endParaRPr lang="en-US" dirty="0"/>
          </a:p>
        </p:txBody>
      </p:sp>
    </p:spTree>
    <p:extLst>
      <p:ext uri="{BB962C8B-B14F-4D97-AF65-F5344CB8AC3E}">
        <p14:creationId xmlns:p14="http://schemas.microsoft.com/office/powerpoint/2010/main" val="214440701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10</a:t>
            </a:r>
            <a:endParaRPr lang="en-US" dirty="0"/>
          </a:p>
        </p:txBody>
      </p:sp>
      <p:sp>
        <p:nvSpPr>
          <p:cNvPr id="3" name="Content Placeholder 2"/>
          <p:cNvSpPr>
            <a:spLocks noGrp="1"/>
          </p:cNvSpPr>
          <p:nvPr>
            <p:ph idx="1"/>
          </p:nvPr>
        </p:nvSpPr>
        <p:spPr/>
        <p:txBody>
          <a:bodyPr/>
          <a:lstStyle/>
          <a:p>
            <a:r>
              <a:rPr lang="en-US" dirty="0" smtClean="0"/>
              <a:t>Are all cavity lengths actually the same? </a:t>
            </a:r>
          </a:p>
          <a:p>
            <a:pPr lvl="1"/>
            <a:r>
              <a:rPr lang="en-US" b="1" i="1" dirty="0" smtClean="0"/>
              <a:t>No, diameter of each cavity is the same to keep the resonance properties matched. But the earlier cavities are shorter in length as electrons are being accelerated thus gaining speed and changing the amount of time it takes to traverse a cavity</a:t>
            </a:r>
          </a:p>
          <a:p>
            <a:endParaRPr lang="en-US" dirty="0"/>
          </a:p>
          <a:p>
            <a:r>
              <a:rPr lang="en-US" dirty="0" smtClean="0"/>
              <a:t>How could you design a smaller waveguide?</a:t>
            </a:r>
          </a:p>
          <a:p>
            <a:pPr lvl="1"/>
            <a:r>
              <a:rPr lang="en-US" b="1" i="1" dirty="0" smtClean="0"/>
              <a:t>Use a higher frequency (i.e. X-band = 9000MHz)</a:t>
            </a:r>
          </a:p>
          <a:p>
            <a:pPr lvl="1"/>
            <a:r>
              <a:rPr lang="en-US" b="1" i="1" dirty="0" smtClean="0"/>
              <a:t>The challenge is that it is harder to keep the waveguide stable at higher frequencies</a:t>
            </a:r>
            <a:endParaRPr lang="en-US" b="1" i="1" dirty="0"/>
          </a:p>
        </p:txBody>
      </p:sp>
    </p:spTree>
    <p:extLst>
      <p:ext uri="{BB962C8B-B14F-4D97-AF65-F5344CB8AC3E}">
        <p14:creationId xmlns:p14="http://schemas.microsoft.com/office/powerpoint/2010/main" val="426958055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Accelerating Waveguide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a:t>
            </a:r>
            <a:r>
              <a:rPr lang="en-US" dirty="0" smtClean="0"/>
              <a:t>RF waveguide </a:t>
            </a:r>
            <a:r>
              <a:rPr lang="en-US" dirty="0" smtClean="0"/>
              <a:t>is filled with sulfur hexafluoride (SF</a:t>
            </a:r>
            <a:r>
              <a:rPr lang="en-US" baseline="-25000" dirty="0" smtClean="0"/>
              <a:t>6</a:t>
            </a:r>
            <a:r>
              <a:rPr lang="en-US" dirty="0" smtClean="0"/>
              <a:t>), a dielectric gas which allows higher power transmission through the waveguide without breakdown (arcing</a:t>
            </a:r>
            <a:r>
              <a:rPr lang="en-US" dirty="0" smtClean="0"/>
              <a:t>)</a:t>
            </a:r>
          </a:p>
          <a:p>
            <a:endParaRPr lang="en-US" dirty="0"/>
          </a:p>
          <a:p>
            <a:r>
              <a:rPr lang="en-US" dirty="0" smtClean="0"/>
              <a:t>Accelerating waveguide is held in vacuum</a:t>
            </a:r>
            <a:endParaRPr lang="en-US" dirty="0" smtClean="0"/>
          </a:p>
          <a:p>
            <a:endParaRPr lang="en-US" dirty="0"/>
          </a:p>
          <a:p>
            <a:r>
              <a:rPr lang="en-US" dirty="0" smtClean="0"/>
              <a:t>Accelerating </a:t>
            </a:r>
            <a:r>
              <a:rPr lang="en-US" dirty="0" smtClean="0"/>
              <a:t>waveguide </a:t>
            </a:r>
            <a:r>
              <a:rPr lang="en-US" dirty="0" smtClean="0"/>
              <a:t>is also equipped with a solenoid coil running the length of it to keep electrons focused in a pencil beam</a:t>
            </a:r>
          </a:p>
          <a:p>
            <a:pPr lvl="1"/>
            <a:r>
              <a:rPr lang="en-US" dirty="0" smtClean="0"/>
              <a:t>Electrons naturally repel each other</a:t>
            </a:r>
          </a:p>
          <a:p>
            <a:endParaRPr lang="en-US" dirty="0"/>
          </a:p>
          <a:p>
            <a:r>
              <a:rPr lang="en-US" dirty="0" smtClean="0"/>
              <a:t>Beam steering coils are used to inject the beam into the bending magnet at the proper location so that they eventually strike the target or scattering foils in the proper location</a:t>
            </a:r>
            <a:endParaRPr lang="en-US" dirty="0"/>
          </a:p>
        </p:txBody>
      </p:sp>
    </p:spTree>
    <p:extLst>
      <p:ext uri="{BB962C8B-B14F-4D97-AF65-F5344CB8AC3E}">
        <p14:creationId xmlns:p14="http://schemas.microsoft.com/office/powerpoint/2010/main" val="31488470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Bending Magnet</a:t>
            </a:r>
            <a:endParaRPr lang="en-US" dirty="0"/>
          </a:p>
        </p:txBody>
      </p:sp>
      <p:sp>
        <p:nvSpPr>
          <p:cNvPr id="3" name="Content Placeholder 2"/>
          <p:cNvSpPr>
            <a:spLocks noGrp="1"/>
          </p:cNvSpPr>
          <p:nvPr>
            <p:ph idx="1"/>
          </p:nvPr>
        </p:nvSpPr>
        <p:spPr>
          <a:xfrm>
            <a:off x="838200" y="1825625"/>
            <a:ext cx="4046951" cy="3064782"/>
          </a:xfrm>
        </p:spPr>
        <p:txBody>
          <a:bodyPr>
            <a:normAutofit fontScale="85000" lnSpcReduction="10000"/>
          </a:bodyPr>
          <a:lstStyle/>
          <a:p>
            <a:r>
              <a:rPr lang="en-US" dirty="0" smtClean="0"/>
              <a:t>Two main purposes:</a:t>
            </a:r>
          </a:p>
          <a:p>
            <a:endParaRPr lang="en-US" dirty="0"/>
          </a:p>
          <a:p>
            <a:pPr lvl="1"/>
            <a:r>
              <a:rPr lang="en-US" dirty="0" smtClean="0"/>
              <a:t>Takes beam travelling parallel to a patient and redirects towards them</a:t>
            </a:r>
          </a:p>
          <a:p>
            <a:pPr lvl="1"/>
            <a:endParaRPr lang="en-US" dirty="0"/>
          </a:p>
          <a:p>
            <a:pPr lvl="1"/>
            <a:endParaRPr lang="en-US" dirty="0" smtClean="0"/>
          </a:p>
          <a:p>
            <a:pPr lvl="1"/>
            <a:r>
              <a:rPr lang="en-US" dirty="0" smtClean="0"/>
              <a:t>Provides energy discrimination independent of the accelerating waveguide</a:t>
            </a:r>
            <a:endParaRPr lang="en-US" dirty="0"/>
          </a:p>
        </p:txBody>
      </p:sp>
      <p:pic>
        <p:nvPicPr>
          <p:cNvPr id="4" name="Picture 3"/>
          <p:cNvPicPr>
            <a:picLocks noChangeAspect="1"/>
          </p:cNvPicPr>
          <p:nvPr/>
        </p:nvPicPr>
        <p:blipFill>
          <a:blip r:embed="rId2"/>
          <a:stretch>
            <a:fillRect/>
          </a:stretch>
        </p:blipFill>
        <p:spPr>
          <a:xfrm>
            <a:off x="5443320" y="1485602"/>
            <a:ext cx="6125641" cy="4520628"/>
          </a:xfrm>
          <a:prstGeom prst="rect">
            <a:avLst/>
          </a:prstGeom>
        </p:spPr>
      </p:pic>
    </p:spTree>
    <p:extLst>
      <p:ext uri="{BB962C8B-B14F-4D97-AF65-F5344CB8AC3E}">
        <p14:creationId xmlns:p14="http://schemas.microsoft.com/office/powerpoint/2010/main" val="12649858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Bending Magnet</a:t>
            </a:r>
            <a:endParaRPr lang="en-US" dirty="0"/>
          </a:p>
        </p:txBody>
      </p:sp>
      <p:sp>
        <p:nvSpPr>
          <p:cNvPr id="3" name="Content Placeholder 2"/>
          <p:cNvSpPr>
            <a:spLocks noGrp="1"/>
          </p:cNvSpPr>
          <p:nvPr>
            <p:ph idx="1"/>
          </p:nvPr>
        </p:nvSpPr>
        <p:spPr>
          <a:xfrm>
            <a:off x="838200" y="1825625"/>
            <a:ext cx="10515600" cy="2819854"/>
          </a:xfrm>
        </p:spPr>
        <p:txBody>
          <a:bodyPr>
            <a:normAutofit fontScale="85000" lnSpcReduction="20000"/>
          </a:bodyPr>
          <a:lstStyle/>
          <a:p>
            <a:r>
              <a:rPr lang="en-US" dirty="0" smtClean="0"/>
              <a:t>Two varieties of bending magnet: Chromatic and Achromatic</a:t>
            </a:r>
          </a:p>
          <a:p>
            <a:endParaRPr lang="en-US" dirty="0"/>
          </a:p>
          <a:p>
            <a:r>
              <a:rPr lang="en-US" dirty="0" smtClean="0"/>
              <a:t>Chromatic bend magnet uses a 90</a:t>
            </a:r>
            <a:r>
              <a:rPr lang="en-US" baseline="30000" dirty="0" smtClean="0"/>
              <a:t>0</a:t>
            </a:r>
            <a:r>
              <a:rPr lang="en-US" dirty="0" smtClean="0"/>
              <a:t> bend. Disadvantage is that electrons emerge with different orientations depending on insertion angle, position, and energy</a:t>
            </a:r>
          </a:p>
          <a:p>
            <a:endParaRPr lang="en-US" dirty="0"/>
          </a:p>
          <a:p>
            <a:r>
              <a:rPr lang="en-US" dirty="0" smtClean="0"/>
              <a:t>Achromatic designs utilize either a 270</a:t>
            </a:r>
            <a:r>
              <a:rPr lang="en-US" baseline="30000" dirty="0" smtClean="0"/>
              <a:t>0</a:t>
            </a:r>
            <a:r>
              <a:rPr lang="en-US" dirty="0" smtClean="0"/>
              <a:t> bend (most common) or a slalom 120</a:t>
            </a:r>
            <a:r>
              <a:rPr lang="en-US" baseline="30000" dirty="0" smtClean="0"/>
              <a:t>0</a:t>
            </a:r>
            <a:r>
              <a:rPr lang="en-US" dirty="0" smtClean="0"/>
              <a:t> bend to refocus the beam towards the target. Energy slit also helps with energy discrimination.</a:t>
            </a:r>
            <a:endParaRPr lang="en-US" dirty="0"/>
          </a:p>
        </p:txBody>
      </p:sp>
      <p:pic>
        <p:nvPicPr>
          <p:cNvPr id="4" name="Picture 3"/>
          <p:cNvPicPr>
            <a:picLocks noChangeAspect="1"/>
          </p:cNvPicPr>
          <p:nvPr/>
        </p:nvPicPr>
        <p:blipFill>
          <a:blip r:embed="rId2"/>
          <a:stretch>
            <a:fillRect/>
          </a:stretch>
        </p:blipFill>
        <p:spPr>
          <a:xfrm>
            <a:off x="963385" y="4915469"/>
            <a:ext cx="5070021" cy="1703725"/>
          </a:xfrm>
          <a:prstGeom prst="rect">
            <a:avLst/>
          </a:prstGeom>
        </p:spPr>
      </p:pic>
      <p:pic>
        <p:nvPicPr>
          <p:cNvPr id="5" name="Picture 4"/>
          <p:cNvPicPr>
            <a:picLocks noChangeAspect="1"/>
          </p:cNvPicPr>
          <p:nvPr/>
        </p:nvPicPr>
        <p:blipFill>
          <a:blip r:embed="rId3"/>
          <a:stretch>
            <a:fillRect/>
          </a:stretch>
        </p:blipFill>
        <p:spPr>
          <a:xfrm>
            <a:off x="7672034" y="4841591"/>
            <a:ext cx="2508832" cy="1851479"/>
          </a:xfrm>
          <a:prstGeom prst="rect">
            <a:avLst/>
          </a:prstGeom>
        </p:spPr>
      </p:pic>
    </p:spTree>
    <p:extLst>
      <p:ext uri="{BB962C8B-B14F-4D97-AF65-F5344CB8AC3E}">
        <p14:creationId xmlns:p14="http://schemas.microsoft.com/office/powerpoint/2010/main" val="406965490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11 – Target</a:t>
            </a:r>
            <a:endParaRPr lang="en-US" dirty="0"/>
          </a:p>
        </p:txBody>
      </p:sp>
      <p:sp>
        <p:nvSpPr>
          <p:cNvPr id="3" name="Content Placeholder 2"/>
          <p:cNvSpPr>
            <a:spLocks noGrp="1"/>
          </p:cNvSpPr>
          <p:nvPr>
            <p:ph idx="1"/>
          </p:nvPr>
        </p:nvSpPr>
        <p:spPr>
          <a:xfrm>
            <a:off x="838200" y="1825625"/>
            <a:ext cx="10515600" cy="2583089"/>
          </a:xfrm>
        </p:spPr>
        <p:txBody>
          <a:bodyPr/>
          <a:lstStyle/>
          <a:p>
            <a:r>
              <a:rPr lang="en-US" dirty="0" smtClean="0"/>
              <a:t>What is the target made of? Why? </a:t>
            </a:r>
          </a:p>
          <a:p>
            <a:endParaRPr lang="en-US" dirty="0"/>
          </a:p>
          <a:p>
            <a:r>
              <a:rPr lang="en-US" dirty="0" smtClean="0"/>
              <a:t>What is the main interaction that produces x-rays from the target? </a:t>
            </a:r>
          </a:p>
          <a:p>
            <a:endParaRPr lang="en-US" dirty="0"/>
          </a:p>
          <a:p>
            <a:r>
              <a:rPr lang="en-US" dirty="0" smtClean="0"/>
              <a:t>What is the efficiency of this x-ray production? </a:t>
            </a:r>
            <a:endParaRPr lang="en-US" dirty="0"/>
          </a:p>
        </p:txBody>
      </p:sp>
      <p:pic>
        <p:nvPicPr>
          <p:cNvPr id="4" name="Picture 3"/>
          <p:cNvPicPr>
            <a:picLocks noChangeAspect="1"/>
          </p:cNvPicPr>
          <p:nvPr/>
        </p:nvPicPr>
        <p:blipFill>
          <a:blip r:embed="rId2"/>
          <a:stretch>
            <a:fillRect/>
          </a:stretch>
        </p:blipFill>
        <p:spPr>
          <a:xfrm>
            <a:off x="4014787" y="4692422"/>
            <a:ext cx="4162425" cy="1914525"/>
          </a:xfrm>
          <a:prstGeom prst="rect">
            <a:avLst/>
          </a:prstGeom>
        </p:spPr>
      </p:pic>
    </p:spTree>
    <p:extLst>
      <p:ext uri="{BB962C8B-B14F-4D97-AF65-F5344CB8AC3E}">
        <p14:creationId xmlns:p14="http://schemas.microsoft.com/office/powerpoint/2010/main" val="25603303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11 – Target</a:t>
            </a:r>
            <a:endParaRPr lang="en-US" dirty="0"/>
          </a:p>
        </p:txBody>
      </p:sp>
      <p:sp>
        <p:nvSpPr>
          <p:cNvPr id="3" name="Content Placeholder 2"/>
          <p:cNvSpPr>
            <a:spLocks noGrp="1"/>
          </p:cNvSpPr>
          <p:nvPr>
            <p:ph idx="1"/>
          </p:nvPr>
        </p:nvSpPr>
        <p:spPr>
          <a:xfrm>
            <a:off x="838200" y="1825625"/>
            <a:ext cx="10515600" cy="2866797"/>
          </a:xfrm>
        </p:spPr>
        <p:txBody>
          <a:bodyPr>
            <a:normAutofit fontScale="77500" lnSpcReduction="20000"/>
          </a:bodyPr>
          <a:lstStyle/>
          <a:p>
            <a:r>
              <a:rPr lang="en-US" dirty="0" smtClean="0"/>
              <a:t>What is the target made of? Why?</a:t>
            </a:r>
          </a:p>
          <a:p>
            <a:pPr lvl="1"/>
            <a:r>
              <a:rPr lang="en-US" b="1" i="1" dirty="0" smtClean="0"/>
              <a:t>Tungsten </a:t>
            </a:r>
            <a:r>
              <a:rPr lang="en-US" b="1" i="1" dirty="0" smtClean="0">
                <a:sym typeface="Wingdings" panose="05000000000000000000" pitchFamily="2" charset="2"/>
              </a:rPr>
              <a:t> again mostly due to its high melting point</a:t>
            </a:r>
          </a:p>
          <a:p>
            <a:pPr lvl="1"/>
            <a:r>
              <a:rPr lang="en-US" b="1" i="1" dirty="0" smtClean="0">
                <a:sym typeface="Wingdings" panose="05000000000000000000" pitchFamily="2" charset="2"/>
              </a:rPr>
              <a:t>Not as much due to the fact that it is high-Z</a:t>
            </a:r>
            <a:r>
              <a:rPr lang="en-US" b="1" i="1" dirty="0" smtClean="0"/>
              <a:t> </a:t>
            </a:r>
            <a:endParaRPr lang="en-US" b="1" i="1" dirty="0"/>
          </a:p>
          <a:p>
            <a:pPr lvl="1"/>
            <a:endParaRPr lang="en-US" dirty="0"/>
          </a:p>
          <a:p>
            <a:r>
              <a:rPr lang="en-US" dirty="0" smtClean="0"/>
              <a:t>What is the main interaction that produces x-rays from the target? </a:t>
            </a:r>
          </a:p>
          <a:p>
            <a:pPr lvl="1"/>
            <a:r>
              <a:rPr lang="en-US" b="1" dirty="0" smtClean="0"/>
              <a:t>Bremsstrahlung production</a:t>
            </a:r>
          </a:p>
          <a:p>
            <a:endParaRPr lang="en-US" dirty="0"/>
          </a:p>
          <a:p>
            <a:r>
              <a:rPr lang="en-US" dirty="0" smtClean="0"/>
              <a:t>What is the efficiency of this x-ray production?</a:t>
            </a:r>
          </a:p>
          <a:p>
            <a:pPr lvl="1"/>
            <a:r>
              <a:rPr lang="en-US" b="1" dirty="0" smtClean="0"/>
              <a:t>~20% efficient </a:t>
            </a:r>
            <a:endParaRPr lang="en-US" b="1" dirty="0"/>
          </a:p>
        </p:txBody>
      </p:sp>
      <p:pic>
        <p:nvPicPr>
          <p:cNvPr id="4" name="Picture 3"/>
          <p:cNvPicPr>
            <a:picLocks noChangeAspect="1"/>
          </p:cNvPicPr>
          <p:nvPr/>
        </p:nvPicPr>
        <p:blipFill>
          <a:blip r:embed="rId2"/>
          <a:stretch>
            <a:fillRect/>
          </a:stretch>
        </p:blipFill>
        <p:spPr>
          <a:xfrm>
            <a:off x="4014787" y="4692422"/>
            <a:ext cx="4162425" cy="1914525"/>
          </a:xfrm>
          <a:prstGeom prst="rect">
            <a:avLst/>
          </a:prstGeom>
        </p:spPr>
      </p:pic>
    </p:spTree>
    <p:extLst>
      <p:ext uri="{BB962C8B-B14F-4D97-AF65-F5344CB8AC3E}">
        <p14:creationId xmlns:p14="http://schemas.microsoft.com/office/powerpoint/2010/main" val="23447162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12 –Target  </a:t>
            </a:r>
            <a:endParaRPr lang="en-US" dirty="0"/>
          </a:p>
        </p:txBody>
      </p:sp>
      <p:sp>
        <p:nvSpPr>
          <p:cNvPr id="3" name="Content Placeholder 2"/>
          <p:cNvSpPr>
            <a:spLocks noGrp="1"/>
          </p:cNvSpPr>
          <p:nvPr>
            <p:ph idx="1"/>
          </p:nvPr>
        </p:nvSpPr>
        <p:spPr/>
        <p:txBody>
          <a:bodyPr/>
          <a:lstStyle/>
          <a:p>
            <a:r>
              <a:rPr lang="en-US" dirty="0" smtClean="0"/>
              <a:t>What energy do the Bremsstrahlung photons have? Max? Average?</a:t>
            </a:r>
          </a:p>
          <a:p>
            <a:endParaRPr lang="en-US" dirty="0"/>
          </a:p>
          <a:p>
            <a:r>
              <a:rPr lang="en-US" dirty="0" smtClean="0"/>
              <a:t>What is the implication of having a 20% efficiency? </a:t>
            </a:r>
            <a:endParaRPr lang="en-US" dirty="0"/>
          </a:p>
        </p:txBody>
      </p:sp>
    </p:spTree>
    <p:extLst>
      <p:ext uri="{BB962C8B-B14F-4D97-AF65-F5344CB8AC3E}">
        <p14:creationId xmlns:p14="http://schemas.microsoft.com/office/powerpoint/2010/main" val="375069764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12 –Target  </a:t>
            </a:r>
            <a:endParaRPr lang="en-US" dirty="0"/>
          </a:p>
        </p:txBody>
      </p:sp>
      <p:sp>
        <p:nvSpPr>
          <p:cNvPr id="3" name="Content Placeholder 2"/>
          <p:cNvSpPr>
            <a:spLocks noGrp="1"/>
          </p:cNvSpPr>
          <p:nvPr>
            <p:ph idx="1"/>
          </p:nvPr>
        </p:nvSpPr>
        <p:spPr>
          <a:xfrm>
            <a:off x="838201" y="1825625"/>
            <a:ext cx="8085364" cy="4351338"/>
          </a:xfrm>
        </p:spPr>
        <p:txBody>
          <a:bodyPr/>
          <a:lstStyle/>
          <a:p>
            <a:r>
              <a:rPr lang="en-US" dirty="0" smtClean="0"/>
              <a:t>What energy do the Bremsstrahlung photons have? Max? Average?</a:t>
            </a:r>
          </a:p>
          <a:p>
            <a:pPr lvl="1"/>
            <a:r>
              <a:rPr lang="en-US" b="1" i="1" dirty="0" smtClean="0"/>
              <a:t>Max energy of the incident E</a:t>
            </a:r>
          </a:p>
          <a:p>
            <a:pPr lvl="1"/>
            <a:r>
              <a:rPr lang="en-US" b="1" i="1" dirty="0" smtClean="0"/>
              <a:t>Average energy </a:t>
            </a:r>
            <a:r>
              <a:rPr lang="en-US" b="1" i="1" smtClean="0"/>
              <a:t>of ~1/3 </a:t>
            </a:r>
            <a:r>
              <a:rPr lang="en-US" b="1" i="1" dirty="0" smtClean="0"/>
              <a:t>of the incident electron E </a:t>
            </a:r>
          </a:p>
          <a:p>
            <a:endParaRPr lang="en-US" dirty="0"/>
          </a:p>
          <a:p>
            <a:r>
              <a:rPr lang="en-US" dirty="0" smtClean="0"/>
              <a:t>What is the implication of having a 20% efficiency? </a:t>
            </a:r>
          </a:p>
          <a:p>
            <a:pPr lvl="1"/>
            <a:r>
              <a:rPr lang="en-US" b="1" i="1" dirty="0" smtClean="0"/>
              <a:t>Need a much higher electron current for photon delivery in order to maintain the same dose rate</a:t>
            </a:r>
            <a:endParaRPr lang="en-US" b="1" i="1" dirty="0"/>
          </a:p>
        </p:txBody>
      </p:sp>
      <p:pic>
        <p:nvPicPr>
          <p:cNvPr id="4" name="Picture 3"/>
          <p:cNvPicPr>
            <a:picLocks noChangeAspect="1"/>
          </p:cNvPicPr>
          <p:nvPr/>
        </p:nvPicPr>
        <p:blipFill>
          <a:blip r:embed="rId2"/>
          <a:stretch>
            <a:fillRect/>
          </a:stretch>
        </p:blipFill>
        <p:spPr>
          <a:xfrm>
            <a:off x="8863817" y="2041071"/>
            <a:ext cx="2983921" cy="2872581"/>
          </a:xfrm>
          <a:prstGeom prst="rect">
            <a:avLst/>
          </a:prstGeom>
        </p:spPr>
      </p:pic>
    </p:spTree>
    <p:extLst>
      <p:ext uri="{BB962C8B-B14F-4D97-AF65-F5344CB8AC3E}">
        <p14:creationId xmlns:p14="http://schemas.microsoft.com/office/powerpoint/2010/main" val="358111968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Target</a:t>
            </a:r>
            <a:endParaRPr lang="en-US" dirty="0"/>
          </a:p>
        </p:txBody>
      </p:sp>
      <p:sp>
        <p:nvSpPr>
          <p:cNvPr id="3" name="Content Placeholder 2"/>
          <p:cNvSpPr>
            <a:spLocks noGrp="1"/>
          </p:cNvSpPr>
          <p:nvPr>
            <p:ph idx="1"/>
          </p:nvPr>
        </p:nvSpPr>
        <p:spPr/>
        <p:txBody>
          <a:bodyPr/>
          <a:lstStyle/>
          <a:p>
            <a:r>
              <a:rPr lang="en-US" dirty="0" smtClean="0"/>
              <a:t>Target thickness affects…. </a:t>
            </a:r>
          </a:p>
          <a:p>
            <a:pPr lvl="1"/>
            <a:r>
              <a:rPr lang="en-US" dirty="0"/>
              <a:t>B</a:t>
            </a:r>
            <a:r>
              <a:rPr lang="en-US" dirty="0" smtClean="0"/>
              <a:t>eam output </a:t>
            </a:r>
            <a:r>
              <a:rPr lang="en-US" dirty="0" smtClean="0">
                <a:sym typeface="Wingdings" panose="05000000000000000000" pitchFamily="2" charset="2"/>
              </a:rPr>
              <a:t> </a:t>
            </a:r>
            <a:r>
              <a:rPr lang="en-US" dirty="0">
                <a:sym typeface="Wingdings" panose="05000000000000000000" pitchFamily="2" charset="2"/>
              </a:rPr>
              <a:t>t</a:t>
            </a:r>
            <a:r>
              <a:rPr lang="en-US" dirty="0" smtClean="0"/>
              <a:t>hicker target = higher attenuation</a:t>
            </a:r>
          </a:p>
          <a:p>
            <a:pPr lvl="1"/>
            <a:r>
              <a:rPr lang="en-US" dirty="0" smtClean="0"/>
              <a:t>Beam spectrum </a:t>
            </a:r>
            <a:r>
              <a:rPr lang="en-US" dirty="0" smtClean="0">
                <a:sym typeface="Wingdings" panose="05000000000000000000" pitchFamily="2" charset="2"/>
              </a:rPr>
              <a:t> through beam hardening</a:t>
            </a:r>
          </a:p>
          <a:p>
            <a:pPr lvl="1"/>
            <a:r>
              <a:rPr lang="en-US" dirty="0" smtClean="0">
                <a:sym typeface="Wingdings" panose="05000000000000000000" pitchFamily="2" charset="2"/>
              </a:rPr>
              <a:t>Lateral beam spread</a:t>
            </a:r>
          </a:p>
          <a:p>
            <a:pPr lvl="1"/>
            <a:endParaRPr lang="en-US" dirty="0">
              <a:sym typeface="Wingdings" panose="05000000000000000000" pitchFamily="2" charset="2"/>
            </a:endParaRPr>
          </a:p>
          <a:p>
            <a:r>
              <a:rPr lang="en-US" dirty="0" smtClean="0">
                <a:sym typeface="Wingdings" panose="05000000000000000000" pitchFamily="2" charset="2"/>
              </a:rPr>
              <a:t>Low energy X-rays have a different target thickness than high energy X-rays to optimize the target efficiency for each beam</a:t>
            </a:r>
            <a:r>
              <a:rPr lang="en-US" dirty="0" smtClean="0"/>
              <a:t> </a:t>
            </a:r>
            <a:endParaRPr lang="en-US" dirty="0"/>
          </a:p>
        </p:txBody>
      </p:sp>
    </p:spTree>
    <p:extLst>
      <p:ext uri="{BB962C8B-B14F-4D97-AF65-F5344CB8AC3E}">
        <p14:creationId xmlns:p14="http://schemas.microsoft.com/office/powerpoint/2010/main" val="156470769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Collimator</a:t>
            </a:r>
            <a:endParaRPr lang="en-US" dirty="0"/>
          </a:p>
        </p:txBody>
      </p:sp>
      <p:sp>
        <p:nvSpPr>
          <p:cNvPr id="3" name="Content Placeholder 2"/>
          <p:cNvSpPr>
            <a:spLocks noGrp="1"/>
          </p:cNvSpPr>
          <p:nvPr>
            <p:ph idx="1"/>
          </p:nvPr>
        </p:nvSpPr>
        <p:spPr/>
        <p:txBody>
          <a:bodyPr/>
          <a:lstStyle/>
          <a:p>
            <a:r>
              <a:rPr lang="en-US" dirty="0" smtClean="0"/>
              <a:t>Round diverging collimator used to initially define the useful beam</a:t>
            </a:r>
          </a:p>
          <a:p>
            <a:endParaRPr lang="en-US" dirty="0"/>
          </a:p>
          <a:p>
            <a:r>
              <a:rPr lang="en-US" dirty="0" smtClean="0"/>
              <a:t>Made of high attenuating material</a:t>
            </a:r>
          </a:p>
          <a:p>
            <a:endParaRPr lang="en-US" dirty="0"/>
          </a:p>
          <a:p>
            <a:r>
              <a:rPr lang="en-US" dirty="0" smtClean="0"/>
              <a:t>What effect does the round design of the primary collimator have?</a:t>
            </a:r>
          </a:p>
          <a:p>
            <a:endParaRPr lang="en-US" dirty="0"/>
          </a:p>
          <a:p>
            <a:endParaRPr lang="en-US" dirty="0"/>
          </a:p>
        </p:txBody>
      </p:sp>
    </p:spTree>
    <p:extLst>
      <p:ext uri="{BB962C8B-B14F-4D97-AF65-F5344CB8AC3E}">
        <p14:creationId xmlns:p14="http://schemas.microsoft.com/office/powerpoint/2010/main" val="348947557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Collimator</a:t>
            </a:r>
            <a:endParaRPr lang="en-US" dirty="0"/>
          </a:p>
        </p:txBody>
      </p:sp>
      <p:sp>
        <p:nvSpPr>
          <p:cNvPr id="3" name="Content Placeholder 2"/>
          <p:cNvSpPr>
            <a:spLocks noGrp="1"/>
          </p:cNvSpPr>
          <p:nvPr>
            <p:ph idx="1"/>
          </p:nvPr>
        </p:nvSpPr>
        <p:spPr/>
        <p:txBody>
          <a:bodyPr/>
          <a:lstStyle/>
          <a:p>
            <a:r>
              <a:rPr lang="en-US" dirty="0" smtClean="0"/>
              <a:t>Round diverging collimator used to initially define the useful beam</a:t>
            </a:r>
          </a:p>
          <a:p>
            <a:endParaRPr lang="en-US" dirty="0"/>
          </a:p>
          <a:p>
            <a:r>
              <a:rPr lang="en-US" dirty="0" smtClean="0"/>
              <a:t>Made of high attenuating material</a:t>
            </a:r>
          </a:p>
          <a:p>
            <a:endParaRPr lang="en-US" dirty="0"/>
          </a:p>
          <a:p>
            <a:r>
              <a:rPr lang="en-US" dirty="0" smtClean="0"/>
              <a:t>What effect does the round design of the primary collimator have?</a:t>
            </a:r>
          </a:p>
          <a:p>
            <a:pPr lvl="1"/>
            <a:r>
              <a:rPr lang="en-US" b="1" i="1" dirty="0" smtClean="0"/>
              <a:t>At largest field sizes (40x40cm</a:t>
            </a:r>
            <a:r>
              <a:rPr lang="en-US" b="1" i="1" baseline="30000" dirty="0" smtClean="0"/>
              <a:t>2</a:t>
            </a:r>
            <a:r>
              <a:rPr lang="en-US" b="1" i="1" dirty="0" smtClean="0"/>
              <a:t>), corners of the field size are clipped and have sharper than expected falloff</a:t>
            </a:r>
          </a:p>
          <a:p>
            <a:endParaRPr lang="en-US" dirty="0"/>
          </a:p>
          <a:p>
            <a:endParaRPr lang="en-US" dirty="0"/>
          </a:p>
        </p:txBody>
      </p:sp>
    </p:spTree>
    <p:extLst>
      <p:ext uri="{BB962C8B-B14F-4D97-AF65-F5344CB8AC3E}">
        <p14:creationId xmlns:p14="http://schemas.microsoft.com/office/powerpoint/2010/main" val="80768451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13</a:t>
            </a:r>
            <a:endParaRPr lang="en-US" dirty="0"/>
          </a:p>
        </p:txBody>
      </p:sp>
      <p:sp>
        <p:nvSpPr>
          <p:cNvPr id="3" name="Content Placeholder 2"/>
          <p:cNvSpPr>
            <a:spLocks noGrp="1"/>
          </p:cNvSpPr>
          <p:nvPr>
            <p:ph idx="1"/>
          </p:nvPr>
        </p:nvSpPr>
        <p:spPr/>
        <p:txBody>
          <a:bodyPr/>
          <a:lstStyle/>
          <a:p>
            <a:r>
              <a:rPr lang="en-US" dirty="0" smtClean="0"/>
              <a:t>What comes first, the flattening filter or monitor chamber? Why?</a:t>
            </a:r>
          </a:p>
          <a:p>
            <a:endParaRPr lang="en-US" dirty="0"/>
          </a:p>
          <a:p>
            <a:r>
              <a:rPr lang="en-US" dirty="0" smtClean="0"/>
              <a:t>What is the purpose of the flattening filter? Why is it necessary?</a:t>
            </a:r>
          </a:p>
          <a:p>
            <a:endParaRPr lang="en-US" dirty="0"/>
          </a:p>
          <a:p>
            <a:r>
              <a:rPr lang="en-US" dirty="0" smtClean="0"/>
              <a:t>What is the purpose of scattering foils? Why are there two?</a:t>
            </a:r>
            <a:endParaRPr lang="en-US" dirty="0"/>
          </a:p>
        </p:txBody>
      </p:sp>
    </p:spTree>
    <p:extLst>
      <p:ext uri="{BB962C8B-B14F-4D97-AF65-F5344CB8AC3E}">
        <p14:creationId xmlns:p14="http://schemas.microsoft.com/office/powerpoint/2010/main" val="233647745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 13</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What comes first, the flattening filter/scattering foils or monitor chamber? Why?</a:t>
            </a:r>
          </a:p>
          <a:p>
            <a:pPr lvl="1"/>
            <a:r>
              <a:rPr lang="en-US" b="1" i="1" dirty="0" smtClean="0"/>
              <a:t>Flattening filter/scattering foils must be first. Not only does the monitor chamber measure output, but it also measures beam flatness and symmetry</a:t>
            </a:r>
          </a:p>
          <a:p>
            <a:endParaRPr lang="en-US" dirty="0"/>
          </a:p>
          <a:p>
            <a:r>
              <a:rPr lang="en-US" dirty="0" smtClean="0"/>
              <a:t>What is the purpose of the flattening filter? Why is it necessary?</a:t>
            </a:r>
          </a:p>
          <a:p>
            <a:pPr lvl="1"/>
            <a:r>
              <a:rPr lang="en-US" b="1" i="1" dirty="0" smtClean="0"/>
              <a:t>Flattening filter’s purpose is to reduce the beam </a:t>
            </a:r>
            <a:r>
              <a:rPr lang="en-US" b="1" i="1" dirty="0" err="1" smtClean="0"/>
              <a:t>fluence</a:t>
            </a:r>
            <a:r>
              <a:rPr lang="en-US" b="1" i="1" dirty="0" smtClean="0"/>
              <a:t> centrally to create a flat beam profile at a specific depth (usually 10cm)</a:t>
            </a:r>
          </a:p>
          <a:p>
            <a:pPr lvl="1"/>
            <a:r>
              <a:rPr lang="en-US" b="1" i="1" dirty="0" smtClean="0"/>
              <a:t>It is necessary because the bremsstrahlung photons created from the target are pre-dominantly forward scattered, therefore the profile before the flattening filter is peaked centrally (like an FFF beam)</a:t>
            </a:r>
          </a:p>
          <a:p>
            <a:endParaRPr lang="en-US" dirty="0"/>
          </a:p>
          <a:p>
            <a:r>
              <a:rPr lang="en-US" dirty="0" smtClean="0"/>
              <a:t>What is the purpose of scattering foils? Why are there two?</a:t>
            </a:r>
          </a:p>
          <a:p>
            <a:pPr lvl="1"/>
            <a:r>
              <a:rPr lang="en-US" b="1" i="1" dirty="0" smtClean="0"/>
              <a:t>Scattering foils primary function is to scatter the electron beam to a clinically useful field size</a:t>
            </a:r>
          </a:p>
          <a:p>
            <a:pPr lvl="1"/>
            <a:r>
              <a:rPr lang="en-US" b="1" i="1" dirty="0" smtClean="0"/>
              <a:t>There are often 2 layers of scattering foils, the first layer for scattering and the second layer for flattening</a:t>
            </a:r>
            <a:endParaRPr lang="en-US" b="1" i="1" dirty="0"/>
          </a:p>
        </p:txBody>
      </p:sp>
    </p:spTree>
    <p:extLst>
      <p:ext uri="{BB962C8B-B14F-4D97-AF65-F5344CB8AC3E}">
        <p14:creationId xmlns:p14="http://schemas.microsoft.com/office/powerpoint/2010/main" val="220341992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Flattening Filter</a:t>
            </a:r>
            <a:endParaRPr lang="en-US" dirty="0"/>
          </a:p>
        </p:txBody>
      </p:sp>
      <p:sp>
        <p:nvSpPr>
          <p:cNvPr id="3" name="Content Placeholder 2"/>
          <p:cNvSpPr>
            <a:spLocks noGrp="1"/>
          </p:cNvSpPr>
          <p:nvPr>
            <p:ph idx="1"/>
          </p:nvPr>
        </p:nvSpPr>
        <p:spPr>
          <a:xfrm>
            <a:off x="838200" y="1825625"/>
            <a:ext cx="7693479" cy="4351338"/>
          </a:xfrm>
        </p:spPr>
        <p:txBody>
          <a:bodyPr>
            <a:normAutofit fontScale="85000" lnSpcReduction="20000"/>
          </a:bodyPr>
          <a:lstStyle/>
          <a:p>
            <a:r>
              <a:rPr lang="en-US" dirty="0" smtClean="0"/>
              <a:t>Cone-shaped to reduce beam </a:t>
            </a:r>
            <a:r>
              <a:rPr lang="en-US" dirty="0" err="1" smtClean="0"/>
              <a:t>fluence</a:t>
            </a:r>
            <a:r>
              <a:rPr lang="en-US" dirty="0" smtClean="0"/>
              <a:t> at center</a:t>
            </a:r>
          </a:p>
          <a:p>
            <a:endParaRPr lang="en-US" dirty="0"/>
          </a:p>
          <a:p>
            <a:r>
              <a:rPr lang="en-US" dirty="0" smtClean="0"/>
              <a:t>Typically made of a medium-to-low Z material (aluminum)</a:t>
            </a:r>
          </a:p>
          <a:p>
            <a:pPr lvl="1"/>
            <a:r>
              <a:rPr lang="en-US" dirty="0" smtClean="0"/>
              <a:t>Do not want high Z material as that will significantly harden the beam</a:t>
            </a:r>
          </a:p>
          <a:p>
            <a:pPr lvl="1"/>
            <a:endParaRPr lang="en-US" dirty="0"/>
          </a:p>
          <a:p>
            <a:r>
              <a:rPr lang="en-US" dirty="0" smtClean="0"/>
              <a:t>Creates flat beam profile at specific depth (10cm)</a:t>
            </a:r>
          </a:p>
          <a:p>
            <a:endParaRPr lang="en-US" dirty="0"/>
          </a:p>
          <a:p>
            <a:r>
              <a:rPr lang="en-US" dirty="0" smtClean="0"/>
              <a:t>Different flattening filters are needed for each energy</a:t>
            </a:r>
          </a:p>
          <a:p>
            <a:endParaRPr lang="en-US" dirty="0"/>
          </a:p>
          <a:p>
            <a:r>
              <a:rPr lang="en-US" dirty="0" smtClean="0"/>
              <a:t>Downside of flattening filters is that they further reduce photon </a:t>
            </a:r>
            <a:r>
              <a:rPr lang="en-US" dirty="0" err="1" smtClean="0"/>
              <a:t>fluenc</a:t>
            </a:r>
            <a:r>
              <a:rPr lang="en-US" dirty="0" err="1"/>
              <a:t>e</a:t>
            </a:r>
            <a:endParaRPr lang="en-US" dirty="0"/>
          </a:p>
        </p:txBody>
      </p:sp>
      <p:pic>
        <p:nvPicPr>
          <p:cNvPr id="4" name="Picture 3"/>
          <p:cNvPicPr>
            <a:picLocks noChangeAspect="1"/>
          </p:cNvPicPr>
          <p:nvPr/>
        </p:nvPicPr>
        <p:blipFill>
          <a:blip r:embed="rId2"/>
          <a:stretch>
            <a:fillRect/>
          </a:stretch>
        </p:blipFill>
        <p:spPr>
          <a:xfrm>
            <a:off x="9153526" y="2306411"/>
            <a:ext cx="2571750" cy="2343150"/>
          </a:xfrm>
          <a:prstGeom prst="rect">
            <a:avLst/>
          </a:prstGeom>
        </p:spPr>
      </p:pic>
    </p:spTree>
    <p:extLst>
      <p:ext uri="{BB962C8B-B14F-4D97-AF65-F5344CB8AC3E}">
        <p14:creationId xmlns:p14="http://schemas.microsoft.com/office/powerpoint/2010/main" val="195319980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Scattering Foils</a:t>
            </a:r>
            <a:endParaRPr lang="en-US" dirty="0"/>
          </a:p>
        </p:txBody>
      </p:sp>
      <p:sp>
        <p:nvSpPr>
          <p:cNvPr id="3" name="Content Placeholder 2"/>
          <p:cNvSpPr>
            <a:spLocks noGrp="1"/>
          </p:cNvSpPr>
          <p:nvPr>
            <p:ph idx="1"/>
          </p:nvPr>
        </p:nvSpPr>
        <p:spPr>
          <a:xfrm>
            <a:off x="838200" y="1825625"/>
            <a:ext cx="6321879" cy="4351338"/>
          </a:xfrm>
        </p:spPr>
        <p:txBody>
          <a:bodyPr/>
          <a:lstStyle/>
          <a:p>
            <a:r>
              <a:rPr lang="en-US" dirty="0" smtClean="0"/>
              <a:t>Converts thin pencil beam to a spread out electron beam</a:t>
            </a:r>
          </a:p>
          <a:p>
            <a:endParaRPr lang="en-US" dirty="0"/>
          </a:p>
          <a:p>
            <a:r>
              <a:rPr lang="en-US" dirty="0" smtClean="0"/>
              <a:t>Made of lead or copper</a:t>
            </a:r>
          </a:p>
          <a:p>
            <a:endParaRPr lang="en-US" dirty="0"/>
          </a:p>
          <a:p>
            <a:r>
              <a:rPr lang="en-US" dirty="0" smtClean="0"/>
              <a:t>Second foil is used to improve homogeneity across large field sizes</a:t>
            </a:r>
          </a:p>
          <a:p>
            <a:pPr lvl="1"/>
            <a:r>
              <a:rPr lang="en-US" dirty="0" smtClean="0"/>
              <a:t>First foil – scatters</a:t>
            </a:r>
          </a:p>
          <a:p>
            <a:pPr lvl="1"/>
            <a:r>
              <a:rPr lang="en-US" dirty="0" smtClean="0"/>
              <a:t>Second foil – flattens</a:t>
            </a:r>
          </a:p>
        </p:txBody>
      </p:sp>
      <p:pic>
        <p:nvPicPr>
          <p:cNvPr id="4" name="Picture 3"/>
          <p:cNvPicPr>
            <a:picLocks noChangeAspect="1"/>
          </p:cNvPicPr>
          <p:nvPr/>
        </p:nvPicPr>
        <p:blipFill>
          <a:blip r:embed="rId2"/>
          <a:stretch>
            <a:fillRect/>
          </a:stretch>
        </p:blipFill>
        <p:spPr>
          <a:xfrm>
            <a:off x="8125505" y="1825625"/>
            <a:ext cx="3631067" cy="3210751"/>
          </a:xfrm>
          <a:prstGeom prst="rect">
            <a:avLst/>
          </a:prstGeom>
        </p:spPr>
      </p:pic>
    </p:spTree>
    <p:extLst>
      <p:ext uri="{BB962C8B-B14F-4D97-AF65-F5344CB8AC3E}">
        <p14:creationId xmlns:p14="http://schemas.microsoft.com/office/powerpoint/2010/main" val="210000394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Monitor Chambers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Two layers of chambers (MU1 and MU2)</a:t>
            </a:r>
          </a:p>
          <a:p>
            <a:pPr lvl="1"/>
            <a:r>
              <a:rPr lang="en-US" dirty="0" smtClean="0"/>
              <a:t>Second layer is redundancy check in case first one fails</a:t>
            </a:r>
          </a:p>
          <a:p>
            <a:pPr lvl="1"/>
            <a:endParaRPr lang="en-US" dirty="0"/>
          </a:p>
          <a:p>
            <a:r>
              <a:rPr lang="en-US" dirty="0" smtClean="0"/>
              <a:t>In each layer, 4 independent chambers are placed in each quadrant</a:t>
            </a:r>
          </a:p>
          <a:p>
            <a:pPr lvl="1"/>
            <a:r>
              <a:rPr lang="en-US" dirty="0" smtClean="0"/>
              <a:t>These are used to monitor output, flatness, and symmetry of the beam</a:t>
            </a:r>
          </a:p>
          <a:p>
            <a:endParaRPr lang="en-US" dirty="0"/>
          </a:p>
          <a:p>
            <a:r>
              <a:rPr lang="en-US" dirty="0" smtClean="0"/>
              <a:t>These chambers are sealed and pressurized so environmental variations have no impact on machine output</a:t>
            </a:r>
          </a:p>
          <a:p>
            <a:endParaRPr lang="en-US" dirty="0"/>
          </a:p>
          <a:p>
            <a:r>
              <a:rPr lang="en-US" dirty="0" smtClean="0"/>
              <a:t>ION1 and ION2 are separate components which deliver test charge to the MU1 and MU2 chambers before clinical beam is delivered. This test charge is used to confirm their calibration</a:t>
            </a:r>
          </a:p>
          <a:p>
            <a:endParaRPr lang="en-US" dirty="0"/>
          </a:p>
          <a:p>
            <a:r>
              <a:rPr lang="en-US" dirty="0" smtClean="0"/>
              <a:t>When you change output, you are changing MU1 and MU2 by telling these chambers how much collected charge is equivalent to 1 monitor unit (based on TG-51). </a:t>
            </a:r>
          </a:p>
          <a:p>
            <a:pPr lvl="1"/>
            <a:endParaRPr lang="en-US" dirty="0"/>
          </a:p>
        </p:txBody>
      </p:sp>
    </p:spTree>
    <p:extLst>
      <p:ext uri="{BB962C8B-B14F-4D97-AF65-F5344CB8AC3E}">
        <p14:creationId xmlns:p14="http://schemas.microsoft.com/office/powerpoint/2010/main" val="6659329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Remaining Beam Shaping Components</a:t>
            </a:r>
            <a:endParaRPr lang="en-US" dirty="0"/>
          </a:p>
        </p:txBody>
      </p:sp>
      <p:sp>
        <p:nvSpPr>
          <p:cNvPr id="3" name="Content Placeholder 2"/>
          <p:cNvSpPr>
            <a:spLocks noGrp="1"/>
          </p:cNvSpPr>
          <p:nvPr>
            <p:ph idx="1"/>
          </p:nvPr>
        </p:nvSpPr>
        <p:spPr>
          <a:xfrm>
            <a:off x="838200" y="1825625"/>
            <a:ext cx="6460671" cy="4351338"/>
          </a:xfrm>
        </p:spPr>
        <p:txBody>
          <a:bodyPr>
            <a:normAutofit fontScale="55000" lnSpcReduction="20000"/>
          </a:bodyPr>
          <a:lstStyle/>
          <a:p>
            <a:r>
              <a:rPr lang="en-US" dirty="0" smtClean="0"/>
              <a:t>Jaws (Secondary Collimators)</a:t>
            </a:r>
          </a:p>
          <a:p>
            <a:pPr lvl="1"/>
            <a:r>
              <a:rPr lang="en-US" dirty="0" smtClean="0"/>
              <a:t>Max transmission through these collimators must be &lt;2% (defined by the IEC)</a:t>
            </a:r>
          </a:p>
          <a:p>
            <a:pPr lvl="1"/>
            <a:r>
              <a:rPr lang="en-US" dirty="0" smtClean="0"/>
              <a:t>Clinically, transmission is typically &lt;0.5%</a:t>
            </a:r>
          </a:p>
          <a:p>
            <a:pPr lvl="1"/>
            <a:r>
              <a:rPr lang="en-US" dirty="0" smtClean="0"/>
              <a:t>Higher the jaw position, larger the penumbra</a:t>
            </a:r>
          </a:p>
          <a:p>
            <a:endParaRPr lang="en-US" dirty="0"/>
          </a:p>
          <a:p>
            <a:r>
              <a:rPr lang="en-US" dirty="0" smtClean="0"/>
              <a:t>MLCs</a:t>
            </a:r>
          </a:p>
          <a:p>
            <a:pPr lvl="1"/>
            <a:r>
              <a:rPr lang="en-US" dirty="0" smtClean="0"/>
              <a:t>MLC transmission should be less than 5% (</a:t>
            </a:r>
            <a:r>
              <a:rPr lang="en-US" dirty="0" err="1" smtClean="0"/>
              <a:t>Intraleaf</a:t>
            </a:r>
            <a:r>
              <a:rPr lang="en-US" dirty="0" smtClean="0"/>
              <a:t> leakage </a:t>
            </a:r>
            <a:r>
              <a:rPr lang="en-US" dirty="0" smtClean="0">
                <a:sym typeface="Wingdings" panose="05000000000000000000" pitchFamily="2" charset="2"/>
              </a:rPr>
              <a:t> usually &lt;1%)</a:t>
            </a:r>
          </a:p>
          <a:p>
            <a:pPr lvl="1"/>
            <a:r>
              <a:rPr lang="en-US" dirty="0" smtClean="0">
                <a:sym typeface="Wingdings" panose="05000000000000000000" pitchFamily="2" charset="2"/>
              </a:rPr>
              <a:t>Interleaf leakage (between two leaves) should be approximately 1-2%</a:t>
            </a:r>
            <a:endParaRPr lang="en-US" dirty="0" smtClean="0"/>
          </a:p>
          <a:p>
            <a:endParaRPr lang="en-US" dirty="0"/>
          </a:p>
          <a:p>
            <a:r>
              <a:rPr lang="en-US" dirty="0" smtClean="0"/>
              <a:t>Blocks</a:t>
            </a:r>
          </a:p>
          <a:p>
            <a:pPr lvl="1"/>
            <a:r>
              <a:rPr lang="en-US" dirty="0" smtClean="0"/>
              <a:t>Designed to have transmission of no more than 5%</a:t>
            </a:r>
          </a:p>
          <a:p>
            <a:pPr lvl="1"/>
            <a:r>
              <a:rPr lang="en-US" dirty="0" smtClean="0"/>
              <a:t>Made of </a:t>
            </a:r>
            <a:r>
              <a:rPr lang="en-US" dirty="0" err="1" smtClean="0"/>
              <a:t>cerroband</a:t>
            </a:r>
            <a:endParaRPr lang="en-US" dirty="0" smtClean="0"/>
          </a:p>
          <a:p>
            <a:endParaRPr lang="en-US" dirty="0"/>
          </a:p>
          <a:p>
            <a:r>
              <a:rPr lang="en-US" dirty="0" smtClean="0"/>
              <a:t>Electron cones</a:t>
            </a:r>
          </a:p>
          <a:p>
            <a:pPr lvl="1"/>
            <a:r>
              <a:rPr lang="en-US" dirty="0" smtClean="0"/>
              <a:t>Extend out from </a:t>
            </a:r>
            <a:r>
              <a:rPr lang="en-US" dirty="0" err="1" smtClean="0"/>
              <a:t>linac</a:t>
            </a:r>
            <a:r>
              <a:rPr lang="en-US" dirty="0" smtClean="0"/>
              <a:t> head to collimate beam closer to patient to minimize air gap, as electrons susceptible to scattering</a:t>
            </a:r>
          </a:p>
          <a:p>
            <a:pPr lvl="1"/>
            <a:endParaRPr lang="en-US" dirty="0"/>
          </a:p>
          <a:p>
            <a:r>
              <a:rPr lang="en-US" dirty="0" smtClean="0"/>
              <a:t>Wedges</a:t>
            </a:r>
            <a:endParaRPr lang="en-US" dirty="0"/>
          </a:p>
        </p:txBody>
      </p:sp>
      <p:pic>
        <p:nvPicPr>
          <p:cNvPr id="4" name="Picture 3"/>
          <p:cNvPicPr>
            <a:picLocks noChangeAspect="1"/>
          </p:cNvPicPr>
          <p:nvPr/>
        </p:nvPicPr>
        <p:blipFill>
          <a:blip r:embed="rId2"/>
          <a:stretch>
            <a:fillRect/>
          </a:stretch>
        </p:blipFill>
        <p:spPr>
          <a:xfrm>
            <a:off x="7442064" y="1825625"/>
            <a:ext cx="4652847" cy="3455311"/>
          </a:xfrm>
          <a:prstGeom prst="rect">
            <a:avLst/>
          </a:prstGeom>
        </p:spPr>
      </p:pic>
    </p:spTree>
    <p:extLst>
      <p:ext uri="{BB962C8B-B14F-4D97-AF65-F5344CB8AC3E}">
        <p14:creationId xmlns:p14="http://schemas.microsoft.com/office/powerpoint/2010/main" val="186598396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 Selection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Three possible options</a:t>
            </a:r>
          </a:p>
          <a:p>
            <a:endParaRPr lang="en-US" dirty="0"/>
          </a:p>
          <a:p>
            <a:pPr marL="914400" lvl="1" indent="-457200">
              <a:buFont typeface="+mj-lt"/>
              <a:buAutoNum type="arabicPeriod"/>
            </a:pPr>
            <a:r>
              <a:rPr lang="en-US" dirty="0" smtClean="0"/>
              <a:t>Change electron beam current (called “beam loading”)</a:t>
            </a:r>
          </a:p>
          <a:p>
            <a:pPr lvl="2"/>
            <a:r>
              <a:rPr lang="en-US" dirty="0" smtClean="0"/>
              <a:t>The more electrons we inject into the waveguide, the less energy each one will gain from microwave input. For a fixed microwave power input, increase in electrons leads to decrease in final energy</a:t>
            </a:r>
          </a:p>
          <a:p>
            <a:pPr lvl="2"/>
            <a:r>
              <a:rPr lang="en-US" dirty="0" smtClean="0"/>
              <a:t>This technique is not used </a:t>
            </a:r>
            <a:r>
              <a:rPr lang="en-US" dirty="0" err="1" smtClean="0"/>
              <a:t>frequenty</a:t>
            </a:r>
            <a:endParaRPr lang="en-US" dirty="0" smtClean="0"/>
          </a:p>
          <a:p>
            <a:pPr marL="914400" lvl="1" indent="-457200">
              <a:buFont typeface="+mj-lt"/>
              <a:buAutoNum type="arabicPeriod"/>
            </a:pPr>
            <a:endParaRPr lang="en-US" dirty="0"/>
          </a:p>
          <a:p>
            <a:pPr marL="914400" lvl="1" indent="-457200">
              <a:buFont typeface="+mj-lt"/>
              <a:buAutoNum type="arabicPeriod"/>
            </a:pPr>
            <a:r>
              <a:rPr lang="en-US" dirty="0" smtClean="0"/>
              <a:t>Change the RF output power</a:t>
            </a:r>
          </a:p>
          <a:p>
            <a:pPr lvl="2"/>
            <a:r>
              <a:rPr lang="en-US" dirty="0" smtClean="0"/>
              <a:t>Reduce RF power leaving the klystron, which will leave less energy to accelerate the electrons in the accelerating waveguide or vice versa</a:t>
            </a:r>
          </a:p>
          <a:p>
            <a:pPr lvl="2"/>
            <a:r>
              <a:rPr lang="en-US" dirty="0" smtClean="0"/>
              <a:t>This can be done by changing the RF Driver input power to the klystron or changing the klystron amplification power</a:t>
            </a:r>
          </a:p>
          <a:p>
            <a:pPr marL="914400" lvl="1" indent="-457200">
              <a:buFont typeface="+mj-lt"/>
              <a:buAutoNum type="arabicPeriod"/>
            </a:pPr>
            <a:endParaRPr lang="en-US" dirty="0"/>
          </a:p>
          <a:p>
            <a:pPr marL="914400" lvl="1" indent="-457200">
              <a:buFont typeface="+mj-lt"/>
              <a:buAutoNum type="arabicPeriod"/>
            </a:pPr>
            <a:r>
              <a:rPr lang="en-US" dirty="0" smtClean="0"/>
              <a:t>Short out part of the accelerating waveguide</a:t>
            </a:r>
          </a:p>
          <a:p>
            <a:pPr lvl="2"/>
            <a:r>
              <a:rPr lang="en-US" dirty="0" smtClean="0"/>
              <a:t>Depending on the energy needed, a certain amount of the guide is shorted out so no acceleration occurs in those cavities</a:t>
            </a:r>
          </a:p>
          <a:p>
            <a:pPr lvl="2"/>
            <a:r>
              <a:rPr lang="en-US" dirty="0" smtClean="0"/>
              <a:t>Using this technique is also called applying a plunger to the waveguide</a:t>
            </a:r>
          </a:p>
        </p:txBody>
      </p:sp>
    </p:spTree>
    <p:extLst>
      <p:ext uri="{BB962C8B-B14F-4D97-AF65-F5344CB8AC3E}">
        <p14:creationId xmlns:p14="http://schemas.microsoft.com/office/powerpoint/2010/main" val="306365555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 Selection</a:t>
            </a:r>
            <a:endParaRPr lang="en-US" dirty="0"/>
          </a:p>
        </p:txBody>
      </p:sp>
      <p:sp>
        <p:nvSpPr>
          <p:cNvPr id="3" name="Content Placeholder 2"/>
          <p:cNvSpPr>
            <a:spLocks noGrp="1"/>
          </p:cNvSpPr>
          <p:nvPr>
            <p:ph idx="1"/>
          </p:nvPr>
        </p:nvSpPr>
        <p:spPr/>
        <p:txBody>
          <a:bodyPr>
            <a:normAutofit/>
          </a:bodyPr>
          <a:lstStyle/>
          <a:p>
            <a:pPr marL="0" indent="0">
              <a:buNone/>
            </a:pPr>
            <a:endParaRPr lang="en-US" dirty="0"/>
          </a:p>
          <a:p>
            <a:pPr marL="914400" lvl="1" indent="-457200">
              <a:buFont typeface="+mj-lt"/>
              <a:buAutoNum type="arabicPeriod"/>
            </a:pPr>
            <a:r>
              <a:rPr lang="en-US" dirty="0" smtClean="0"/>
              <a:t>Change electron beam current (called “beam loading”)</a:t>
            </a:r>
          </a:p>
          <a:p>
            <a:pPr lvl="2"/>
            <a:r>
              <a:rPr lang="en-US" b="1" i="1" dirty="0" smtClean="0"/>
              <a:t>This technique is not used frequently</a:t>
            </a:r>
          </a:p>
          <a:p>
            <a:pPr marL="914400" lvl="1" indent="-457200">
              <a:buFont typeface="+mj-lt"/>
              <a:buAutoNum type="arabicPeriod"/>
            </a:pPr>
            <a:endParaRPr lang="en-US" dirty="0"/>
          </a:p>
          <a:p>
            <a:pPr marL="914400" lvl="1" indent="-457200">
              <a:buFont typeface="+mj-lt"/>
              <a:buAutoNum type="arabicPeriod"/>
            </a:pPr>
            <a:r>
              <a:rPr lang="en-US" dirty="0" smtClean="0"/>
              <a:t>Change the RF output power</a:t>
            </a:r>
          </a:p>
          <a:p>
            <a:pPr lvl="2"/>
            <a:r>
              <a:rPr lang="en-US" b="1" i="1" dirty="0" smtClean="0"/>
              <a:t>This technique is commonly used but there is a limited range of energies available for a fixed waveguide length</a:t>
            </a:r>
          </a:p>
          <a:p>
            <a:pPr marL="914400" lvl="1" indent="-457200">
              <a:buFont typeface="+mj-lt"/>
              <a:buAutoNum type="arabicPeriod"/>
            </a:pPr>
            <a:endParaRPr lang="en-US" dirty="0"/>
          </a:p>
          <a:p>
            <a:pPr marL="914400" lvl="1" indent="-457200">
              <a:buFont typeface="+mj-lt"/>
              <a:buAutoNum type="arabicPeriod"/>
            </a:pPr>
            <a:r>
              <a:rPr lang="en-US" dirty="0" smtClean="0"/>
              <a:t>Short out part of the accelerating waveguide</a:t>
            </a:r>
          </a:p>
          <a:p>
            <a:pPr lvl="2"/>
            <a:r>
              <a:rPr lang="en-US" b="1" i="1" dirty="0" smtClean="0"/>
              <a:t>This is another common method</a:t>
            </a:r>
          </a:p>
        </p:txBody>
      </p:sp>
    </p:spTree>
    <p:extLst>
      <p:ext uri="{BB962C8B-B14F-4D97-AF65-F5344CB8AC3E}">
        <p14:creationId xmlns:p14="http://schemas.microsoft.com/office/powerpoint/2010/main" val="102623670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 Selection – Varian Machines</a:t>
            </a:r>
            <a:endParaRPr lang="en-US" dirty="0"/>
          </a:p>
        </p:txBody>
      </p:sp>
      <p:sp>
        <p:nvSpPr>
          <p:cNvPr id="3" name="Content Placeholder 2"/>
          <p:cNvSpPr>
            <a:spLocks noGrp="1"/>
          </p:cNvSpPr>
          <p:nvPr>
            <p:ph idx="1"/>
          </p:nvPr>
        </p:nvSpPr>
        <p:spPr/>
        <p:txBody>
          <a:bodyPr>
            <a:normAutofit lnSpcReduction="10000"/>
          </a:bodyPr>
          <a:lstStyle/>
          <a:p>
            <a:r>
              <a:rPr lang="en-US" dirty="0" smtClean="0"/>
              <a:t>Disclaimer – I have seen conflicting information on how Varian machines operate 6e, 9e, 12e, 16e. Some sources say they operate in full waveguide mode, some say they operate in shorted mode</a:t>
            </a:r>
          </a:p>
          <a:p>
            <a:r>
              <a:rPr lang="en-US" dirty="0" smtClean="0"/>
              <a:t>This info is consistent:</a:t>
            </a:r>
          </a:p>
          <a:p>
            <a:pPr lvl="1"/>
            <a:r>
              <a:rPr lang="en-US" dirty="0" smtClean="0"/>
              <a:t>There are two waveguide modes: High energy and low energy</a:t>
            </a:r>
          </a:p>
          <a:p>
            <a:pPr lvl="2"/>
            <a:r>
              <a:rPr lang="en-US" dirty="0" smtClean="0"/>
              <a:t>High energy mode utilizes the entire length of the waveguide</a:t>
            </a:r>
          </a:p>
          <a:p>
            <a:pPr lvl="2"/>
            <a:r>
              <a:rPr lang="en-US" dirty="0" smtClean="0"/>
              <a:t>Low energy mode shorts out part of the waveguide with a copper pin</a:t>
            </a:r>
          </a:p>
          <a:p>
            <a:pPr lvl="2"/>
            <a:r>
              <a:rPr lang="en-US" dirty="0" smtClean="0"/>
              <a:t>For 18X/20MeV </a:t>
            </a:r>
            <a:r>
              <a:rPr lang="en-US" dirty="0" smtClean="0">
                <a:sym typeface="Wingdings" panose="05000000000000000000" pitchFamily="2" charset="2"/>
              </a:rPr>
              <a:t> High energy mode is used</a:t>
            </a:r>
          </a:p>
          <a:p>
            <a:pPr lvl="2"/>
            <a:r>
              <a:rPr lang="en-US" dirty="0" smtClean="0">
                <a:sym typeface="Wingdings" panose="05000000000000000000" pitchFamily="2" charset="2"/>
              </a:rPr>
              <a:t>For 6X  Low energy mode is used</a:t>
            </a:r>
          </a:p>
          <a:p>
            <a:pPr lvl="1"/>
            <a:r>
              <a:rPr lang="en-US" dirty="0" smtClean="0">
                <a:sym typeface="Wingdings" panose="05000000000000000000" pitchFamily="2" charset="2"/>
              </a:rPr>
              <a:t>The klystron is fixed at a constant amplification power</a:t>
            </a:r>
          </a:p>
          <a:p>
            <a:pPr lvl="1"/>
            <a:r>
              <a:rPr lang="en-US" dirty="0" smtClean="0">
                <a:sym typeface="Wingdings" panose="05000000000000000000" pitchFamily="2" charset="2"/>
              </a:rPr>
              <a:t>The RF driver input power is varied to the klystron for smaller energy changes (i.e. 6e9e)</a:t>
            </a:r>
          </a:p>
          <a:p>
            <a:pPr lvl="1"/>
            <a:endParaRPr lang="en-US" dirty="0" smtClean="0"/>
          </a:p>
          <a:p>
            <a:endParaRPr lang="en-US" dirty="0"/>
          </a:p>
          <a:p>
            <a:pPr marL="0" indent="0">
              <a:buNone/>
            </a:pPr>
            <a:endParaRPr lang="en-US" dirty="0"/>
          </a:p>
        </p:txBody>
      </p:sp>
    </p:spTree>
    <p:extLst>
      <p:ext uri="{BB962C8B-B14F-4D97-AF65-F5344CB8AC3E}">
        <p14:creationId xmlns:p14="http://schemas.microsoft.com/office/powerpoint/2010/main" val="77279733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 Selection – Varian Machines</a:t>
            </a:r>
            <a:endParaRPr lang="en-US" dirty="0"/>
          </a:p>
        </p:txBody>
      </p:sp>
      <p:sp>
        <p:nvSpPr>
          <p:cNvPr id="3" name="Content Placeholder 2"/>
          <p:cNvSpPr>
            <a:spLocks noGrp="1"/>
          </p:cNvSpPr>
          <p:nvPr>
            <p:ph idx="1"/>
          </p:nvPr>
        </p:nvSpPr>
        <p:spPr>
          <a:xfrm>
            <a:off x="838200" y="1825625"/>
            <a:ext cx="10648950" cy="4351338"/>
          </a:xfrm>
        </p:spPr>
        <p:txBody>
          <a:bodyPr>
            <a:normAutofit/>
          </a:bodyPr>
          <a:lstStyle/>
          <a:p>
            <a:r>
              <a:rPr lang="en-US" dirty="0" smtClean="0"/>
              <a:t>One more consideration about why plunger is definitely needed for 6X:</a:t>
            </a:r>
          </a:p>
          <a:p>
            <a:pPr lvl="1"/>
            <a:r>
              <a:rPr lang="en-US" dirty="0"/>
              <a:t>B</a:t>
            </a:r>
            <a:r>
              <a:rPr lang="en-US" dirty="0" smtClean="0"/>
              <a:t>eam current required for 6X more significant than any other energy (lowest Bremsstrahlung efficiency and low output due to flattening filter)</a:t>
            </a:r>
          </a:p>
          <a:p>
            <a:pPr lvl="1"/>
            <a:r>
              <a:rPr lang="en-US" dirty="0" smtClean="0"/>
              <a:t>Higher current </a:t>
            </a:r>
            <a:r>
              <a:rPr lang="en-US" dirty="0" smtClean="0">
                <a:sym typeface="Wingdings" panose="05000000000000000000" pitchFamily="2" charset="2"/>
              </a:rPr>
              <a:t> less stability as well, so shorter waveguide may help with this </a:t>
            </a:r>
            <a:endParaRPr lang="en-US" dirty="0"/>
          </a:p>
        </p:txBody>
      </p:sp>
    </p:spTree>
    <p:extLst>
      <p:ext uri="{BB962C8B-B14F-4D97-AF65-F5344CB8AC3E}">
        <p14:creationId xmlns:p14="http://schemas.microsoft.com/office/powerpoint/2010/main" val="256854353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Dose Rate – Varian Machines</a:t>
            </a:r>
            <a:endParaRPr lang="en-US" dirty="0"/>
          </a:p>
        </p:txBody>
      </p:sp>
      <p:sp>
        <p:nvSpPr>
          <p:cNvPr id="3" name="Content Placeholder 2"/>
          <p:cNvSpPr>
            <a:spLocks noGrp="1"/>
          </p:cNvSpPr>
          <p:nvPr>
            <p:ph idx="1"/>
          </p:nvPr>
        </p:nvSpPr>
        <p:spPr>
          <a:xfrm>
            <a:off x="838200" y="1825625"/>
            <a:ext cx="6248400" cy="4351338"/>
          </a:xfrm>
        </p:spPr>
        <p:txBody>
          <a:bodyPr/>
          <a:lstStyle/>
          <a:p>
            <a:r>
              <a:rPr lang="en-US" dirty="0" smtClean="0"/>
              <a:t>Varian LINACs have a </a:t>
            </a:r>
            <a:r>
              <a:rPr lang="en-US" u="sng" dirty="0" smtClean="0"/>
              <a:t>fixed pulse rate</a:t>
            </a:r>
          </a:p>
          <a:p>
            <a:pPr lvl="1"/>
            <a:r>
              <a:rPr lang="en-US" dirty="0" smtClean="0"/>
              <a:t>This means the rate at which the accelerating cavity is energized is fixed. The microwave pulses will always be sent in every 4 milliseconds. </a:t>
            </a:r>
          </a:p>
          <a:p>
            <a:pPr lvl="1"/>
            <a:endParaRPr lang="en-US" dirty="0"/>
          </a:p>
          <a:p>
            <a:r>
              <a:rPr lang="en-US" dirty="0" smtClean="0"/>
              <a:t>Dose rate modulation is controlled by the </a:t>
            </a:r>
            <a:r>
              <a:rPr lang="en-US" u="sng" dirty="0" smtClean="0"/>
              <a:t>electrified grid</a:t>
            </a:r>
            <a:r>
              <a:rPr lang="en-US" dirty="0" smtClean="0"/>
              <a:t> of the triode electron gun</a:t>
            </a:r>
          </a:p>
          <a:p>
            <a:pPr lvl="1"/>
            <a:r>
              <a:rPr lang="en-US" dirty="0" smtClean="0"/>
              <a:t>The grid determines which pulses receive electron-loading and which do not</a:t>
            </a:r>
            <a:endParaRPr lang="en-US" dirty="0"/>
          </a:p>
        </p:txBody>
      </p:sp>
      <p:pic>
        <p:nvPicPr>
          <p:cNvPr id="4" name="Picture 3"/>
          <p:cNvPicPr>
            <a:picLocks noChangeAspect="1"/>
          </p:cNvPicPr>
          <p:nvPr/>
        </p:nvPicPr>
        <p:blipFill rotWithShape="1">
          <a:blip r:embed="rId2"/>
          <a:srcRect t="4049" b="4871"/>
          <a:stretch/>
        </p:blipFill>
        <p:spPr>
          <a:xfrm>
            <a:off x="7935362" y="1330778"/>
            <a:ext cx="3793234" cy="2555422"/>
          </a:xfrm>
          <a:prstGeom prst="rect">
            <a:avLst/>
          </a:prstGeom>
        </p:spPr>
      </p:pic>
      <p:pic>
        <p:nvPicPr>
          <p:cNvPr id="5" name="Picture 4"/>
          <p:cNvPicPr>
            <a:picLocks noChangeAspect="1"/>
          </p:cNvPicPr>
          <p:nvPr/>
        </p:nvPicPr>
        <p:blipFill>
          <a:blip r:embed="rId3"/>
          <a:stretch>
            <a:fillRect/>
          </a:stretch>
        </p:blipFill>
        <p:spPr>
          <a:xfrm>
            <a:off x="7835868" y="4098066"/>
            <a:ext cx="3992221" cy="2614981"/>
          </a:xfrm>
          <a:prstGeom prst="rect">
            <a:avLst/>
          </a:prstGeom>
        </p:spPr>
      </p:pic>
    </p:spTree>
    <p:extLst>
      <p:ext uri="{BB962C8B-B14F-4D97-AF65-F5344CB8AC3E}">
        <p14:creationId xmlns:p14="http://schemas.microsoft.com/office/powerpoint/2010/main" val="28724275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1141</TotalTime>
  <Words>2952</Words>
  <Application>Microsoft Office PowerPoint</Application>
  <PresentationFormat>Widescreen</PresentationFormat>
  <Paragraphs>399</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Calibri Light</vt:lpstr>
      <vt:lpstr>Wingdings</vt:lpstr>
      <vt:lpstr>Office Theme</vt:lpstr>
      <vt:lpstr>Linac Components</vt:lpstr>
      <vt:lpstr>General Overview</vt:lpstr>
      <vt:lpstr>Questions</vt:lpstr>
      <vt:lpstr>Questions 2</vt:lpstr>
      <vt:lpstr>Modulator</vt:lpstr>
      <vt:lpstr>Modulator - Thyratron</vt:lpstr>
      <vt:lpstr>Question 3</vt:lpstr>
      <vt:lpstr>Modulator</vt:lpstr>
      <vt:lpstr>Questions</vt:lpstr>
      <vt:lpstr>Answers </vt:lpstr>
      <vt:lpstr>Questions 2</vt:lpstr>
      <vt:lpstr>Answers 2</vt:lpstr>
      <vt:lpstr>Question 3</vt:lpstr>
      <vt:lpstr>Answers 3</vt:lpstr>
      <vt:lpstr>Modulator</vt:lpstr>
      <vt:lpstr>RF Driver</vt:lpstr>
      <vt:lpstr>Answers 4</vt:lpstr>
      <vt:lpstr>Klystron</vt:lpstr>
      <vt:lpstr>Klystron</vt:lpstr>
      <vt:lpstr>Question 5</vt:lpstr>
      <vt:lpstr>Magnetron</vt:lpstr>
      <vt:lpstr>Question 5</vt:lpstr>
      <vt:lpstr>Answers 5</vt:lpstr>
      <vt:lpstr>Questions 6</vt:lpstr>
      <vt:lpstr>Answers 6</vt:lpstr>
      <vt:lpstr>Circulator</vt:lpstr>
      <vt:lpstr>Electron Gun</vt:lpstr>
      <vt:lpstr>Electron Gun</vt:lpstr>
      <vt:lpstr>Questions 7</vt:lpstr>
      <vt:lpstr>Questions 7</vt:lpstr>
      <vt:lpstr>Electron Gun</vt:lpstr>
      <vt:lpstr>Questions 8</vt:lpstr>
      <vt:lpstr>Answers 8</vt:lpstr>
      <vt:lpstr>Accelerator Waveguide</vt:lpstr>
      <vt:lpstr>Questions 9</vt:lpstr>
      <vt:lpstr>Accelerating Waveguide</vt:lpstr>
      <vt:lpstr>Questions 9</vt:lpstr>
      <vt:lpstr>Accelerating Waveguide</vt:lpstr>
      <vt:lpstr>Standing Accelerating Waveguide</vt:lpstr>
      <vt:lpstr>Questions 10</vt:lpstr>
      <vt:lpstr>Answers 10</vt:lpstr>
      <vt:lpstr>Accelerating Waveguide</vt:lpstr>
      <vt:lpstr>Bending Magnet</vt:lpstr>
      <vt:lpstr>Bending Magnet</vt:lpstr>
      <vt:lpstr>Questions 11 – Target</vt:lpstr>
      <vt:lpstr>Answers 11 – Target</vt:lpstr>
      <vt:lpstr>Questions 12 –Target  </vt:lpstr>
      <vt:lpstr>Answers 12 –Target  </vt:lpstr>
      <vt:lpstr>Target</vt:lpstr>
      <vt:lpstr>Primary Collimator</vt:lpstr>
      <vt:lpstr>Primary Collimator</vt:lpstr>
      <vt:lpstr>Questions 13</vt:lpstr>
      <vt:lpstr>Answers 13</vt:lpstr>
      <vt:lpstr>Flattening Filter</vt:lpstr>
      <vt:lpstr>Scattering Foils</vt:lpstr>
      <vt:lpstr>Monitor Chambers</vt:lpstr>
      <vt:lpstr>Remaining Beam Shaping Components</vt:lpstr>
      <vt:lpstr>Energy Selection</vt:lpstr>
      <vt:lpstr>Energy Selection</vt:lpstr>
      <vt:lpstr>Energy Selection – Varian Machines</vt:lpstr>
      <vt:lpstr>Energy Selection – Varian Machines</vt:lpstr>
      <vt:lpstr>Changing Dose Rate – Varian Machines</vt:lpstr>
    </vt:vector>
  </TitlesOfParts>
  <Company>Penn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LINAC Components</dc:title>
  <dc:creator>Burgdorf, Brendan</dc:creator>
  <cp:lastModifiedBy>Burgdorf, Brendan</cp:lastModifiedBy>
  <cp:revision>54</cp:revision>
  <dcterms:created xsi:type="dcterms:W3CDTF">2018-04-03T14:21:02Z</dcterms:created>
  <dcterms:modified xsi:type="dcterms:W3CDTF">2019-04-03T17:50:30Z</dcterms:modified>
</cp:coreProperties>
</file>