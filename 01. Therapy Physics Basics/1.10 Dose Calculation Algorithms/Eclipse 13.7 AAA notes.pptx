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63"/>
  </p:handoutMasterIdLst>
  <p:sldIdLst>
    <p:sldId id="256" r:id="rId2"/>
    <p:sldId id="263" r:id="rId3"/>
    <p:sldId id="264" r:id="rId4"/>
    <p:sldId id="257" r:id="rId5"/>
    <p:sldId id="258" r:id="rId6"/>
    <p:sldId id="265" r:id="rId7"/>
    <p:sldId id="266" r:id="rId8"/>
    <p:sldId id="267" r:id="rId9"/>
    <p:sldId id="268" r:id="rId10"/>
    <p:sldId id="269" r:id="rId11"/>
    <p:sldId id="259" r:id="rId12"/>
    <p:sldId id="271" r:id="rId13"/>
    <p:sldId id="270" r:id="rId14"/>
    <p:sldId id="317" r:id="rId15"/>
    <p:sldId id="318" r:id="rId16"/>
    <p:sldId id="260" r:id="rId17"/>
    <p:sldId id="261" r:id="rId18"/>
    <p:sldId id="262" r:id="rId19"/>
    <p:sldId id="274" r:id="rId20"/>
    <p:sldId id="276" r:id="rId21"/>
    <p:sldId id="277" r:id="rId22"/>
    <p:sldId id="275" r:id="rId23"/>
    <p:sldId id="278" r:id="rId24"/>
    <p:sldId id="279" r:id="rId25"/>
    <p:sldId id="280" r:id="rId26"/>
    <p:sldId id="281" r:id="rId27"/>
    <p:sldId id="282" r:id="rId28"/>
    <p:sldId id="283" r:id="rId29"/>
    <p:sldId id="285" r:id="rId30"/>
    <p:sldId id="300"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273" r:id="rId60"/>
    <p:sldId id="316" r:id="rId61"/>
    <p:sldId id="315" r:id="rId62"/>
  </p:sldIdLst>
  <p:sldSz cx="12192000" cy="6858000"/>
  <p:notesSz cx="9296400" cy="688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57" d="100"/>
          <a:sy n="57" d="100"/>
        </p:scale>
        <p:origin x="108" y="1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45286"/>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sz="quarter" idx="1"/>
          </p:nvPr>
        </p:nvSpPr>
        <p:spPr>
          <a:xfrm>
            <a:off x="5265809" y="0"/>
            <a:ext cx="4028440" cy="345286"/>
          </a:xfrm>
          <a:prstGeom prst="rect">
            <a:avLst/>
          </a:prstGeom>
        </p:spPr>
        <p:txBody>
          <a:bodyPr vert="horz" lIns="92446" tIns="46223" rIns="92446" bIns="46223" rtlCol="0"/>
          <a:lstStyle>
            <a:lvl1pPr algn="r">
              <a:defRPr sz="1200"/>
            </a:lvl1pPr>
          </a:lstStyle>
          <a:p>
            <a:fld id="{FEDCC7C0-BAE3-4630-B702-BFE1B3E696A4}" type="datetimeFigureOut">
              <a:rPr lang="en-US" smtClean="0"/>
              <a:t>8/22/2024</a:t>
            </a:fld>
            <a:endParaRPr lang="en-US"/>
          </a:p>
        </p:txBody>
      </p:sp>
      <p:sp>
        <p:nvSpPr>
          <p:cNvPr id="4" name="Footer Placeholder 3"/>
          <p:cNvSpPr>
            <a:spLocks noGrp="1"/>
          </p:cNvSpPr>
          <p:nvPr>
            <p:ph type="ftr" sz="quarter" idx="2"/>
          </p:nvPr>
        </p:nvSpPr>
        <p:spPr>
          <a:xfrm>
            <a:off x="0" y="6536528"/>
            <a:ext cx="4028440" cy="345285"/>
          </a:xfrm>
          <a:prstGeom prst="rect">
            <a:avLst/>
          </a:prstGeom>
        </p:spPr>
        <p:txBody>
          <a:bodyPr vert="horz" lIns="92446" tIns="46223" rIns="92446" bIns="46223" rtlCol="0" anchor="b"/>
          <a:lstStyle>
            <a:lvl1pPr algn="l">
              <a:defRPr sz="1200"/>
            </a:lvl1pPr>
          </a:lstStyle>
          <a:p>
            <a:endParaRPr lang="en-US"/>
          </a:p>
        </p:txBody>
      </p:sp>
      <p:sp>
        <p:nvSpPr>
          <p:cNvPr id="5" name="Slide Number Placeholder 4"/>
          <p:cNvSpPr>
            <a:spLocks noGrp="1"/>
          </p:cNvSpPr>
          <p:nvPr>
            <p:ph type="sldNum" sz="quarter" idx="3"/>
          </p:nvPr>
        </p:nvSpPr>
        <p:spPr>
          <a:xfrm>
            <a:off x="5265809" y="6536528"/>
            <a:ext cx="4028440" cy="345285"/>
          </a:xfrm>
          <a:prstGeom prst="rect">
            <a:avLst/>
          </a:prstGeom>
        </p:spPr>
        <p:txBody>
          <a:bodyPr vert="horz" lIns="92446" tIns="46223" rIns="92446" bIns="46223" rtlCol="0" anchor="b"/>
          <a:lstStyle>
            <a:lvl1pPr algn="r">
              <a:defRPr sz="1200"/>
            </a:lvl1pPr>
          </a:lstStyle>
          <a:p>
            <a:fld id="{C5875FDC-EF7A-480B-83AE-B047E8D2FCF5}" type="slidenum">
              <a:rPr lang="en-US" smtClean="0"/>
              <a:t>‹#›</a:t>
            </a:fld>
            <a:endParaRPr lang="en-US"/>
          </a:p>
        </p:txBody>
      </p:sp>
    </p:spTree>
    <p:extLst>
      <p:ext uri="{BB962C8B-B14F-4D97-AF65-F5344CB8AC3E}">
        <p14:creationId xmlns:p14="http://schemas.microsoft.com/office/powerpoint/2010/main" val="379261273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9B8A724-5072-4AC3-8F18-C29F30BAADCF}" type="datetimeFigureOut">
              <a:rPr lang="en-US" smtClean="0"/>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2A190-2B5E-4DF2-AECD-C0CB06019111}" type="slidenum">
              <a:rPr lang="en-US" smtClean="0"/>
              <a:t>‹#›</a:t>
            </a:fld>
            <a:endParaRPr lang="en-US"/>
          </a:p>
        </p:txBody>
      </p:sp>
    </p:spTree>
    <p:extLst>
      <p:ext uri="{BB962C8B-B14F-4D97-AF65-F5344CB8AC3E}">
        <p14:creationId xmlns:p14="http://schemas.microsoft.com/office/powerpoint/2010/main" val="24831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B8A724-5072-4AC3-8F18-C29F30BAADCF}" type="datetimeFigureOut">
              <a:rPr lang="en-US" smtClean="0"/>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2A190-2B5E-4DF2-AECD-C0CB06019111}" type="slidenum">
              <a:rPr lang="en-US" smtClean="0"/>
              <a:t>‹#›</a:t>
            </a:fld>
            <a:endParaRPr lang="en-US"/>
          </a:p>
        </p:txBody>
      </p:sp>
    </p:spTree>
    <p:extLst>
      <p:ext uri="{BB962C8B-B14F-4D97-AF65-F5344CB8AC3E}">
        <p14:creationId xmlns:p14="http://schemas.microsoft.com/office/powerpoint/2010/main" val="3155729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B8A724-5072-4AC3-8F18-C29F30BAADCF}" type="datetimeFigureOut">
              <a:rPr lang="en-US" smtClean="0"/>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2A190-2B5E-4DF2-AECD-C0CB06019111}" type="slidenum">
              <a:rPr lang="en-US" smtClean="0"/>
              <a:t>‹#›</a:t>
            </a:fld>
            <a:endParaRPr lang="en-US"/>
          </a:p>
        </p:txBody>
      </p:sp>
    </p:spTree>
    <p:extLst>
      <p:ext uri="{BB962C8B-B14F-4D97-AF65-F5344CB8AC3E}">
        <p14:creationId xmlns:p14="http://schemas.microsoft.com/office/powerpoint/2010/main" val="4036945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9B8A724-5072-4AC3-8F18-C29F30BAADCF}" type="datetimeFigureOut">
              <a:rPr lang="en-US" smtClean="0"/>
              <a:t>8/21/2024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82A190-2B5E-4DF2-AECD-C0CB06019111}" type="slidenum">
              <a:rPr lang="en-US" smtClean="0"/>
              <a:t>‹#›</a:t>
            </a:fld>
            <a:endParaRPr lang="en-US"/>
          </a:p>
        </p:txBody>
      </p:sp>
    </p:spTree>
    <p:extLst>
      <p:ext uri="{BB962C8B-B14F-4D97-AF65-F5344CB8AC3E}">
        <p14:creationId xmlns:p14="http://schemas.microsoft.com/office/powerpoint/2010/main" val="1078467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9B8A724-5072-4AC3-8F18-C29F30BAADCF}" type="datetimeFigureOut">
              <a:rPr lang="en-US" smtClean="0"/>
              <a:t>8/21/2024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82A190-2B5E-4DF2-AECD-C0CB06019111}" type="slidenum">
              <a:rPr lang="en-US" smtClean="0"/>
              <a:t>‹#›</a:t>
            </a:fld>
            <a:endParaRPr lang="en-US"/>
          </a:p>
        </p:txBody>
      </p:sp>
    </p:spTree>
    <p:extLst>
      <p:ext uri="{BB962C8B-B14F-4D97-AF65-F5344CB8AC3E}">
        <p14:creationId xmlns:p14="http://schemas.microsoft.com/office/powerpoint/2010/main" val="3088642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9B8A724-5072-4AC3-8F18-C29F30BAADCF}" type="datetimeFigureOut">
              <a:rPr lang="en-US" smtClean="0"/>
              <a:t>8/21/2024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82A190-2B5E-4DF2-AECD-C0CB06019111}" type="slidenum">
              <a:rPr lang="en-US" smtClean="0"/>
              <a:t>‹#›</a:t>
            </a:fld>
            <a:endParaRPr lang="en-US"/>
          </a:p>
        </p:txBody>
      </p:sp>
    </p:spTree>
    <p:extLst>
      <p:ext uri="{BB962C8B-B14F-4D97-AF65-F5344CB8AC3E}">
        <p14:creationId xmlns:p14="http://schemas.microsoft.com/office/powerpoint/2010/main" val="87274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8A724-5072-4AC3-8F18-C29F30BAADCF}" type="datetimeFigureOut">
              <a:rPr lang="en-US" smtClean="0"/>
              <a:t>8/21/2024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82A190-2B5E-4DF2-AECD-C0CB06019111}" type="slidenum">
              <a:rPr lang="en-US" smtClean="0"/>
              <a:t>‹#›</a:t>
            </a:fld>
            <a:endParaRPr lang="en-US"/>
          </a:p>
        </p:txBody>
      </p:sp>
    </p:spTree>
    <p:extLst>
      <p:ext uri="{BB962C8B-B14F-4D97-AF65-F5344CB8AC3E}">
        <p14:creationId xmlns:p14="http://schemas.microsoft.com/office/powerpoint/2010/main" val="3102227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8A724-5072-4AC3-8F18-C29F30BAADCF}" type="datetimeFigureOut">
              <a:rPr lang="en-US" smtClean="0"/>
              <a:t>8/21/2024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82A190-2B5E-4DF2-AECD-C0CB06019111}" type="slidenum">
              <a:rPr lang="en-US" smtClean="0"/>
              <a:t>‹#›</a:t>
            </a:fld>
            <a:endParaRPr lang="en-US"/>
          </a:p>
        </p:txBody>
      </p:sp>
    </p:spTree>
    <p:extLst>
      <p:ext uri="{BB962C8B-B14F-4D97-AF65-F5344CB8AC3E}">
        <p14:creationId xmlns:p14="http://schemas.microsoft.com/office/powerpoint/2010/main" val="3685004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8A724-5072-4AC3-8F18-C29F30BAADCF}" type="datetimeFigureOut">
              <a:rPr lang="en-US" smtClean="0"/>
              <a:t>8/21/2024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82A190-2B5E-4DF2-AECD-C0CB06019111}" type="slidenum">
              <a:rPr lang="en-US" smtClean="0"/>
              <a:t>‹#›</a:t>
            </a:fld>
            <a:endParaRPr lang="en-US"/>
          </a:p>
        </p:txBody>
      </p:sp>
    </p:spTree>
    <p:extLst>
      <p:ext uri="{BB962C8B-B14F-4D97-AF65-F5344CB8AC3E}">
        <p14:creationId xmlns:p14="http://schemas.microsoft.com/office/powerpoint/2010/main" val="133817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B8A724-5072-4AC3-8F18-C29F30BAADCF}" type="datetimeFigureOut">
              <a:rPr lang="en-US" smtClean="0"/>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2A190-2B5E-4DF2-AECD-C0CB06019111}" type="slidenum">
              <a:rPr lang="en-US" smtClean="0"/>
              <a:t>‹#›</a:t>
            </a:fld>
            <a:endParaRPr lang="en-US"/>
          </a:p>
        </p:txBody>
      </p:sp>
    </p:spTree>
    <p:extLst>
      <p:ext uri="{BB962C8B-B14F-4D97-AF65-F5344CB8AC3E}">
        <p14:creationId xmlns:p14="http://schemas.microsoft.com/office/powerpoint/2010/main" val="1286750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B8A724-5072-4AC3-8F18-C29F30BAADCF}" type="datetimeFigureOut">
              <a:rPr lang="en-US" smtClean="0"/>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2A190-2B5E-4DF2-AECD-C0CB06019111}" type="slidenum">
              <a:rPr lang="en-US" smtClean="0"/>
              <a:t>‹#›</a:t>
            </a:fld>
            <a:endParaRPr lang="en-US"/>
          </a:p>
        </p:txBody>
      </p:sp>
    </p:spTree>
    <p:extLst>
      <p:ext uri="{BB962C8B-B14F-4D97-AF65-F5344CB8AC3E}">
        <p14:creationId xmlns:p14="http://schemas.microsoft.com/office/powerpoint/2010/main" val="3305810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B8A724-5072-4AC3-8F18-C29F30BAADCF}" type="datetimeFigureOut">
              <a:rPr lang="en-US" smtClean="0"/>
              <a:t>8/21/2024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82A190-2B5E-4DF2-AECD-C0CB06019111}" type="slidenum">
              <a:rPr lang="en-US" smtClean="0"/>
              <a:t>‹#›</a:t>
            </a:fld>
            <a:endParaRPr lang="en-US"/>
          </a:p>
        </p:txBody>
      </p:sp>
    </p:spTree>
    <p:extLst>
      <p:ext uri="{BB962C8B-B14F-4D97-AF65-F5344CB8AC3E}">
        <p14:creationId xmlns:p14="http://schemas.microsoft.com/office/powerpoint/2010/main" val="1822520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Eclipse Algorithm Notes</a:t>
            </a:r>
          </a:p>
        </p:txBody>
      </p:sp>
    </p:spTree>
    <p:extLst>
      <p:ext uri="{BB962C8B-B14F-4D97-AF65-F5344CB8AC3E}">
        <p14:creationId xmlns:p14="http://schemas.microsoft.com/office/powerpoint/2010/main" val="1532368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7852"/>
            <a:ext cx="10515600" cy="1325563"/>
          </a:xfrm>
        </p:spPr>
        <p:txBody>
          <a:bodyPr/>
          <a:lstStyle/>
          <a:p>
            <a:r>
              <a:rPr lang="en-US" dirty="0"/>
              <a:t>CT data</a:t>
            </a:r>
          </a:p>
        </p:txBody>
      </p:sp>
      <p:sp>
        <p:nvSpPr>
          <p:cNvPr id="3" name="Content Placeholder 2"/>
          <p:cNvSpPr>
            <a:spLocks noGrp="1"/>
          </p:cNvSpPr>
          <p:nvPr>
            <p:ph idx="1"/>
          </p:nvPr>
        </p:nvSpPr>
        <p:spPr>
          <a:xfrm>
            <a:off x="838200" y="1453415"/>
            <a:ext cx="10515600" cy="4723548"/>
          </a:xfrm>
        </p:spPr>
        <p:txBody>
          <a:bodyPr>
            <a:normAutofit/>
          </a:bodyPr>
          <a:lstStyle/>
          <a:p>
            <a:r>
              <a:rPr lang="en-US" dirty="0"/>
              <a:t>The conversion is done following CT calibration curves configured in </a:t>
            </a:r>
            <a:r>
              <a:rPr lang="en-US" b="1" dirty="0"/>
              <a:t>Beam Configuration</a:t>
            </a:r>
            <a:r>
              <a:rPr lang="en-US" dirty="0"/>
              <a:t>. Multiple CT scanners can be configured in the system and each CT scanner has its own set of calibration curves.</a:t>
            </a:r>
          </a:p>
          <a:p>
            <a:r>
              <a:rPr lang="en-US" dirty="0"/>
              <a:t>For each CT scanner the following curves are available:</a:t>
            </a:r>
          </a:p>
          <a:p>
            <a:pPr marL="0" indent="0">
              <a:buNone/>
            </a:pPr>
            <a:r>
              <a:rPr lang="en-US" dirty="0"/>
              <a:t>	■ Electron Density: This curve is used by the AAA and MRDC 	algorithms to convert HU values to relative electron density.</a:t>
            </a:r>
          </a:p>
          <a:p>
            <a:pPr marL="0" indent="0">
              <a:buNone/>
            </a:pPr>
            <a:r>
              <a:rPr lang="en-US" dirty="0"/>
              <a:t>	■ Mass Density: This curve is used by the </a:t>
            </a:r>
            <a:r>
              <a:rPr lang="en-US" dirty="0" err="1"/>
              <a:t>Acuros</a:t>
            </a:r>
            <a:r>
              <a:rPr lang="en-US" dirty="0"/>
              <a:t> XB and </a:t>
            </a:r>
            <a:r>
              <a:rPr lang="en-US" dirty="0" err="1"/>
              <a:t>eMC</a:t>
            </a:r>
            <a:r>
              <a:rPr lang="en-US" dirty="0"/>
              <a:t> 	algorithms to convert HU values to mass density. From the 	derived mass density, </a:t>
            </a:r>
            <a:r>
              <a:rPr lang="en-US" dirty="0" err="1"/>
              <a:t>Acuros</a:t>
            </a:r>
            <a:r>
              <a:rPr lang="en-US" dirty="0"/>
              <a:t> XB and </a:t>
            </a:r>
            <a:r>
              <a:rPr lang="en-US" dirty="0" err="1"/>
              <a:t>eMC</a:t>
            </a:r>
            <a:r>
              <a:rPr lang="en-US" dirty="0"/>
              <a:t> determine the 	material composition of voxels in the image.</a:t>
            </a:r>
          </a:p>
        </p:txBody>
      </p:sp>
    </p:spTree>
    <p:extLst>
      <p:ext uri="{BB962C8B-B14F-4D97-AF65-F5344CB8AC3E}">
        <p14:creationId xmlns:p14="http://schemas.microsoft.com/office/powerpoint/2010/main" val="3369351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 Data Scanner</a:t>
            </a:r>
          </a:p>
        </p:txBody>
      </p:sp>
      <p:sp>
        <p:nvSpPr>
          <p:cNvPr id="3" name="Content Placeholder 2"/>
          <p:cNvSpPr>
            <a:spLocks noGrp="1"/>
          </p:cNvSpPr>
          <p:nvPr>
            <p:ph idx="1"/>
          </p:nvPr>
        </p:nvSpPr>
        <p:spPr/>
        <p:txBody>
          <a:bodyPr/>
          <a:lstStyle/>
          <a:p>
            <a:r>
              <a:rPr lang="en-US" dirty="0"/>
              <a:t>For each CT image imported into the system, the CT scanner name in the image header is compared with CT scanners stored in the database. </a:t>
            </a:r>
          </a:p>
          <a:p>
            <a:r>
              <a:rPr lang="en-US" dirty="0"/>
              <a:t>If a match is found, the custom CT calibration curve is used for all dose calculations. </a:t>
            </a:r>
          </a:p>
          <a:p>
            <a:r>
              <a:rPr lang="en-US" dirty="0"/>
              <a:t>If a matching CT scanner is not found, you need to manually define the CT scanner to use for the image series</a:t>
            </a:r>
          </a:p>
        </p:txBody>
      </p:sp>
    </p:spTree>
    <p:extLst>
      <p:ext uri="{BB962C8B-B14F-4D97-AF65-F5344CB8AC3E}">
        <p14:creationId xmlns:p14="http://schemas.microsoft.com/office/powerpoint/2010/main" val="3139288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AAA handles CT data</a:t>
            </a:r>
          </a:p>
        </p:txBody>
      </p:sp>
      <p:sp>
        <p:nvSpPr>
          <p:cNvPr id="3" name="Content Placeholder 2"/>
          <p:cNvSpPr>
            <a:spLocks noGrp="1"/>
          </p:cNvSpPr>
          <p:nvPr>
            <p:ph idx="1"/>
          </p:nvPr>
        </p:nvSpPr>
        <p:spPr/>
        <p:txBody>
          <a:bodyPr/>
          <a:lstStyle/>
          <a:p>
            <a:r>
              <a:rPr lang="en-US" dirty="0"/>
              <a:t>The AAA algorithm truncates all HU values higher than the maximum HU value defined in the CT calibration curve to the maximum electron density value. A warning is shown in the DCF status window and logged in the field calculation notes when such a situation occurs.</a:t>
            </a:r>
          </a:p>
          <a:p>
            <a:r>
              <a:rPr lang="en-US" dirty="0"/>
              <a:t>Additionally, the maximum electron density modeled in AAA is 15. Electron densities larger than that are truncated to the maximum value (that is, the value 15 is used).</a:t>
            </a:r>
          </a:p>
        </p:txBody>
      </p:sp>
    </p:spTree>
    <p:extLst>
      <p:ext uri="{BB962C8B-B14F-4D97-AF65-F5344CB8AC3E}">
        <p14:creationId xmlns:p14="http://schemas.microsoft.com/office/powerpoint/2010/main" val="2099365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Accuracy</a:t>
            </a:r>
          </a:p>
        </p:txBody>
      </p:sp>
      <p:sp>
        <p:nvSpPr>
          <p:cNvPr id="3" name="Content Placeholder 2"/>
          <p:cNvSpPr>
            <a:spLocks noGrp="1"/>
          </p:cNvSpPr>
          <p:nvPr>
            <p:ph idx="1"/>
          </p:nvPr>
        </p:nvSpPr>
        <p:spPr>
          <a:xfrm>
            <a:off x="838200" y="1387743"/>
            <a:ext cx="10515600" cy="4351338"/>
          </a:xfrm>
        </p:spPr>
        <p:txBody>
          <a:bodyPr/>
          <a:lstStyle/>
          <a:p>
            <a:r>
              <a:rPr lang="en-US" dirty="0"/>
              <a:t>Gamma error is defined as the shortest distance in four dimensional space where the relative dose represents the fourth dimension. For gamma metric, the unit of the distance and the dose are rescaled: dose is in units of a percent of the maximum dose, and the distance in units of given number of mm.</a:t>
            </a:r>
          </a:p>
          <a:p>
            <a:endParaRPr lang="en-US" dirty="0"/>
          </a:p>
        </p:txBody>
      </p:sp>
      <p:pic>
        <p:nvPicPr>
          <p:cNvPr id="5" name="Picture 4"/>
          <p:cNvPicPr>
            <a:picLocks noChangeAspect="1"/>
          </p:cNvPicPr>
          <p:nvPr/>
        </p:nvPicPr>
        <p:blipFill>
          <a:blip r:embed="rId2"/>
          <a:stretch>
            <a:fillRect/>
          </a:stretch>
        </p:blipFill>
        <p:spPr>
          <a:xfrm>
            <a:off x="2872507" y="3426614"/>
            <a:ext cx="7065172" cy="3069943"/>
          </a:xfrm>
          <a:prstGeom prst="rect">
            <a:avLst/>
          </a:prstGeom>
        </p:spPr>
      </p:pic>
    </p:spTree>
    <p:extLst>
      <p:ext uri="{BB962C8B-B14F-4D97-AF65-F5344CB8AC3E}">
        <p14:creationId xmlns:p14="http://schemas.microsoft.com/office/powerpoint/2010/main" val="3552898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Accuracy (cont.)</a:t>
            </a:r>
          </a:p>
        </p:txBody>
      </p:sp>
      <p:sp>
        <p:nvSpPr>
          <p:cNvPr id="3" name="Content Placeholder 2"/>
          <p:cNvSpPr>
            <a:spLocks noGrp="1"/>
          </p:cNvSpPr>
          <p:nvPr>
            <p:ph idx="1"/>
          </p:nvPr>
        </p:nvSpPr>
        <p:spPr>
          <a:xfrm>
            <a:off x="838200" y="1387743"/>
            <a:ext cx="10515600" cy="4351338"/>
          </a:xfrm>
        </p:spPr>
        <p:txBody>
          <a:bodyPr/>
          <a:lstStyle/>
          <a:p>
            <a:r>
              <a:rPr lang="en-US" dirty="0"/>
              <a:t>Dose calculation accuracy goal defined by the gamma error scale is considered to be fulfilled when gamma error value for 95% of the examined measurement points is no more than 1.</a:t>
            </a:r>
          </a:p>
          <a:p>
            <a:endParaRPr lang="en-US" dirty="0"/>
          </a:p>
        </p:txBody>
      </p:sp>
      <p:pic>
        <p:nvPicPr>
          <p:cNvPr id="4" name="Picture 3"/>
          <p:cNvPicPr>
            <a:picLocks noChangeAspect="1"/>
          </p:cNvPicPr>
          <p:nvPr/>
        </p:nvPicPr>
        <p:blipFill>
          <a:blip r:embed="rId2"/>
          <a:stretch>
            <a:fillRect/>
          </a:stretch>
        </p:blipFill>
        <p:spPr>
          <a:xfrm>
            <a:off x="2563414" y="2829216"/>
            <a:ext cx="7065172" cy="3310972"/>
          </a:xfrm>
          <a:prstGeom prst="rect">
            <a:avLst/>
          </a:prstGeom>
        </p:spPr>
      </p:pic>
    </p:spTree>
    <p:extLst>
      <p:ext uri="{BB962C8B-B14F-4D97-AF65-F5344CB8AC3E}">
        <p14:creationId xmlns:p14="http://schemas.microsoft.com/office/powerpoint/2010/main" val="203522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MU </a:t>
            </a:r>
            <a:r>
              <a:rPr lang="en-US" b="1" dirty="0" err="1"/>
              <a:t>Calcs</a:t>
            </a:r>
            <a:endParaRPr lang="en-US" b="1" dirty="0"/>
          </a:p>
        </p:txBody>
      </p:sp>
      <p:sp>
        <p:nvSpPr>
          <p:cNvPr id="3" name="Content Placeholder 2"/>
          <p:cNvSpPr>
            <a:spLocks noGrp="1"/>
          </p:cNvSpPr>
          <p:nvPr>
            <p:ph idx="1"/>
          </p:nvPr>
        </p:nvSpPr>
        <p:spPr/>
        <p:txBody>
          <a:bodyPr>
            <a:normAutofit/>
          </a:bodyPr>
          <a:lstStyle/>
          <a:p>
            <a:r>
              <a:rPr lang="en-US" sz="3200" dirty="0"/>
              <a:t>Based on output factor measurements performed for different field sizes in a certain reference geometry and calibration calculations made for the reference field size.</a:t>
            </a:r>
          </a:p>
          <a:p>
            <a:r>
              <a:rPr lang="en-US" sz="3200" dirty="0"/>
              <a:t>The change in the output factor as a function of field size is caused by changes in phantom scatter, head scatter and collimator back scatter into the monitor chamber.</a:t>
            </a:r>
          </a:p>
        </p:txBody>
      </p:sp>
    </p:spTree>
    <p:extLst>
      <p:ext uri="{BB962C8B-B14F-4D97-AF65-F5344CB8AC3E}">
        <p14:creationId xmlns:p14="http://schemas.microsoft.com/office/powerpoint/2010/main" val="1454591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MU </a:t>
            </a:r>
            <a:r>
              <a:rPr lang="en-US" b="1" dirty="0" err="1"/>
              <a:t>Calcs</a:t>
            </a:r>
            <a:r>
              <a:rPr lang="en-US" b="1" dirty="0"/>
              <a:t> (cont.)</a:t>
            </a:r>
          </a:p>
        </p:txBody>
      </p:sp>
      <p:sp>
        <p:nvSpPr>
          <p:cNvPr id="3" name="Content Placeholder 2"/>
          <p:cNvSpPr>
            <a:spLocks noGrp="1"/>
          </p:cNvSpPr>
          <p:nvPr>
            <p:ph idx="1"/>
          </p:nvPr>
        </p:nvSpPr>
        <p:spPr>
          <a:xfrm>
            <a:off x="838200" y="1825625"/>
            <a:ext cx="4158803" cy="4351338"/>
          </a:xfrm>
        </p:spPr>
        <p:txBody>
          <a:bodyPr>
            <a:normAutofit lnSpcReduction="10000"/>
          </a:bodyPr>
          <a:lstStyle/>
          <a:p>
            <a:r>
              <a:rPr lang="en-US" dirty="0"/>
              <a:t>The phantom and head scatter effects are accounted for by the photon beam source model and the volumetric dose calculation algorithm (AAA or </a:t>
            </a:r>
            <a:r>
              <a:rPr lang="en-US" dirty="0" err="1"/>
              <a:t>Acuros</a:t>
            </a:r>
            <a:r>
              <a:rPr lang="en-US" dirty="0"/>
              <a:t> XB). The remaining change in the output factors is assumed to be caused by collimator back scatter.</a:t>
            </a:r>
          </a:p>
        </p:txBody>
      </p:sp>
      <p:pic>
        <p:nvPicPr>
          <p:cNvPr id="4" name="Picture 3"/>
          <p:cNvPicPr>
            <a:picLocks noChangeAspect="1"/>
          </p:cNvPicPr>
          <p:nvPr/>
        </p:nvPicPr>
        <p:blipFill>
          <a:blip r:embed="rId2"/>
          <a:stretch>
            <a:fillRect/>
          </a:stretch>
        </p:blipFill>
        <p:spPr>
          <a:xfrm>
            <a:off x="5138157" y="925076"/>
            <a:ext cx="6912687" cy="5251887"/>
          </a:xfrm>
          <a:prstGeom prst="rect">
            <a:avLst/>
          </a:prstGeom>
        </p:spPr>
      </p:pic>
    </p:spTree>
    <p:extLst>
      <p:ext uri="{BB962C8B-B14F-4D97-AF65-F5344CB8AC3E}">
        <p14:creationId xmlns:p14="http://schemas.microsoft.com/office/powerpoint/2010/main" val="1888455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725"/>
            <a:ext cx="10515600" cy="1325563"/>
          </a:xfrm>
        </p:spPr>
        <p:txBody>
          <a:bodyPr/>
          <a:lstStyle/>
          <a:p>
            <a:r>
              <a:rPr lang="en-US" b="1" dirty="0"/>
              <a:t>MU </a:t>
            </a:r>
            <a:r>
              <a:rPr lang="en-US" b="1" dirty="0" err="1"/>
              <a:t>Calcs</a:t>
            </a:r>
            <a:r>
              <a:rPr lang="en-US" b="1" dirty="0"/>
              <a:t> (cont.)</a:t>
            </a:r>
          </a:p>
        </p:txBody>
      </p:sp>
      <p:sp>
        <p:nvSpPr>
          <p:cNvPr id="3" name="Content Placeholder 2"/>
          <p:cNvSpPr>
            <a:spLocks noGrp="1"/>
          </p:cNvSpPr>
          <p:nvPr>
            <p:ph idx="1"/>
          </p:nvPr>
        </p:nvSpPr>
        <p:spPr>
          <a:xfrm>
            <a:off x="838200" y="1405288"/>
            <a:ext cx="4158803" cy="4771675"/>
          </a:xfrm>
        </p:spPr>
        <p:txBody>
          <a:bodyPr>
            <a:normAutofit fontScale="92500" lnSpcReduction="20000"/>
          </a:bodyPr>
          <a:lstStyle/>
          <a:p>
            <a:r>
              <a:rPr lang="en-US" dirty="0"/>
              <a:t>The final MU are calculated from the prescribed dose, plan normalization, field weight, field normalization and a normalization factor determined by the dose calculation algorithm. </a:t>
            </a:r>
          </a:p>
          <a:p>
            <a:r>
              <a:rPr lang="en-US" dirty="0"/>
              <a:t>The normalization factor determined by the AAA and </a:t>
            </a:r>
            <a:r>
              <a:rPr lang="en-US" dirty="0" err="1"/>
              <a:t>Acuros</a:t>
            </a:r>
            <a:r>
              <a:rPr lang="en-US" dirty="0"/>
              <a:t> XB is the MU value for 1 </a:t>
            </a:r>
            <a:r>
              <a:rPr lang="en-US" dirty="0" err="1"/>
              <a:t>Gy</a:t>
            </a:r>
            <a:r>
              <a:rPr lang="en-US" dirty="0"/>
              <a:t> to 100% of the current field. AAA and </a:t>
            </a:r>
            <a:r>
              <a:rPr lang="en-US" dirty="0" err="1"/>
              <a:t>Acuros</a:t>
            </a:r>
            <a:r>
              <a:rPr lang="en-US" dirty="0"/>
              <a:t> XB calculate the monitor units at the normalization point </a:t>
            </a:r>
            <a:r>
              <a:rPr lang="en-US" dirty="0" err="1"/>
              <a:t>MUnorm</a:t>
            </a:r>
            <a:endParaRPr lang="en-US" dirty="0"/>
          </a:p>
        </p:txBody>
      </p:sp>
      <p:pic>
        <p:nvPicPr>
          <p:cNvPr id="5" name="Picture 4"/>
          <p:cNvPicPr>
            <a:picLocks noChangeAspect="1"/>
          </p:cNvPicPr>
          <p:nvPr/>
        </p:nvPicPr>
        <p:blipFill rotWithShape="1">
          <a:blip r:embed="rId2"/>
          <a:srcRect t="9048"/>
          <a:stretch/>
        </p:blipFill>
        <p:spPr>
          <a:xfrm>
            <a:off x="5634937" y="365125"/>
            <a:ext cx="6196454" cy="6242268"/>
          </a:xfrm>
          <a:prstGeom prst="rect">
            <a:avLst/>
          </a:prstGeom>
        </p:spPr>
      </p:pic>
    </p:spTree>
    <p:extLst>
      <p:ext uri="{BB962C8B-B14F-4D97-AF65-F5344CB8AC3E}">
        <p14:creationId xmlns:p14="http://schemas.microsoft.com/office/powerpoint/2010/main" val="2239829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Normalization</a:t>
            </a:r>
          </a:p>
        </p:txBody>
      </p:sp>
      <p:pic>
        <p:nvPicPr>
          <p:cNvPr id="4" name="Picture 3"/>
          <p:cNvPicPr>
            <a:picLocks noChangeAspect="1"/>
          </p:cNvPicPr>
          <p:nvPr/>
        </p:nvPicPr>
        <p:blipFill>
          <a:blip r:embed="rId2"/>
          <a:stretch>
            <a:fillRect/>
          </a:stretch>
        </p:blipFill>
        <p:spPr>
          <a:xfrm>
            <a:off x="1014233" y="1305678"/>
            <a:ext cx="9987351" cy="1661751"/>
          </a:xfrm>
          <a:prstGeom prst="rect">
            <a:avLst/>
          </a:prstGeom>
        </p:spPr>
      </p:pic>
      <p:pic>
        <p:nvPicPr>
          <p:cNvPr id="5" name="Picture 4"/>
          <p:cNvPicPr>
            <a:picLocks noChangeAspect="1"/>
          </p:cNvPicPr>
          <p:nvPr/>
        </p:nvPicPr>
        <p:blipFill>
          <a:blip r:embed="rId3"/>
          <a:stretch>
            <a:fillRect/>
          </a:stretch>
        </p:blipFill>
        <p:spPr>
          <a:xfrm>
            <a:off x="1305482" y="2967429"/>
            <a:ext cx="9581035" cy="3400846"/>
          </a:xfrm>
          <a:prstGeom prst="rect">
            <a:avLst/>
          </a:prstGeom>
        </p:spPr>
      </p:pic>
    </p:spTree>
    <p:extLst>
      <p:ext uri="{BB962C8B-B14F-4D97-AF65-F5344CB8AC3E}">
        <p14:creationId xmlns:p14="http://schemas.microsoft.com/office/powerpoint/2010/main" val="1198221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Calculation grid</a:t>
            </a:r>
          </a:p>
        </p:txBody>
      </p:sp>
      <p:sp>
        <p:nvSpPr>
          <p:cNvPr id="3" name="Content Placeholder 2"/>
          <p:cNvSpPr>
            <a:spLocks noGrp="1"/>
          </p:cNvSpPr>
          <p:nvPr>
            <p:ph idx="1"/>
          </p:nvPr>
        </p:nvSpPr>
        <p:spPr>
          <a:xfrm>
            <a:off x="838200" y="1386038"/>
            <a:ext cx="10515600" cy="4790925"/>
          </a:xfrm>
        </p:spPr>
        <p:txBody>
          <a:bodyPr>
            <a:normAutofit lnSpcReduction="10000"/>
          </a:bodyPr>
          <a:lstStyle/>
          <a:p>
            <a:r>
              <a:rPr lang="en-US" dirty="0"/>
              <a:t>AAA: 1-5 mm dose </a:t>
            </a:r>
            <a:r>
              <a:rPr lang="en-US" dirty="0" err="1"/>
              <a:t>calc</a:t>
            </a:r>
            <a:r>
              <a:rPr lang="en-US" dirty="0"/>
              <a:t> grid </a:t>
            </a:r>
          </a:p>
          <a:p>
            <a:r>
              <a:rPr lang="en-US" dirty="0" err="1"/>
              <a:t>Acuros</a:t>
            </a:r>
            <a:r>
              <a:rPr lang="en-US" dirty="0"/>
              <a:t>: 1-3 mm</a:t>
            </a:r>
          </a:p>
          <a:p>
            <a:r>
              <a:rPr lang="en-US" dirty="0"/>
              <a:t>AAA calculates the dose first into a divergent dose matrix.</a:t>
            </a:r>
          </a:p>
          <a:p>
            <a:r>
              <a:rPr lang="en-US" dirty="0"/>
              <a:t>The width of the divergent dose matrix depends on the jaw positions. </a:t>
            </a:r>
          </a:p>
          <a:p>
            <a:r>
              <a:rPr lang="en-US" dirty="0"/>
              <a:t>An additional margin is added in order to calculate also the low dose tail resulting from head scatter and phantom scatter. </a:t>
            </a:r>
          </a:p>
          <a:p>
            <a:pPr lvl="1"/>
            <a:r>
              <a:rPr lang="en-US" dirty="0"/>
              <a:t>This margin depends on the field size and the selected calculation resolution. The default margin size is 12 cm. However, the margin is reduced so that the number of calculation points at </a:t>
            </a:r>
            <a:r>
              <a:rPr lang="en-US" dirty="0" err="1"/>
              <a:t>isocenter</a:t>
            </a:r>
            <a:r>
              <a:rPr lang="en-US" dirty="0"/>
              <a:t> plane does not exceed 74000</a:t>
            </a:r>
          </a:p>
          <a:p>
            <a:r>
              <a:rPr lang="en-US" dirty="0"/>
              <a:t>Margin is always at least 7 cm; so between 7-12 cm; for AAA dose attains 0 values when outside the margin</a:t>
            </a:r>
          </a:p>
        </p:txBody>
      </p:sp>
    </p:spTree>
    <p:extLst>
      <p:ext uri="{BB962C8B-B14F-4D97-AF65-F5344CB8AC3E}">
        <p14:creationId xmlns:p14="http://schemas.microsoft.com/office/powerpoint/2010/main" val="1310952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Calculation grid</a:t>
            </a:r>
          </a:p>
        </p:txBody>
      </p:sp>
      <p:sp>
        <p:nvSpPr>
          <p:cNvPr id="5" name="Content Placeholder 4"/>
          <p:cNvSpPr>
            <a:spLocks noGrp="1"/>
          </p:cNvSpPr>
          <p:nvPr>
            <p:ph idx="1"/>
          </p:nvPr>
        </p:nvSpPr>
        <p:spPr>
          <a:xfrm>
            <a:off x="838200" y="1241659"/>
            <a:ext cx="10515600" cy="5447899"/>
          </a:xfrm>
        </p:spPr>
        <p:txBody>
          <a:bodyPr>
            <a:normAutofit/>
          </a:bodyPr>
          <a:lstStyle/>
          <a:p>
            <a:r>
              <a:rPr lang="en-US" dirty="0"/>
              <a:t>In the axis perpendicular to the image slices, AAA and </a:t>
            </a:r>
            <a:r>
              <a:rPr lang="en-US" dirty="0" err="1"/>
              <a:t>Acuros</a:t>
            </a:r>
            <a:r>
              <a:rPr lang="en-US" dirty="0"/>
              <a:t> XB adapt the grid resolution to ensure that the dose is always calculated exactly on the image slices. </a:t>
            </a:r>
          </a:p>
          <a:p>
            <a:r>
              <a:rPr lang="en-US" dirty="0"/>
              <a:t>If the slice thickness is larger than the defined grid size, AAA and </a:t>
            </a:r>
            <a:r>
              <a:rPr lang="en-US" dirty="0" err="1"/>
              <a:t>Acuros</a:t>
            </a:r>
            <a:r>
              <a:rPr lang="en-US" dirty="0"/>
              <a:t> XB may calculate the dose on dose planes between the image slices. If the slice spacing is smaller than the defined grid size, AAA and </a:t>
            </a:r>
            <a:r>
              <a:rPr lang="en-US" dirty="0" err="1"/>
              <a:t>Acuros</a:t>
            </a:r>
            <a:r>
              <a:rPr lang="en-US" dirty="0"/>
              <a:t> XB may skip calculating the dose on some slices. </a:t>
            </a:r>
          </a:p>
          <a:p>
            <a:r>
              <a:rPr lang="en-US" dirty="0"/>
              <a:t>For image slice thickness IS, AAA and </a:t>
            </a:r>
            <a:r>
              <a:rPr lang="en-US" dirty="0" err="1"/>
              <a:t>Acuros</a:t>
            </a:r>
            <a:r>
              <a:rPr lang="en-US" dirty="0"/>
              <a:t> XB calculate IS/ n...IS/3, IS/2, IS, IS × 2, ΙS × 3...ΙS × n and sets the dose plane spacing to the value closest to the defined grid size</a:t>
            </a:r>
          </a:p>
        </p:txBody>
      </p:sp>
    </p:spTree>
    <p:extLst>
      <p:ext uri="{BB962C8B-B14F-4D97-AF65-F5344CB8AC3E}">
        <p14:creationId xmlns:p14="http://schemas.microsoft.com/office/powerpoint/2010/main" val="24733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265" y="673768"/>
            <a:ext cx="10795535" cy="1016920"/>
          </a:xfrm>
        </p:spPr>
        <p:txBody>
          <a:bodyPr>
            <a:normAutofit fontScale="90000"/>
          </a:bodyPr>
          <a:lstStyle/>
          <a:p>
            <a:r>
              <a:rPr lang="en-US" b="1" dirty="0"/>
              <a:t>Angular Resolution in Conformal Arc and VMAT Calculations</a:t>
            </a:r>
            <a:br>
              <a:rPr lang="en-US" b="1" dirty="0"/>
            </a:br>
            <a:endParaRPr lang="en-US" dirty="0"/>
          </a:p>
        </p:txBody>
      </p:sp>
      <p:sp>
        <p:nvSpPr>
          <p:cNvPr id="5" name="Content Placeholder 4"/>
          <p:cNvSpPr>
            <a:spLocks noGrp="1"/>
          </p:cNvSpPr>
          <p:nvPr>
            <p:ph idx="1"/>
          </p:nvPr>
        </p:nvSpPr>
        <p:spPr>
          <a:xfrm>
            <a:off x="698232" y="1690688"/>
            <a:ext cx="10515600" cy="4633110"/>
          </a:xfrm>
        </p:spPr>
        <p:txBody>
          <a:bodyPr>
            <a:normAutofit/>
          </a:bodyPr>
          <a:lstStyle/>
          <a:p>
            <a:r>
              <a:rPr lang="en-US" dirty="0"/>
              <a:t>This option specifies the angular resolution in degrees for arc field calculations. </a:t>
            </a:r>
          </a:p>
          <a:p>
            <a:r>
              <a:rPr lang="en-US" dirty="0"/>
              <a:t>It integrates the existing machine control points into beams placed along the arc at the defined interval. For conformal arc and VMAT fields, OFF means that the beams used to calculate the arc coincide to the machine control points. </a:t>
            </a:r>
          </a:p>
          <a:p>
            <a:r>
              <a:rPr lang="en-US" dirty="0"/>
              <a:t>For standard arc fields, OFF means that the angular resolution is 5 degrees.</a:t>
            </a:r>
          </a:p>
        </p:txBody>
      </p:sp>
    </p:spTree>
    <p:extLst>
      <p:ext uri="{BB962C8B-B14F-4D97-AF65-F5344CB8AC3E}">
        <p14:creationId xmlns:p14="http://schemas.microsoft.com/office/powerpoint/2010/main" val="354423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641" y="154004"/>
            <a:ext cx="10795535" cy="1016920"/>
          </a:xfrm>
        </p:spPr>
        <p:txBody>
          <a:bodyPr>
            <a:normAutofit/>
          </a:bodyPr>
          <a:lstStyle/>
          <a:p>
            <a:r>
              <a:rPr lang="en-US" b="1" dirty="0"/>
              <a:t>Progressive Resolution</a:t>
            </a:r>
            <a:endParaRPr lang="en-US" dirty="0"/>
          </a:p>
        </p:txBody>
      </p:sp>
      <p:sp>
        <p:nvSpPr>
          <p:cNvPr id="5" name="Content Placeholder 4"/>
          <p:cNvSpPr>
            <a:spLocks noGrp="1"/>
          </p:cNvSpPr>
          <p:nvPr>
            <p:ph idx="1"/>
          </p:nvPr>
        </p:nvSpPr>
        <p:spPr>
          <a:xfrm>
            <a:off x="698232" y="1097280"/>
            <a:ext cx="10515600" cy="5515276"/>
          </a:xfrm>
        </p:spPr>
        <p:txBody>
          <a:bodyPr>
            <a:normAutofit fontScale="92500" lnSpcReduction="10000"/>
          </a:bodyPr>
          <a:lstStyle/>
          <a:p>
            <a:r>
              <a:rPr lang="en-US" dirty="0"/>
              <a:t>The initial conditions for the PO algorithm are defined using control points to represent each VMAT field. </a:t>
            </a:r>
          </a:p>
          <a:p>
            <a:r>
              <a:rPr lang="en-US" dirty="0"/>
              <a:t>The algorithm uses multi-resolution approach to optimize the plan. This approach was first described in the research on volumetric modulated arc therapy. This means that the dose is modeled using first a lower number of dose calculation segments that are distributed evenly in each field. </a:t>
            </a:r>
          </a:p>
          <a:p>
            <a:r>
              <a:rPr lang="en-US" dirty="0"/>
              <a:t>The number of dose calculation segments increases when moving from one multi-resolution level to another.</a:t>
            </a:r>
          </a:p>
          <a:p>
            <a:r>
              <a:rPr lang="en-US" dirty="0"/>
              <a:t>The dose in a dose calculation segment is calculated from the combined </a:t>
            </a:r>
            <a:r>
              <a:rPr lang="en-US" dirty="0" err="1"/>
              <a:t>fluence</a:t>
            </a:r>
            <a:r>
              <a:rPr lang="en-US" dirty="0"/>
              <a:t> through the MLC apertures at the control points located within a certain sector of the arc. </a:t>
            </a:r>
          </a:p>
          <a:p>
            <a:r>
              <a:rPr lang="en-US" dirty="0"/>
              <a:t>Leaf motion is modeled by interpolating leaf positions between the control points. </a:t>
            </a:r>
          </a:p>
          <a:p>
            <a:r>
              <a:rPr lang="en-US" dirty="0"/>
              <a:t>Leaf tongues are modeled by modifying the MLC aperture outline to effectively account for the tongue-and-groove effect.</a:t>
            </a:r>
          </a:p>
        </p:txBody>
      </p:sp>
    </p:spTree>
    <p:extLst>
      <p:ext uri="{BB962C8B-B14F-4D97-AF65-F5344CB8AC3E}">
        <p14:creationId xmlns:p14="http://schemas.microsoft.com/office/powerpoint/2010/main" val="2164747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264" y="182879"/>
            <a:ext cx="10795535" cy="1016920"/>
          </a:xfrm>
        </p:spPr>
        <p:txBody>
          <a:bodyPr>
            <a:normAutofit/>
          </a:bodyPr>
          <a:lstStyle/>
          <a:p>
            <a:r>
              <a:rPr lang="en-US" b="1" dirty="0"/>
              <a:t>Progressive Resolution</a:t>
            </a:r>
            <a:endParaRPr lang="en-US" dirty="0"/>
          </a:p>
        </p:txBody>
      </p:sp>
      <p:sp>
        <p:nvSpPr>
          <p:cNvPr id="5" name="Content Placeholder 4"/>
          <p:cNvSpPr>
            <a:spLocks noGrp="1"/>
          </p:cNvSpPr>
          <p:nvPr>
            <p:ph idx="1"/>
          </p:nvPr>
        </p:nvSpPr>
        <p:spPr>
          <a:xfrm>
            <a:off x="698232" y="1078029"/>
            <a:ext cx="10515600" cy="5245769"/>
          </a:xfrm>
        </p:spPr>
        <p:txBody>
          <a:bodyPr>
            <a:normAutofit fontScale="77500" lnSpcReduction="20000"/>
          </a:bodyPr>
          <a:lstStyle/>
          <a:p>
            <a:r>
              <a:rPr lang="en-US" dirty="0"/>
              <a:t>The angle resolution of the dose calculation segments gets more accurate as the optimization progresses, and in consequence, the dose also gets more accurate. </a:t>
            </a:r>
          </a:p>
          <a:p>
            <a:r>
              <a:rPr lang="en-US" dirty="0"/>
              <a:t>The number of control points remains the same during the whole optimization.</a:t>
            </a:r>
          </a:p>
          <a:p>
            <a:r>
              <a:rPr lang="en-US" dirty="0"/>
              <a:t>At the beginning of the optimization, the initial MLC shapes are conformed to the targets and the initial dose rates are equal for all dose calculation segments. </a:t>
            </a:r>
          </a:p>
          <a:p>
            <a:r>
              <a:rPr lang="en-US" dirty="0"/>
              <a:t>The MLC shapes and dose rates of the different control points in the VMAT field are optimized.</a:t>
            </a:r>
          </a:p>
          <a:p>
            <a:r>
              <a:rPr lang="en-US" dirty="0"/>
              <a:t>During the initial phases of the optimization bigger adjustments are made in leaf sequencing. The size of these adjustments decreases as the optimization progresses through the levels.</a:t>
            </a:r>
          </a:p>
          <a:p>
            <a:r>
              <a:rPr lang="en-US" dirty="0"/>
              <a:t>During the optimization, the algorithm proceeds through multi-resolution levels progressively increasing the accuracy of the dose calculation. </a:t>
            </a:r>
          </a:p>
          <a:p>
            <a:r>
              <a:rPr lang="en-US" dirty="0"/>
              <a:t>At the first multi-resolution level, only a few dose calculation segments are used to model the dose, and each multi-resolution level contains progressively more dose calculation segments. </a:t>
            </a:r>
          </a:p>
          <a:p>
            <a:r>
              <a:rPr lang="en-US" dirty="0"/>
              <a:t>The angle between the resulting dose calculation segments on the last multi-resolution level (4) will be approximately 2°-4°.The total number of dose calculation segments used depends on the span of the arc.</a:t>
            </a:r>
          </a:p>
        </p:txBody>
      </p:sp>
    </p:spTree>
    <p:extLst>
      <p:ext uri="{BB962C8B-B14F-4D97-AF65-F5344CB8AC3E}">
        <p14:creationId xmlns:p14="http://schemas.microsoft.com/office/powerpoint/2010/main" val="2805248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2620"/>
            <a:ext cx="10515600" cy="1325563"/>
          </a:xfrm>
        </p:spPr>
        <p:txBody>
          <a:bodyPr/>
          <a:lstStyle/>
          <a:p>
            <a:r>
              <a:rPr lang="en-US" b="1" dirty="0"/>
              <a:t>Primary Source Model (photon beam)</a:t>
            </a:r>
          </a:p>
        </p:txBody>
      </p:sp>
      <p:sp>
        <p:nvSpPr>
          <p:cNvPr id="3" name="Content Placeholder 2"/>
          <p:cNvSpPr>
            <a:spLocks noGrp="1"/>
          </p:cNvSpPr>
          <p:nvPr>
            <p:ph idx="1"/>
          </p:nvPr>
        </p:nvSpPr>
        <p:spPr>
          <a:xfrm>
            <a:off x="838200" y="1376413"/>
            <a:ext cx="10515600" cy="4800550"/>
          </a:xfrm>
        </p:spPr>
        <p:txBody>
          <a:bodyPr>
            <a:normAutofit fontScale="92500" lnSpcReduction="10000"/>
          </a:bodyPr>
          <a:lstStyle/>
          <a:p>
            <a:r>
              <a:rPr lang="en-US" dirty="0"/>
              <a:t>Point source located at target plane</a:t>
            </a:r>
          </a:p>
          <a:p>
            <a:r>
              <a:rPr lang="en-US" dirty="0"/>
              <a:t>Physical effects of finite size modeled by the effective target spot size parameters</a:t>
            </a:r>
          </a:p>
          <a:p>
            <a:r>
              <a:rPr lang="en-US" dirty="0"/>
              <a:t>Models </a:t>
            </a:r>
            <a:r>
              <a:rPr lang="en-US" dirty="0" err="1"/>
              <a:t>brem</a:t>
            </a:r>
            <a:r>
              <a:rPr lang="en-US" dirty="0"/>
              <a:t> photons created in target that do not interact w/ treatment head</a:t>
            </a:r>
          </a:p>
          <a:p>
            <a:r>
              <a:rPr lang="en-US" dirty="0"/>
              <a:t>Initial photon spectra after target on beam central axis were simulated using </a:t>
            </a:r>
            <a:r>
              <a:rPr lang="en-US" dirty="0" err="1"/>
              <a:t>BEAMnrc</a:t>
            </a:r>
            <a:r>
              <a:rPr lang="en-US" dirty="0"/>
              <a:t> using realistic target materials and thicknesses</a:t>
            </a:r>
          </a:p>
          <a:p>
            <a:r>
              <a:rPr lang="en-US" dirty="0"/>
              <a:t>Beam hardening in flattening filter modeled by attenuating the initial spectrum by radially varying amount of the flattening filter material. </a:t>
            </a:r>
          </a:p>
          <a:p>
            <a:r>
              <a:rPr lang="en-US" dirty="0"/>
              <a:t>Separate energy spectra for every </a:t>
            </a:r>
            <a:r>
              <a:rPr lang="en-US" dirty="0" err="1"/>
              <a:t>fanline</a:t>
            </a:r>
            <a:r>
              <a:rPr lang="en-US" dirty="0"/>
              <a:t> of the broad beam are derived from the mean energy curve. Non-uniform photon energy </a:t>
            </a:r>
            <a:r>
              <a:rPr lang="en-US" dirty="0" err="1"/>
              <a:t>fluence</a:t>
            </a:r>
            <a:r>
              <a:rPr lang="en-US" dirty="0"/>
              <a:t> is modeled by radially varying intensity profile curve</a:t>
            </a:r>
          </a:p>
          <a:p>
            <a:pPr marL="0" indent="0">
              <a:buNone/>
            </a:pPr>
            <a:endParaRPr lang="en-US" dirty="0"/>
          </a:p>
        </p:txBody>
      </p:sp>
    </p:spTree>
    <p:extLst>
      <p:ext uri="{BB962C8B-B14F-4D97-AF65-F5344CB8AC3E}">
        <p14:creationId xmlns:p14="http://schemas.microsoft.com/office/powerpoint/2010/main" val="2469681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350"/>
            <a:ext cx="10515600" cy="1325563"/>
          </a:xfrm>
        </p:spPr>
        <p:txBody>
          <a:bodyPr/>
          <a:lstStyle/>
          <a:p>
            <a:r>
              <a:rPr lang="en-US" b="1" dirty="0"/>
              <a:t>Second Source</a:t>
            </a:r>
          </a:p>
        </p:txBody>
      </p:sp>
      <p:sp>
        <p:nvSpPr>
          <p:cNvPr id="3" name="Content Placeholder 2"/>
          <p:cNvSpPr>
            <a:spLocks noGrp="1"/>
          </p:cNvSpPr>
          <p:nvPr>
            <p:ph idx="1"/>
          </p:nvPr>
        </p:nvSpPr>
        <p:spPr>
          <a:xfrm>
            <a:off x="838200" y="1414913"/>
            <a:ext cx="10515600" cy="5178392"/>
          </a:xfrm>
        </p:spPr>
        <p:txBody>
          <a:bodyPr>
            <a:normAutofit/>
          </a:bodyPr>
          <a:lstStyle/>
          <a:p>
            <a:r>
              <a:rPr lang="en-US" sz="3200" dirty="0"/>
              <a:t>Gaussian plane source located at bottom of flattening filter</a:t>
            </a:r>
          </a:p>
          <a:p>
            <a:r>
              <a:rPr lang="en-US" sz="3200" dirty="0"/>
              <a:t>Models photons that result from interactions in the accelerator outside the target (primarily in flattening filter, primary collimators, and secondary jaws)</a:t>
            </a:r>
          </a:p>
          <a:p>
            <a:r>
              <a:rPr lang="en-US" sz="3200" dirty="0"/>
              <a:t>Due to lower location of second source, radiation from second source diverges more than radiation from primary source (effect most noticeable outside the beam defined by the primary source)</a:t>
            </a:r>
          </a:p>
          <a:p>
            <a:r>
              <a:rPr lang="en-US" sz="3200" dirty="0"/>
              <a:t>Disabled for FFF beams; also disabled for hard wedges</a:t>
            </a:r>
          </a:p>
        </p:txBody>
      </p:sp>
    </p:spTree>
    <p:extLst>
      <p:ext uri="{BB962C8B-B14F-4D97-AF65-F5344CB8AC3E}">
        <p14:creationId xmlns:p14="http://schemas.microsoft.com/office/powerpoint/2010/main" val="2021403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Electron Contamination</a:t>
            </a:r>
          </a:p>
        </p:txBody>
      </p:sp>
      <p:sp>
        <p:nvSpPr>
          <p:cNvPr id="3" name="Content Placeholder 2"/>
          <p:cNvSpPr>
            <a:spLocks noGrp="1"/>
          </p:cNvSpPr>
          <p:nvPr>
            <p:ph idx="1"/>
          </p:nvPr>
        </p:nvSpPr>
        <p:spPr>
          <a:xfrm>
            <a:off x="838200" y="1588168"/>
            <a:ext cx="10515600" cy="4588795"/>
          </a:xfrm>
        </p:spPr>
        <p:txBody>
          <a:bodyPr>
            <a:normAutofit fontScale="92500"/>
          </a:bodyPr>
          <a:lstStyle/>
          <a:p>
            <a:r>
              <a:rPr lang="en-US" dirty="0"/>
              <a:t>Dose deposited in build-up region not accounted for by primary and extra-focal photon components</a:t>
            </a:r>
          </a:p>
          <a:p>
            <a:r>
              <a:rPr lang="en-US" dirty="0"/>
              <a:t>Also used to model photon contamination (photons created in e- interactions)</a:t>
            </a:r>
          </a:p>
          <a:p>
            <a:r>
              <a:rPr lang="en-US" dirty="0"/>
              <a:t>Modeled using radiological depth dependent curve that describes total amount of electron contamination dose at a certain radiological depth</a:t>
            </a:r>
          </a:p>
          <a:p>
            <a:r>
              <a:rPr lang="en-US" dirty="0"/>
              <a:t>The electron contamination is modeled with a depth-dependent curve that describes laterally integrated electron contamination dose at different depths</a:t>
            </a:r>
          </a:p>
          <a:p>
            <a:r>
              <a:rPr lang="en-US" dirty="0"/>
              <a:t>The shape of the electron </a:t>
            </a:r>
            <a:r>
              <a:rPr lang="en-US" dirty="0" err="1"/>
              <a:t>fluence</a:t>
            </a:r>
            <a:r>
              <a:rPr lang="en-US" dirty="0"/>
              <a:t> is obtained as a convolution of the aperture shape and a 2D kernel consisting of two Gaussian components</a:t>
            </a:r>
          </a:p>
        </p:txBody>
      </p:sp>
    </p:spTree>
    <p:extLst>
      <p:ext uri="{BB962C8B-B14F-4D97-AF65-F5344CB8AC3E}">
        <p14:creationId xmlns:p14="http://schemas.microsoft.com/office/powerpoint/2010/main" val="303292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4868"/>
            <a:ext cx="10515600" cy="1325563"/>
          </a:xfrm>
        </p:spPr>
        <p:txBody>
          <a:bodyPr/>
          <a:lstStyle/>
          <a:p>
            <a:r>
              <a:rPr lang="en-US" b="1" dirty="0"/>
              <a:t>Phase Space Model</a:t>
            </a:r>
          </a:p>
        </p:txBody>
      </p:sp>
      <p:sp>
        <p:nvSpPr>
          <p:cNvPr id="3" name="Content Placeholder 2"/>
          <p:cNvSpPr>
            <a:spLocks noGrp="1"/>
          </p:cNvSpPr>
          <p:nvPr>
            <p:ph idx="1"/>
          </p:nvPr>
        </p:nvSpPr>
        <p:spPr>
          <a:xfrm>
            <a:off x="838200" y="1222408"/>
            <a:ext cx="10515600" cy="5351647"/>
          </a:xfrm>
        </p:spPr>
        <p:txBody>
          <a:bodyPr>
            <a:normAutofit/>
          </a:bodyPr>
          <a:lstStyle/>
          <a:p>
            <a:r>
              <a:rPr lang="en-US" sz="3200" dirty="0"/>
              <a:t>Physical jaws are assumed to have zero transmission</a:t>
            </a:r>
          </a:p>
          <a:p>
            <a:r>
              <a:rPr lang="en-US" sz="3200" dirty="0"/>
              <a:t>The phase space consists of a primary source phase space and one or more non-primary source phase spaces. </a:t>
            </a:r>
          </a:p>
          <a:p>
            <a:r>
              <a:rPr lang="en-US" sz="3200" dirty="0"/>
              <a:t>The primary phase space consists of a two-dimensional energy </a:t>
            </a:r>
            <a:r>
              <a:rPr lang="en-US" sz="3200" dirty="0" err="1"/>
              <a:t>fluence</a:t>
            </a:r>
            <a:r>
              <a:rPr lang="en-US" sz="3200" dirty="0"/>
              <a:t> grid and a two-dimensional grid of spectra. </a:t>
            </a:r>
          </a:p>
          <a:p>
            <a:r>
              <a:rPr lang="en-US" sz="3200" dirty="0"/>
              <a:t>The non-primary phase space consists of a three-dimensional energy </a:t>
            </a:r>
            <a:r>
              <a:rPr lang="en-US" sz="3200" dirty="0" err="1"/>
              <a:t>fluence</a:t>
            </a:r>
            <a:r>
              <a:rPr lang="en-US" sz="3200" dirty="0"/>
              <a:t> grid (that is, a two-dimensional energy </a:t>
            </a:r>
            <a:r>
              <a:rPr lang="en-US" sz="3200" dirty="0" err="1"/>
              <a:t>fluence</a:t>
            </a:r>
            <a:r>
              <a:rPr lang="en-US" sz="3200" dirty="0"/>
              <a:t> grid that varies with distance from source) and a single spectrum. For an arc field, the source model calculates several static beam phase spaces.</a:t>
            </a:r>
          </a:p>
        </p:txBody>
      </p:sp>
    </p:spTree>
    <p:extLst>
      <p:ext uri="{BB962C8B-B14F-4D97-AF65-F5344CB8AC3E}">
        <p14:creationId xmlns:p14="http://schemas.microsoft.com/office/powerpoint/2010/main" val="3966322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Modeling Primary Source</a:t>
            </a:r>
          </a:p>
        </p:txBody>
      </p:sp>
      <p:sp>
        <p:nvSpPr>
          <p:cNvPr id="3" name="Content Placeholder 2"/>
          <p:cNvSpPr>
            <a:spLocks noGrp="1"/>
          </p:cNvSpPr>
          <p:nvPr>
            <p:ph idx="1"/>
          </p:nvPr>
        </p:nvSpPr>
        <p:spPr/>
        <p:txBody>
          <a:bodyPr>
            <a:normAutofit/>
          </a:bodyPr>
          <a:lstStyle/>
          <a:p>
            <a:r>
              <a:rPr lang="en-US" sz="3600" dirty="0"/>
              <a:t>Inputs:</a:t>
            </a:r>
          </a:p>
          <a:p>
            <a:pPr lvl="1"/>
            <a:r>
              <a:rPr lang="en-US" sz="3200" dirty="0"/>
              <a:t>Primary opening ratio matrix (static jaw/MLC opening or actual </a:t>
            </a:r>
            <a:r>
              <a:rPr lang="en-US" sz="3200" dirty="0" err="1"/>
              <a:t>fluence</a:t>
            </a:r>
            <a:r>
              <a:rPr lang="en-US" sz="3200" dirty="0"/>
              <a:t> for an IMRT field / arc segment)</a:t>
            </a:r>
          </a:p>
          <a:p>
            <a:pPr lvl="1"/>
            <a:r>
              <a:rPr lang="en-US" sz="3200" dirty="0"/>
              <a:t>Photon energy spectrum</a:t>
            </a:r>
          </a:p>
          <a:p>
            <a:pPr lvl="1"/>
            <a:r>
              <a:rPr lang="en-US" sz="3200" dirty="0"/>
              <a:t>Mean Energy</a:t>
            </a:r>
          </a:p>
          <a:p>
            <a:pPr lvl="1"/>
            <a:r>
              <a:rPr lang="en-US" sz="3200" dirty="0"/>
              <a:t>Intensity Profile </a:t>
            </a:r>
          </a:p>
        </p:txBody>
      </p:sp>
    </p:spTree>
    <p:extLst>
      <p:ext uri="{BB962C8B-B14F-4D97-AF65-F5344CB8AC3E}">
        <p14:creationId xmlns:p14="http://schemas.microsoft.com/office/powerpoint/2010/main" val="2654553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Second Source Parameters</a:t>
            </a:r>
            <a:endParaRPr lang="en-US" dirty="0"/>
          </a:p>
        </p:txBody>
      </p:sp>
      <p:sp>
        <p:nvSpPr>
          <p:cNvPr id="3" name="Content Placeholder 2"/>
          <p:cNvSpPr>
            <a:spLocks noGrp="1"/>
          </p:cNvSpPr>
          <p:nvPr>
            <p:ph idx="1"/>
          </p:nvPr>
        </p:nvSpPr>
        <p:spPr/>
        <p:txBody>
          <a:bodyPr>
            <a:normAutofit/>
          </a:bodyPr>
          <a:lstStyle/>
          <a:p>
            <a:r>
              <a:rPr lang="en-US" sz="3200" dirty="0"/>
              <a:t>The second source model includes a spectrum whose energy axis is scaled to obtain a given mean energy. </a:t>
            </a:r>
          </a:p>
          <a:p>
            <a:r>
              <a:rPr lang="en-US" sz="3200" dirty="0"/>
              <a:t>Off-axis variation in the second source spectrum is not modeled.</a:t>
            </a:r>
          </a:p>
          <a:p>
            <a:r>
              <a:rPr lang="en-US" sz="3200" dirty="0"/>
              <a:t>The relative intensity of the second source compared to the primary photon source, the width of the Gaussian at the source plane (size of the second source), and the mean energy are free parameters.</a:t>
            </a:r>
          </a:p>
        </p:txBody>
      </p:sp>
    </p:spTree>
    <p:extLst>
      <p:ext uri="{BB962C8B-B14F-4D97-AF65-F5344CB8AC3E}">
        <p14:creationId xmlns:p14="http://schemas.microsoft.com/office/powerpoint/2010/main" val="2856814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b="1" dirty="0"/>
              <a:t>Mean Energy</a:t>
            </a:r>
          </a:p>
        </p:txBody>
      </p:sp>
      <p:sp>
        <p:nvSpPr>
          <p:cNvPr id="3" name="Content Placeholder 2"/>
          <p:cNvSpPr>
            <a:spLocks noGrp="1"/>
          </p:cNvSpPr>
          <p:nvPr>
            <p:ph idx="1"/>
          </p:nvPr>
        </p:nvSpPr>
        <p:spPr>
          <a:xfrm>
            <a:off x="838200" y="1087656"/>
            <a:ext cx="10515600" cy="5496024"/>
          </a:xfrm>
        </p:spPr>
        <p:txBody>
          <a:bodyPr>
            <a:noAutofit/>
          </a:bodyPr>
          <a:lstStyle/>
          <a:p>
            <a:r>
              <a:rPr lang="en-US" sz="3000" dirty="0"/>
              <a:t>Another important parameter that affects the energy spectrum used by the source model is the mean energy as a function of the radius from the beam CAX. </a:t>
            </a:r>
          </a:p>
          <a:p>
            <a:r>
              <a:rPr lang="en-US" sz="3000" dirty="0"/>
              <a:t>This curve is used by the source model to determine the beam hardening effect of the flattening filter on the photon spectrum. Based on the mean energy curve and the user-specified flattening filter material, the source model determines the energy spectrum of the beam as a function of radial distance from the beam CAX. </a:t>
            </a:r>
          </a:p>
          <a:p>
            <a:r>
              <a:rPr lang="en-US" sz="3000" dirty="0"/>
              <a:t>For flattening filter free (FFF) beams, the mean radial energy curve models the off-axis variation in the initial bremsstrahlung spectrum.</a:t>
            </a:r>
          </a:p>
        </p:txBody>
      </p:sp>
    </p:spTree>
    <p:extLst>
      <p:ext uri="{BB962C8B-B14F-4D97-AF65-F5344CB8AC3E}">
        <p14:creationId xmlns:p14="http://schemas.microsoft.com/office/powerpoint/2010/main" val="289028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943" y="172619"/>
            <a:ext cx="10515600" cy="1325563"/>
          </a:xfrm>
        </p:spPr>
        <p:txBody>
          <a:bodyPr/>
          <a:lstStyle/>
          <a:p>
            <a:r>
              <a:rPr lang="en-US" b="1" dirty="0"/>
              <a:t>Beam Modifiers in the Treatment Beam Model</a:t>
            </a:r>
            <a:endParaRPr lang="en-US" dirty="0"/>
          </a:p>
        </p:txBody>
      </p:sp>
      <p:sp>
        <p:nvSpPr>
          <p:cNvPr id="3" name="Content Placeholder 2"/>
          <p:cNvSpPr>
            <a:spLocks noGrp="1"/>
          </p:cNvSpPr>
          <p:nvPr>
            <p:ph idx="1"/>
          </p:nvPr>
        </p:nvSpPr>
        <p:spPr>
          <a:xfrm>
            <a:off x="838200" y="1498182"/>
            <a:ext cx="10515600" cy="4351338"/>
          </a:xfrm>
        </p:spPr>
        <p:txBody>
          <a:bodyPr>
            <a:noAutofit/>
          </a:bodyPr>
          <a:lstStyle/>
          <a:p>
            <a:r>
              <a:rPr lang="en-US" sz="3200" dirty="0"/>
              <a:t>Most beam modifying accessories affect only the beam </a:t>
            </a:r>
            <a:r>
              <a:rPr lang="en-US" sz="3200" dirty="0" err="1"/>
              <a:t>fluence</a:t>
            </a:r>
            <a:r>
              <a:rPr lang="en-US" sz="3200" dirty="0"/>
              <a:t> used in dose calculation. </a:t>
            </a:r>
          </a:p>
          <a:p>
            <a:r>
              <a:rPr lang="en-US" sz="3200" dirty="0"/>
              <a:t>Blocks, trays and MLCs employ a user-defined transmission factor to model the radiation transmitted through the accessory.</a:t>
            </a:r>
          </a:p>
          <a:p>
            <a:r>
              <a:rPr lang="en-US" sz="3200" dirty="0"/>
              <a:t>Compensators, Dynamic Wedges and IMRT fields also modify the </a:t>
            </a:r>
            <a:r>
              <a:rPr lang="en-US" sz="3200" dirty="0" err="1"/>
              <a:t>fluence</a:t>
            </a:r>
            <a:r>
              <a:rPr lang="en-US" sz="3200" dirty="0"/>
              <a:t> of the beam. </a:t>
            </a:r>
          </a:p>
          <a:p>
            <a:r>
              <a:rPr lang="en-US" sz="3200" dirty="0"/>
              <a:t>The head scatter effects are taken into account by using a finite size second source located at the bottom surface of the flattening filter</a:t>
            </a:r>
          </a:p>
        </p:txBody>
      </p:sp>
    </p:spTree>
    <p:extLst>
      <p:ext uri="{BB962C8B-B14F-4D97-AF65-F5344CB8AC3E}">
        <p14:creationId xmlns:p14="http://schemas.microsoft.com/office/powerpoint/2010/main" val="76906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AAA Accuracy in Lung</a:t>
            </a:r>
            <a:br>
              <a:rPr lang="en-US" b="1" dirty="0"/>
            </a:br>
            <a:endParaRPr lang="en-US" dirty="0"/>
          </a:p>
        </p:txBody>
      </p:sp>
      <p:sp>
        <p:nvSpPr>
          <p:cNvPr id="3" name="Content Placeholder 2"/>
          <p:cNvSpPr>
            <a:spLocks noGrp="1"/>
          </p:cNvSpPr>
          <p:nvPr>
            <p:ph idx="1"/>
          </p:nvPr>
        </p:nvSpPr>
        <p:spPr>
          <a:xfrm>
            <a:off x="838200" y="1443789"/>
            <a:ext cx="10515600" cy="4733174"/>
          </a:xfrm>
        </p:spPr>
        <p:txBody>
          <a:bodyPr>
            <a:normAutofit/>
          </a:bodyPr>
          <a:lstStyle/>
          <a:p>
            <a:r>
              <a:rPr lang="en-US" dirty="0"/>
              <a:t>For 4 MV to 6 MV energies and field sizes larger than or equal to 5×5 cm</a:t>
            </a:r>
            <a:r>
              <a:rPr lang="en-US" baseline="30000" dirty="0"/>
              <a:t>2</a:t>
            </a:r>
            <a:r>
              <a:rPr lang="en-US" dirty="0"/>
              <a:t>, AAA tends to underestimate the dose in lung and overestimate the dose in water equivalent tissue after the lung. </a:t>
            </a:r>
          </a:p>
          <a:p>
            <a:pPr lvl="1"/>
            <a:r>
              <a:rPr lang="en-US" dirty="0"/>
              <a:t>For 6 MV, the errors are smaller than 3% of the field CAX dose maximum. However, error from local dose can become significantly larger, if the local dose is small relative to the dose maximum.</a:t>
            </a:r>
          </a:p>
          <a:p>
            <a:r>
              <a:rPr lang="en-US" dirty="0"/>
              <a:t>For 10 MV to 20 MV energy modes and field sizes smaller than or equal to 5×5 cm</a:t>
            </a:r>
            <a:r>
              <a:rPr lang="en-US" baseline="30000" dirty="0"/>
              <a:t>2</a:t>
            </a:r>
            <a:r>
              <a:rPr lang="en-US" dirty="0"/>
              <a:t>, AAA tends to overestimate the dose in lung. The errors become larger as the field size decreases and the lung density decreases. </a:t>
            </a:r>
          </a:p>
          <a:p>
            <a:pPr lvl="1"/>
            <a:r>
              <a:rPr lang="en-US" dirty="0"/>
              <a:t>For 18 MV and 3×3 cm</a:t>
            </a:r>
            <a:r>
              <a:rPr lang="en-US" baseline="30000" dirty="0"/>
              <a:t>2</a:t>
            </a:r>
            <a:r>
              <a:rPr lang="en-US" dirty="0"/>
              <a:t> field, the maximum error in lung with density 1.85 g/cm</a:t>
            </a:r>
            <a:r>
              <a:rPr lang="en-US" baseline="30000" dirty="0"/>
              <a:t>3</a:t>
            </a:r>
            <a:r>
              <a:rPr lang="en-US" dirty="0"/>
              <a:t> is approximately 7% of the field dose maximum.</a:t>
            </a:r>
          </a:p>
        </p:txBody>
      </p:sp>
      <p:pic>
        <p:nvPicPr>
          <p:cNvPr id="5" name="Picture 4" descr="A screenshot of a computer&#10;&#10;Description automatically generated">
            <a:extLst>
              <a:ext uri="{FF2B5EF4-FFF2-40B4-BE49-F238E27FC236}">
                <a16:creationId xmlns:a16="http://schemas.microsoft.com/office/drawing/2014/main" id="{E65DA89E-2CDC-9B6F-1684-DA8DBF6336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2248"/>
            <a:ext cx="12192000" cy="5693503"/>
          </a:xfrm>
          <a:prstGeom prst="rect">
            <a:avLst/>
          </a:prstGeom>
        </p:spPr>
      </p:pic>
    </p:spTree>
    <p:extLst>
      <p:ext uri="{BB962C8B-B14F-4D97-AF65-F5344CB8AC3E}">
        <p14:creationId xmlns:p14="http://schemas.microsoft.com/office/powerpoint/2010/main" val="2343810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Accuracy of AAA and </a:t>
            </a:r>
            <a:r>
              <a:rPr lang="en-US" b="1" dirty="0" err="1"/>
              <a:t>Acuros</a:t>
            </a:r>
            <a:r>
              <a:rPr lang="en-US" b="1" dirty="0"/>
              <a:t> XB for static MLC fields</a:t>
            </a:r>
            <a:br>
              <a:rPr lang="en-US" b="1" dirty="0"/>
            </a:br>
            <a:endParaRPr lang="en-US" dirty="0"/>
          </a:p>
        </p:txBody>
      </p:sp>
      <p:sp>
        <p:nvSpPr>
          <p:cNvPr id="3" name="Content Placeholder 2"/>
          <p:cNvSpPr>
            <a:spLocks noGrp="1"/>
          </p:cNvSpPr>
          <p:nvPr>
            <p:ph idx="1"/>
          </p:nvPr>
        </p:nvSpPr>
        <p:spPr>
          <a:xfrm>
            <a:off x="838200" y="1453415"/>
            <a:ext cx="10515600" cy="4723548"/>
          </a:xfrm>
        </p:spPr>
        <p:txBody>
          <a:bodyPr>
            <a:normAutofit/>
          </a:bodyPr>
          <a:lstStyle/>
          <a:p>
            <a:r>
              <a:rPr lang="en-US" sz="3200" dirty="0"/>
              <a:t>For 18 MV, AAA and </a:t>
            </a:r>
            <a:r>
              <a:rPr lang="en-US" sz="3200" dirty="0" err="1"/>
              <a:t>Acuros</a:t>
            </a:r>
            <a:r>
              <a:rPr lang="en-US" sz="3200" dirty="0"/>
              <a:t> XB tend to underestimate the dose at shallow depths for certain static MLC shapes. </a:t>
            </a:r>
          </a:p>
          <a:p>
            <a:pPr lvl="1"/>
            <a:r>
              <a:rPr lang="en-US" sz="2800" dirty="0"/>
              <a:t>At 3 cm depth, the error can reach 3% of the local dose.</a:t>
            </a:r>
          </a:p>
          <a:p>
            <a:r>
              <a:rPr lang="en-US" sz="3200" dirty="0"/>
              <a:t>For 6 MV, AAA and </a:t>
            </a:r>
            <a:r>
              <a:rPr lang="en-US" sz="3200" dirty="0" err="1"/>
              <a:t>Acuros</a:t>
            </a:r>
            <a:r>
              <a:rPr lang="en-US" sz="3200" dirty="0"/>
              <a:t> XB may underestimate the dose at large depths (larger than or equal to 20 cm) for certain static MLC shapes.</a:t>
            </a:r>
          </a:p>
          <a:p>
            <a:pPr lvl="1"/>
            <a:r>
              <a:rPr lang="en-US" sz="2800" dirty="0"/>
              <a:t>The errors are more pronounced for elongated (for example H-shaped) openings. The errors can reach up to ~4% of the local dose</a:t>
            </a:r>
          </a:p>
        </p:txBody>
      </p:sp>
    </p:spTree>
    <p:extLst>
      <p:ext uri="{BB962C8B-B14F-4D97-AF65-F5344CB8AC3E}">
        <p14:creationId xmlns:p14="http://schemas.microsoft.com/office/powerpoint/2010/main" val="3078310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AAA</a:t>
            </a:r>
          </a:p>
        </p:txBody>
      </p:sp>
      <p:sp>
        <p:nvSpPr>
          <p:cNvPr id="3" name="Content Placeholder 2"/>
          <p:cNvSpPr>
            <a:spLocks noGrp="1"/>
          </p:cNvSpPr>
          <p:nvPr>
            <p:ph idx="1"/>
          </p:nvPr>
        </p:nvSpPr>
        <p:spPr>
          <a:xfrm>
            <a:off x="838200" y="1597794"/>
            <a:ext cx="10515600" cy="4579169"/>
          </a:xfrm>
        </p:spPr>
        <p:txBody>
          <a:bodyPr>
            <a:normAutofit/>
          </a:bodyPr>
          <a:lstStyle/>
          <a:p>
            <a:r>
              <a:rPr lang="en-US" dirty="0"/>
              <a:t>3D pencil beam convolution/superposition algorithm </a:t>
            </a:r>
          </a:p>
          <a:p>
            <a:r>
              <a:rPr lang="en-US" dirty="0"/>
              <a:t>Uses separate Monte Carlo derived modeling for primary photons, scattered extra-focal photons, and electrons scattered from the beam limiting devices. </a:t>
            </a:r>
          </a:p>
          <a:p>
            <a:r>
              <a:rPr lang="en-US" dirty="0"/>
              <a:t>The lateral dose deposition characteristics are modeled with six exponential curves. </a:t>
            </a:r>
          </a:p>
          <a:p>
            <a:r>
              <a:rPr lang="en-US" dirty="0"/>
              <a:t>The functional shapes of the fundamental physical expressions in the AAA enable analytical convolution, which significantly reduces the computational time.</a:t>
            </a:r>
          </a:p>
        </p:txBody>
      </p:sp>
    </p:spTree>
    <p:extLst>
      <p:ext uri="{BB962C8B-B14F-4D97-AF65-F5344CB8AC3E}">
        <p14:creationId xmlns:p14="http://schemas.microsoft.com/office/powerpoint/2010/main" val="26809745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AAA</a:t>
            </a:r>
          </a:p>
        </p:txBody>
      </p:sp>
      <p:sp>
        <p:nvSpPr>
          <p:cNvPr id="3" name="Content Placeholder 2"/>
          <p:cNvSpPr>
            <a:spLocks noGrp="1"/>
          </p:cNvSpPr>
          <p:nvPr>
            <p:ph idx="1"/>
          </p:nvPr>
        </p:nvSpPr>
        <p:spPr>
          <a:xfrm>
            <a:off x="838200" y="1597794"/>
            <a:ext cx="10515600" cy="4579169"/>
          </a:xfrm>
        </p:spPr>
        <p:txBody>
          <a:bodyPr>
            <a:normAutofit/>
          </a:bodyPr>
          <a:lstStyle/>
          <a:p>
            <a:r>
              <a:rPr lang="en-US" sz="3200" dirty="0"/>
              <a:t>The AAA accounts for tissue heterogeneity </a:t>
            </a:r>
            <a:r>
              <a:rPr lang="en-US" sz="3200" dirty="0" err="1"/>
              <a:t>anisotropically</a:t>
            </a:r>
            <a:r>
              <a:rPr lang="en-US" sz="3200" dirty="0"/>
              <a:t> in the entire three dimensional neighborhood of an interaction site, by using photon scatter kernels in multiple lateral directions (Scatter Kernels).</a:t>
            </a:r>
          </a:p>
          <a:p>
            <a:r>
              <a:rPr lang="en-US" sz="3200" dirty="0"/>
              <a:t>The final dose distribution is obtained by the superposition of the dose calculated with photon and electron convolutions.</a:t>
            </a:r>
          </a:p>
        </p:txBody>
      </p:sp>
    </p:spTree>
    <p:extLst>
      <p:ext uri="{BB962C8B-B14F-4D97-AF65-F5344CB8AC3E}">
        <p14:creationId xmlns:p14="http://schemas.microsoft.com/office/powerpoint/2010/main" val="1560349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Scatter Kernels</a:t>
            </a:r>
            <a:br>
              <a:rPr lang="en-US" b="1" dirty="0"/>
            </a:br>
            <a:endParaRPr lang="en-US" dirty="0"/>
          </a:p>
        </p:txBody>
      </p:sp>
      <p:sp>
        <p:nvSpPr>
          <p:cNvPr id="3" name="Content Placeholder 2"/>
          <p:cNvSpPr>
            <a:spLocks noGrp="1"/>
          </p:cNvSpPr>
          <p:nvPr>
            <p:ph idx="1"/>
          </p:nvPr>
        </p:nvSpPr>
        <p:spPr/>
        <p:txBody>
          <a:bodyPr>
            <a:normAutofit/>
          </a:bodyPr>
          <a:lstStyle/>
          <a:p>
            <a:r>
              <a:rPr lang="en-US" dirty="0"/>
              <a:t>The scatter kernels describe the phantom-scatter effects for different beam qualities.</a:t>
            </a:r>
          </a:p>
          <a:p>
            <a:r>
              <a:rPr lang="en-US" dirty="0"/>
              <a:t>The </a:t>
            </a:r>
            <a:r>
              <a:rPr lang="en-US" dirty="0" err="1"/>
              <a:t>EGSnrc</a:t>
            </a:r>
            <a:r>
              <a:rPr lang="en-US" dirty="0"/>
              <a:t> Monte Carlo code was used to compute scatter kernels for mono-energetic pencil beams in water. </a:t>
            </a:r>
          </a:p>
          <a:p>
            <a:r>
              <a:rPr lang="en-US" dirty="0"/>
              <a:t>A poly-energetic scatter kernel is constructed as a weighted sum of the mono-energetic scatter kernels. </a:t>
            </a:r>
          </a:p>
          <a:p>
            <a:r>
              <a:rPr lang="en-US" dirty="0"/>
              <a:t>During the 3D dose calculation these kernels are scaled according to the densities of the actual patient tissues determined from the CT images</a:t>
            </a:r>
          </a:p>
        </p:txBody>
      </p:sp>
    </p:spTree>
    <p:extLst>
      <p:ext uri="{BB962C8B-B14F-4D97-AF65-F5344CB8AC3E}">
        <p14:creationId xmlns:p14="http://schemas.microsoft.com/office/powerpoint/2010/main" val="3818743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992"/>
            <a:ext cx="10515600" cy="1325563"/>
          </a:xfrm>
        </p:spPr>
        <p:txBody>
          <a:bodyPr/>
          <a:lstStyle/>
          <a:p>
            <a:r>
              <a:rPr lang="en-US" b="1" dirty="0" err="1"/>
              <a:t>Beamlets</a:t>
            </a:r>
            <a:endParaRPr lang="en-US" b="1" dirty="0"/>
          </a:p>
        </p:txBody>
      </p:sp>
      <p:sp>
        <p:nvSpPr>
          <p:cNvPr id="3" name="Content Placeholder 2"/>
          <p:cNvSpPr>
            <a:spLocks noGrp="1"/>
          </p:cNvSpPr>
          <p:nvPr>
            <p:ph idx="1"/>
          </p:nvPr>
        </p:nvSpPr>
        <p:spPr>
          <a:xfrm>
            <a:off x="838200" y="1222408"/>
            <a:ext cx="10515600" cy="5245769"/>
          </a:xfrm>
        </p:spPr>
        <p:txBody>
          <a:bodyPr>
            <a:normAutofit/>
          </a:bodyPr>
          <a:lstStyle/>
          <a:p>
            <a:r>
              <a:rPr lang="en-US" dirty="0"/>
              <a:t>The dose calculation is based on the convolutions over the </a:t>
            </a:r>
            <a:r>
              <a:rPr lang="en-US" dirty="0" err="1"/>
              <a:t>beamlet</a:t>
            </a:r>
            <a:r>
              <a:rPr lang="en-US" dirty="0"/>
              <a:t> cross-sections separately for the primary photons, extra-focal photons (second source), scatter from hard wedges, and for electrons contaminating the primary beam</a:t>
            </a:r>
          </a:p>
          <a:p>
            <a:r>
              <a:rPr lang="en-US" dirty="0"/>
              <a:t>All depth-dependent functions used in the </a:t>
            </a:r>
            <a:r>
              <a:rPr lang="en-US" dirty="0" err="1"/>
              <a:t>beamlet</a:t>
            </a:r>
            <a:r>
              <a:rPr lang="en-US" dirty="0"/>
              <a:t> convolutions are computed along the central </a:t>
            </a:r>
            <a:r>
              <a:rPr lang="en-US" dirty="0" err="1"/>
              <a:t>fanline</a:t>
            </a:r>
            <a:r>
              <a:rPr lang="en-US" dirty="0"/>
              <a:t> of the </a:t>
            </a:r>
            <a:r>
              <a:rPr lang="en-US" dirty="0" err="1"/>
              <a:t>beamlet</a:t>
            </a:r>
            <a:r>
              <a:rPr lang="en-US" dirty="0"/>
              <a:t> using the depth coordinate z. </a:t>
            </a:r>
          </a:p>
          <a:p>
            <a:r>
              <a:rPr lang="en-US" dirty="0"/>
              <a:t>Lateral dose scattering due to photons and electrons is defined on the spherical shell perpendicular to the central </a:t>
            </a:r>
            <a:r>
              <a:rPr lang="en-US" dirty="0" err="1"/>
              <a:t>fanline</a:t>
            </a:r>
            <a:r>
              <a:rPr lang="en-US" dirty="0"/>
              <a:t> of the </a:t>
            </a:r>
            <a:r>
              <a:rPr lang="en-US" dirty="0" err="1"/>
              <a:t>beamlet</a:t>
            </a:r>
            <a:r>
              <a:rPr lang="en-US" dirty="0"/>
              <a:t>.</a:t>
            </a:r>
          </a:p>
          <a:p>
            <a:r>
              <a:rPr lang="en-US" dirty="0"/>
              <a:t>The AAA makes the assumption that the dose resulting from photon and electron scatter can be calculated by a division into two main directions, which are the lateral and the depth scatter.</a:t>
            </a:r>
          </a:p>
        </p:txBody>
      </p:sp>
    </p:spTree>
    <p:extLst>
      <p:ext uri="{BB962C8B-B14F-4D97-AF65-F5344CB8AC3E}">
        <p14:creationId xmlns:p14="http://schemas.microsoft.com/office/powerpoint/2010/main" val="17703510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9578"/>
            <a:ext cx="10515600" cy="1325563"/>
          </a:xfrm>
        </p:spPr>
        <p:txBody>
          <a:bodyPr/>
          <a:lstStyle/>
          <a:p>
            <a:r>
              <a:rPr lang="en-US" b="1" dirty="0" err="1"/>
              <a:t>Beamlets</a:t>
            </a:r>
            <a:endParaRPr lang="en-US" b="1" dirty="0"/>
          </a:p>
        </p:txBody>
      </p:sp>
      <p:sp>
        <p:nvSpPr>
          <p:cNvPr id="4" name="Content Placeholder 3"/>
          <p:cNvSpPr>
            <a:spLocks noGrp="1"/>
          </p:cNvSpPr>
          <p:nvPr>
            <p:ph idx="1"/>
          </p:nvPr>
        </p:nvSpPr>
        <p:spPr/>
        <p:txBody>
          <a:bodyPr/>
          <a:lstStyle/>
          <a:p>
            <a:endParaRPr lang="en-US" dirty="0"/>
          </a:p>
        </p:txBody>
      </p:sp>
      <p:pic>
        <p:nvPicPr>
          <p:cNvPr id="5" name="Picture 4"/>
          <p:cNvPicPr>
            <a:picLocks noChangeAspect="1"/>
          </p:cNvPicPr>
          <p:nvPr/>
        </p:nvPicPr>
        <p:blipFill>
          <a:blip r:embed="rId2"/>
          <a:stretch>
            <a:fillRect/>
          </a:stretch>
        </p:blipFill>
        <p:spPr>
          <a:xfrm>
            <a:off x="3419968" y="933651"/>
            <a:ext cx="5352063" cy="5625789"/>
          </a:xfrm>
          <a:prstGeom prst="rect">
            <a:avLst/>
          </a:prstGeom>
        </p:spPr>
      </p:pic>
    </p:spTree>
    <p:extLst>
      <p:ext uri="{BB962C8B-B14F-4D97-AF65-F5344CB8AC3E}">
        <p14:creationId xmlns:p14="http://schemas.microsoft.com/office/powerpoint/2010/main" val="3049785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Volumetric Dose Calculation</a:t>
            </a:r>
            <a:br>
              <a:rPr lang="en-US" b="1" dirty="0"/>
            </a:br>
            <a:endParaRPr lang="en-US" dirty="0"/>
          </a:p>
        </p:txBody>
      </p:sp>
      <p:sp>
        <p:nvSpPr>
          <p:cNvPr id="3" name="Content Placeholder 2"/>
          <p:cNvSpPr>
            <a:spLocks noGrp="1"/>
          </p:cNvSpPr>
          <p:nvPr>
            <p:ph idx="1"/>
          </p:nvPr>
        </p:nvSpPr>
        <p:spPr/>
        <p:txBody>
          <a:bodyPr>
            <a:normAutofit/>
          </a:bodyPr>
          <a:lstStyle/>
          <a:p>
            <a:r>
              <a:rPr lang="en-US" dirty="0"/>
              <a:t>For volumetric dose distribution calculation, the patient body volume is divided into a matrix of 3D calculation voxels based on the selected calculation grid </a:t>
            </a:r>
          </a:p>
          <a:p>
            <a:r>
              <a:rPr lang="en-US" dirty="0"/>
              <a:t>The geometry of the calculation voxel grid is divergent, aligning the coordinate system with the beam </a:t>
            </a:r>
            <a:r>
              <a:rPr lang="en-US" dirty="0" err="1"/>
              <a:t>fanlines</a:t>
            </a:r>
            <a:r>
              <a:rPr lang="en-US" dirty="0"/>
              <a:t>. </a:t>
            </a:r>
          </a:p>
          <a:p>
            <a:r>
              <a:rPr lang="en-US" dirty="0"/>
              <a:t>Every calculation voxel is associated with the mean electron density </a:t>
            </a:r>
            <a:r>
              <a:rPr lang="en-US" i="1" dirty="0"/>
              <a:t>ρ </a:t>
            </a:r>
            <a:r>
              <a:rPr lang="en-US" dirty="0"/>
              <a:t>that is computed from the patient CT images according to a user-specified calibration curve.</a:t>
            </a:r>
          </a:p>
        </p:txBody>
      </p:sp>
    </p:spTree>
    <p:extLst>
      <p:ext uri="{BB962C8B-B14F-4D97-AF65-F5344CB8AC3E}">
        <p14:creationId xmlns:p14="http://schemas.microsoft.com/office/powerpoint/2010/main" val="401971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Photon Dose Calculation – Energy Based</a:t>
            </a:r>
          </a:p>
        </p:txBody>
      </p:sp>
      <p:sp>
        <p:nvSpPr>
          <p:cNvPr id="3" name="Content Placeholder 2"/>
          <p:cNvSpPr>
            <a:spLocks noGrp="1"/>
          </p:cNvSpPr>
          <p:nvPr>
            <p:ph idx="1"/>
          </p:nvPr>
        </p:nvSpPr>
        <p:spPr>
          <a:xfrm>
            <a:off x="838200" y="1507991"/>
            <a:ext cx="10515600" cy="4979436"/>
          </a:xfrm>
        </p:spPr>
        <p:txBody>
          <a:bodyPr>
            <a:normAutofit/>
          </a:bodyPr>
          <a:lstStyle/>
          <a:p>
            <a:r>
              <a:rPr lang="en-US" sz="3600" dirty="0"/>
              <a:t>The dose convolution in the AAA is performed in terms of energy. </a:t>
            </a:r>
          </a:p>
          <a:p>
            <a:r>
              <a:rPr lang="en-US" sz="3600" dirty="0"/>
              <a:t>In comparison with dose-based convolution, which is more common, energy convolution allows the energy to be conserved more accurately even in more complex heterogeneous convolutions. </a:t>
            </a:r>
          </a:p>
          <a:p>
            <a:r>
              <a:rPr lang="en-US" sz="3600" dirty="0"/>
              <a:t>The energy is converted to dose using the scaled-water approximation.</a:t>
            </a:r>
          </a:p>
        </p:txBody>
      </p:sp>
    </p:spTree>
    <p:extLst>
      <p:ext uri="{BB962C8B-B14F-4D97-AF65-F5344CB8AC3E}">
        <p14:creationId xmlns:p14="http://schemas.microsoft.com/office/powerpoint/2010/main" val="2043090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Lateral Density Scaling of the Photon Scatter Kernels</a:t>
            </a:r>
            <a:endParaRPr lang="en-US" dirty="0"/>
          </a:p>
        </p:txBody>
      </p:sp>
      <p:sp>
        <p:nvSpPr>
          <p:cNvPr id="3" name="Content Placeholder 2"/>
          <p:cNvSpPr>
            <a:spLocks noGrp="1"/>
          </p:cNvSpPr>
          <p:nvPr>
            <p:ph idx="1"/>
          </p:nvPr>
        </p:nvSpPr>
        <p:spPr/>
        <p:txBody>
          <a:bodyPr>
            <a:normAutofit/>
          </a:bodyPr>
          <a:lstStyle/>
          <a:p>
            <a:r>
              <a:rPr lang="en-US" sz="3600" dirty="0"/>
              <a:t>Density scaling of the individual pencil beams is done by scaling the energy at each location by the average density between the calculation point and the origin of the pencil beam.</a:t>
            </a:r>
          </a:p>
          <a:p>
            <a:r>
              <a:rPr lang="en-US" sz="3600" dirty="0"/>
              <a:t>In practice, this is done by dividing the kernel of the following equation into a finite number (16) of rays that emerge from the origin.</a:t>
            </a:r>
          </a:p>
        </p:txBody>
      </p:sp>
    </p:spTree>
    <p:extLst>
      <p:ext uri="{BB962C8B-B14F-4D97-AF65-F5344CB8AC3E}">
        <p14:creationId xmlns:p14="http://schemas.microsoft.com/office/powerpoint/2010/main" val="2426122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Dose Optimization Algorithms</a:t>
            </a:r>
          </a:p>
        </p:txBody>
      </p:sp>
      <p:sp>
        <p:nvSpPr>
          <p:cNvPr id="3" name="Content Placeholder 2"/>
          <p:cNvSpPr>
            <a:spLocks noGrp="1"/>
          </p:cNvSpPr>
          <p:nvPr>
            <p:ph idx="1"/>
          </p:nvPr>
        </p:nvSpPr>
        <p:spPr>
          <a:xfrm>
            <a:off x="838200" y="1549667"/>
            <a:ext cx="10515600" cy="4627296"/>
          </a:xfrm>
        </p:spPr>
        <p:txBody>
          <a:bodyPr>
            <a:normAutofit/>
          </a:bodyPr>
          <a:lstStyle/>
          <a:p>
            <a:r>
              <a:rPr lang="en-US" dirty="0"/>
              <a:t>Photon Optimization algorithm (PO): Determines the optimal field shape and intensity by iteratively conforming the dose distribution to the desired objectives until an optimum solution is reached. Optimizes static field IMRT plans, VMAT (</a:t>
            </a:r>
            <a:r>
              <a:rPr lang="en-US" dirty="0" err="1"/>
              <a:t>RapidArc</a:t>
            </a:r>
            <a:r>
              <a:rPr lang="en-US" dirty="0"/>
              <a:t>) plans, </a:t>
            </a:r>
            <a:r>
              <a:rPr lang="en-US" dirty="0" err="1"/>
              <a:t>Elekta</a:t>
            </a:r>
            <a:r>
              <a:rPr lang="en-US" dirty="0"/>
              <a:t> VMAT plans and Siemens </a:t>
            </a:r>
            <a:r>
              <a:rPr lang="en-US" dirty="0" err="1"/>
              <a:t>mARC</a:t>
            </a:r>
            <a:r>
              <a:rPr lang="en-US" dirty="0"/>
              <a:t> plans based on optimization objectives.</a:t>
            </a:r>
          </a:p>
          <a:p>
            <a:r>
              <a:rPr lang="en-US" dirty="0"/>
              <a:t>Dose Volume Optimizer algorithm (DVO): Determines the optimal field shape and intensity by iteratively conforming the dose distribution to the desired objectives until an optimum solution is reached.</a:t>
            </a:r>
          </a:p>
        </p:txBody>
      </p:sp>
    </p:spTree>
    <p:extLst>
      <p:ext uri="{BB962C8B-B14F-4D97-AF65-F5344CB8AC3E}">
        <p14:creationId xmlns:p14="http://schemas.microsoft.com/office/powerpoint/2010/main" val="1352006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b="1" dirty="0"/>
              <a:t>Dose Optimization Algorithms</a:t>
            </a:r>
          </a:p>
        </p:txBody>
      </p:sp>
      <p:sp>
        <p:nvSpPr>
          <p:cNvPr id="4" name="Content Placeholder 3"/>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2461756" y="1015315"/>
            <a:ext cx="7268487" cy="5683201"/>
          </a:xfrm>
          <a:prstGeom prst="rect">
            <a:avLst/>
          </a:prstGeom>
        </p:spPr>
      </p:pic>
    </p:spTree>
    <p:extLst>
      <p:ext uri="{BB962C8B-B14F-4D97-AF65-F5344CB8AC3E}">
        <p14:creationId xmlns:p14="http://schemas.microsoft.com/office/powerpoint/2010/main" val="1277570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Dose Calculation</a:t>
            </a:r>
            <a:br>
              <a:rPr lang="en-US" b="1" dirty="0"/>
            </a:br>
            <a:endParaRPr lang="en-US" dirty="0"/>
          </a:p>
        </p:txBody>
      </p:sp>
      <p:sp>
        <p:nvSpPr>
          <p:cNvPr id="3" name="Content Placeholder 2"/>
          <p:cNvSpPr>
            <a:spLocks noGrp="1"/>
          </p:cNvSpPr>
          <p:nvPr>
            <p:ph idx="1"/>
          </p:nvPr>
        </p:nvSpPr>
        <p:spPr>
          <a:xfrm>
            <a:off x="838200" y="1434164"/>
            <a:ext cx="10515600" cy="4742799"/>
          </a:xfrm>
        </p:spPr>
        <p:txBody>
          <a:bodyPr>
            <a:normAutofit/>
          </a:bodyPr>
          <a:lstStyle/>
          <a:p>
            <a:r>
              <a:rPr lang="en-US" dirty="0"/>
              <a:t>The dose calculation from the </a:t>
            </a:r>
            <a:r>
              <a:rPr lang="en-US" dirty="0" err="1"/>
              <a:t>fluences</a:t>
            </a:r>
            <a:r>
              <a:rPr lang="en-US" dirty="0"/>
              <a:t> is based on multi-resolution 3D convolution of Monte-Carlo-generated point-spread function kernels </a:t>
            </a:r>
          </a:p>
          <a:p>
            <a:r>
              <a:rPr lang="en-US" dirty="0"/>
              <a:t>For the </a:t>
            </a:r>
            <a:r>
              <a:rPr lang="en-US" dirty="0" err="1"/>
              <a:t>fluence</a:t>
            </a:r>
            <a:r>
              <a:rPr lang="en-US" dirty="0"/>
              <a:t>-based static field IMRT optimization, the dose calculation is straightforward.</a:t>
            </a:r>
          </a:p>
          <a:p>
            <a:r>
              <a:rPr lang="en-US" dirty="0"/>
              <a:t>The VMAT optimization calculates </a:t>
            </a:r>
            <a:r>
              <a:rPr lang="en-US" dirty="0" err="1"/>
              <a:t>fluence</a:t>
            </a:r>
            <a:r>
              <a:rPr lang="en-US" dirty="0"/>
              <a:t> for dose calculation from a dose calculation segment, in which the MLC configuration and dose rates are converted into a </a:t>
            </a:r>
            <a:r>
              <a:rPr lang="en-US" dirty="0" err="1"/>
              <a:t>fluence</a:t>
            </a:r>
            <a:r>
              <a:rPr lang="en-US" dirty="0"/>
              <a:t>. The </a:t>
            </a:r>
            <a:r>
              <a:rPr lang="en-US" dirty="0" err="1"/>
              <a:t>fluence</a:t>
            </a:r>
            <a:r>
              <a:rPr lang="en-US" dirty="0"/>
              <a:t> models the leakage caused by the rounded leaf ends, tongue-and-groove effect and the transmission through the leafs</a:t>
            </a:r>
          </a:p>
        </p:txBody>
      </p:sp>
    </p:spTree>
    <p:extLst>
      <p:ext uri="{BB962C8B-B14F-4D97-AF65-F5344CB8AC3E}">
        <p14:creationId xmlns:p14="http://schemas.microsoft.com/office/powerpoint/2010/main" val="6117483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Cost Function</a:t>
            </a:r>
          </a:p>
        </p:txBody>
      </p:sp>
      <p:sp>
        <p:nvSpPr>
          <p:cNvPr id="3" name="Content Placeholder 2"/>
          <p:cNvSpPr>
            <a:spLocks noGrp="1"/>
          </p:cNvSpPr>
          <p:nvPr>
            <p:ph idx="1"/>
          </p:nvPr>
        </p:nvSpPr>
        <p:spPr>
          <a:xfrm>
            <a:off x="838200" y="1424539"/>
            <a:ext cx="10515600" cy="4752424"/>
          </a:xfrm>
        </p:spPr>
        <p:txBody>
          <a:bodyPr>
            <a:normAutofit/>
          </a:bodyPr>
          <a:lstStyle/>
          <a:p>
            <a:r>
              <a:rPr lang="en-US" sz="3200" dirty="0"/>
              <a:t>If the dose-volume objectives are not met, a weighted quadratic cost is added to the total objective function. </a:t>
            </a:r>
          </a:p>
          <a:p>
            <a:r>
              <a:rPr lang="en-US" sz="3200" dirty="0"/>
              <a:t>For the upper objective, the cost is applied for the portion of doses that exceed the desired dose value and volume level. </a:t>
            </a:r>
          </a:p>
          <a:p>
            <a:r>
              <a:rPr lang="en-US" sz="3200" dirty="0"/>
              <a:t>For the lower objective, the cost is applied for the portion of doses that fall short of the desired dose value and volume level.</a:t>
            </a:r>
          </a:p>
        </p:txBody>
      </p:sp>
      <p:pic>
        <p:nvPicPr>
          <p:cNvPr id="4" name="Picture 3"/>
          <p:cNvPicPr>
            <a:picLocks noChangeAspect="1"/>
          </p:cNvPicPr>
          <p:nvPr/>
        </p:nvPicPr>
        <p:blipFill>
          <a:blip r:embed="rId2"/>
          <a:stretch>
            <a:fillRect/>
          </a:stretch>
        </p:blipFill>
        <p:spPr>
          <a:xfrm>
            <a:off x="3697611" y="4600875"/>
            <a:ext cx="3398448" cy="1079501"/>
          </a:xfrm>
          <a:prstGeom prst="rect">
            <a:avLst/>
          </a:prstGeom>
        </p:spPr>
      </p:pic>
    </p:spTree>
    <p:extLst>
      <p:ext uri="{BB962C8B-B14F-4D97-AF65-F5344CB8AC3E}">
        <p14:creationId xmlns:p14="http://schemas.microsoft.com/office/powerpoint/2010/main" val="21620991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Smoothing Objectives</a:t>
            </a:r>
            <a:br>
              <a:rPr lang="en-US" b="1" dirty="0"/>
            </a:br>
            <a:endParaRPr lang="en-US" dirty="0"/>
          </a:p>
        </p:txBody>
      </p:sp>
      <p:sp>
        <p:nvSpPr>
          <p:cNvPr id="3" name="Content Placeholder 2"/>
          <p:cNvSpPr>
            <a:spLocks noGrp="1"/>
          </p:cNvSpPr>
          <p:nvPr>
            <p:ph idx="1"/>
          </p:nvPr>
        </p:nvSpPr>
        <p:spPr>
          <a:xfrm>
            <a:off x="838200" y="1299411"/>
            <a:ext cx="10515600" cy="4790925"/>
          </a:xfrm>
        </p:spPr>
        <p:txBody>
          <a:bodyPr>
            <a:normAutofit fontScale="92500" lnSpcReduction="10000"/>
          </a:bodyPr>
          <a:lstStyle/>
          <a:p>
            <a:r>
              <a:rPr lang="en-US" dirty="0"/>
              <a:t>The </a:t>
            </a:r>
            <a:r>
              <a:rPr lang="en-US" dirty="0" err="1"/>
              <a:t>fluence</a:t>
            </a:r>
            <a:r>
              <a:rPr lang="en-US" dirty="0"/>
              <a:t> needs to be smooth to enable leaf motion calculations with the LMC.</a:t>
            </a:r>
          </a:p>
          <a:p>
            <a:r>
              <a:rPr lang="en-US" dirty="0" err="1"/>
              <a:t>Fluence</a:t>
            </a:r>
            <a:r>
              <a:rPr lang="en-US" dirty="0"/>
              <a:t> smoothness is ensured by adding an objective that includes the difference between the neighboring </a:t>
            </a:r>
            <a:r>
              <a:rPr lang="en-US" dirty="0" err="1"/>
              <a:t>fluence</a:t>
            </a:r>
            <a:r>
              <a:rPr lang="en-US" dirty="0"/>
              <a:t> values (X smooth and Y smooth). This objective is linear up to the value of 3% of the maximum </a:t>
            </a:r>
            <a:r>
              <a:rPr lang="en-US" dirty="0" err="1"/>
              <a:t>fluence</a:t>
            </a:r>
            <a:r>
              <a:rPr lang="en-US" dirty="0"/>
              <a:t> value, where it saturates to a constant value. </a:t>
            </a:r>
          </a:p>
          <a:p>
            <a:r>
              <a:rPr lang="en-US" dirty="0"/>
              <a:t>The saturation non-linearity allows for large fluctuations in the </a:t>
            </a:r>
            <a:r>
              <a:rPr lang="en-US" dirty="0" err="1"/>
              <a:t>fluence</a:t>
            </a:r>
            <a:r>
              <a:rPr lang="en-US" dirty="0"/>
              <a:t> where required. </a:t>
            </a:r>
          </a:p>
          <a:p>
            <a:r>
              <a:rPr lang="en-US" dirty="0"/>
              <a:t>Typically, it is more important to have a smoother </a:t>
            </a:r>
            <a:r>
              <a:rPr lang="en-US" dirty="0" err="1"/>
              <a:t>fluence</a:t>
            </a:r>
            <a:r>
              <a:rPr lang="en-US" dirty="0"/>
              <a:t> in the X-direction to ensure the minimal MU factor for the LMC.</a:t>
            </a:r>
          </a:p>
          <a:p>
            <a:r>
              <a:rPr lang="en-US" dirty="0"/>
              <a:t>Smoothing objective is available only for static field IMRT optimization with DVO and PO.</a:t>
            </a:r>
          </a:p>
        </p:txBody>
      </p:sp>
    </p:spTree>
    <p:extLst>
      <p:ext uri="{BB962C8B-B14F-4D97-AF65-F5344CB8AC3E}">
        <p14:creationId xmlns:p14="http://schemas.microsoft.com/office/powerpoint/2010/main" val="2852393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MU Objective</a:t>
            </a:r>
            <a:br>
              <a:rPr lang="en-US" b="1" dirty="0"/>
            </a:br>
            <a:endParaRPr lang="en-US" dirty="0"/>
          </a:p>
        </p:txBody>
      </p:sp>
      <p:sp>
        <p:nvSpPr>
          <p:cNvPr id="3" name="Content Placeholder 2"/>
          <p:cNvSpPr>
            <a:spLocks noGrp="1"/>
          </p:cNvSpPr>
          <p:nvPr>
            <p:ph idx="1"/>
          </p:nvPr>
        </p:nvSpPr>
        <p:spPr>
          <a:xfrm>
            <a:off x="838200" y="1347537"/>
            <a:ext cx="10515600" cy="4829426"/>
          </a:xfrm>
        </p:spPr>
        <p:txBody>
          <a:bodyPr>
            <a:normAutofit/>
          </a:bodyPr>
          <a:lstStyle/>
          <a:p>
            <a:r>
              <a:rPr lang="en-US" sz="3600" dirty="0"/>
              <a:t>The MU Objective can be used to control the number of MU that the PO or PRO optimizer produces. </a:t>
            </a:r>
          </a:p>
          <a:p>
            <a:r>
              <a:rPr lang="en-US" sz="3600" dirty="0"/>
              <a:t>Minimum and maximum values can be defined. </a:t>
            </a:r>
          </a:p>
          <a:p>
            <a:r>
              <a:rPr lang="en-US" sz="3600" dirty="0"/>
              <a:t>An extra multiplier is applied to the total objective function value if the number of MU is not in the desired range. </a:t>
            </a:r>
          </a:p>
          <a:p>
            <a:r>
              <a:rPr lang="en-US" sz="3600" dirty="0"/>
              <a:t>Strength value can be used to modify the strength of the effect.</a:t>
            </a:r>
          </a:p>
        </p:txBody>
      </p:sp>
    </p:spTree>
    <p:extLst>
      <p:ext uri="{BB962C8B-B14F-4D97-AF65-F5344CB8AC3E}">
        <p14:creationId xmlns:p14="http://schemas.microsoft.com/office/powerpoint/2010/main" val="34802957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Normal Tissue Objective</a:t>
            </a:r>
            <a:br>
              <a:rPr lang="en-US" b="1" dirty="0"/>
            </a:br>
            <a:endParaRPr lang="en-US" dirty="0"/>
          </a:p>
        </p:txBody>
      </p:sp>
      <p:sp>
        <p:nvSpPr>
          <p:cNvPr id="3" name="Content Placeholder 2"/>
          <p:cNvSpPr>
            <a:spLocks noGrp="1"/>
          </p:cNvSpPr>
          <p:nvPr>
            <p:ph idx="1"/>
          </p:nvPr>
        </p:nvSpPr>
        <p:spPr>
          <a:xfrm>
            <a:off x="838200" y="1453415"/>
            <a:ext cx="10515600" cy="4559919"/>
          </a:xfrm>
        </p:spPr>
        <p:txBody>
          <a:bodyPr>
            <a:noAutofit/>
          </a:bodyPr>
          <a:lstStyle/>
          <a:p>
            <a:r>
              <a:rPr lang="en-US" sz="3200" dirty="0"/>
              <a:t>The Normal Tissue Objective is used for the part of the body which does not include the PTV to limit the dose level and prevent hot spots in healthy tissue. </a:t>
            </a:r>
          </a:p>
          <a:p>
            <a:r>
              <a:rPr lang="en-US" sz="3200" dirty="0"/>
              <a:t>In addition, the Normal Tissue Objective can be used for obtaining a sharp dose gradient around the PTV.</a:t>
            </a:r>
          </a:p>
          <a:p>
            <a:r>
              <a:rPr lang="en-US" sz="3200" dirty="0"/>
              <a:t>Normalization of the Normal Tissue Objective is done as follows: level 1.0 (100%) corresponds to the lowest upper objective defined for the target. If no upper objective is defined, level 1.0 (100%) is 1.05 times the highest lower objective defined.</a:t>
            </a:r>
          </a:p>
        </p:txBody>
      </p:sp>
    </p:spTree>
    <p:extLst>
      <p:ext uri="{BB962C8B-B14F-4D97-AF65-F5344CB8AC3E}">
        <p14:creationId xmlns:p14="http://schemas.microsoft.com/office/powerpoint/2010/main" val="13275514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Normal Tissue Objective Shape</a:t>
            </a:r>
            <a:br>
              <a:rPr lang="en-US" b="1" dirty="0"/>
            </a:br>
            <a:endParaRPr lang="en-US" dirty="0"/>
          </a:p>
        </p:txBody>
      </p:sp>
      <p:sp>
        <p:nvSpPr>
          <p:cNvPr id="3" name="Content Placeholder 2"/>
          <p:cNvSpPr>
            <a:spLocks noGrp="1"/>
          </p:cNvSpPr>
          <p:nvPr>
            <p:ph idx="1"/>
          </p:nvPr>
        </p:nvSpPr>
        <p:spPr/>
        <p:txBody>
          <a:bodyPr>
            <a:normAutofit/>
          </a:bodyPr>
          <a:lstStyle/>
          <a:p>
            <a:r>
              <a:rPr lang="en-US" sz="3600" dirty="0"/>
              <a:t>The shape of the Normal Tissue Objective is controlled with the following parameters:</a:t>
            </a:r>
          </a:p>
          <a:p>
            <a:pPr marL="0" indent="0">
              <a:buNone/>
            </a:pPr>
            <a:r>
              <a:rPr lang="en-US" sz="3600" dirty="0"/>
              <a:t>	■ Distance from PTV border ( </a:t>
            </a:r>
            <a:r>
              <a:rPr lang="en-US" sz="3600" i="1" dirty="0" err="1"/>
              <a:t>Xstart</a:t>
            </a:r>
            <a:r>
              <a:rPr lang="en-US" sz="3600" i="1" dirty="0"/>
              <a:t> </a:t>
            </a:r>
            <a:r>
              <a:rPr lang="en-US" sz="3600" dirty="0"/>
              <a:t>)</a:t>
            </a:r>
          </a:p>
          <a:p>
            <a:pPr marL="0" indent="0">
              <a:buNone/>
            </a:pPr>
            <a:r>
              <a:rPr lang="en-US" sz="3600" dirty="0"/>
              <a:t>	■ Start dose ( </a:t>
            </a:r>
            <a:r>
              <a:rPr lang="en-US" sz="3600" i="1" dirty="0"/>
              <a:t>f </a:t>
            </a:r>
            <a:r>
              <a:rPr lang="en-US" sz="3600" dirty="0"/>
              <a:t>0 )</a:t>
            </a:r>
          </a:p>
          <a:p>
            <a:pPr marL="0" indent="0">
              <a:buNone/>
            </a:pPr>
            <a:r>
              <a:rPr lang="en-US" sz="3600" dirty="0"/>
              <a:t>	■ End dose ( </a:t>
            </a:r>
            <a:r>
              <a:rPr lang="en-US" sz="3600" i="1" dirty="0"/>
              <a:t>f</a:t>
            </a:r>
            <a:r>
              <a:rPr lang="en-US" sz="3600" dirty="0"/>
              <a:t>∞ )</a:t>
            </a:r>
          </a:p>
          <a:p>
            <a:pPr marL="0" indent="0">
              <a:buNone/>
            </a:pPr>
            <a:r>
              <a:rPr lang="en-US" sz="3600" dirty="0"/>
              <a:t>	■ Fall-off ( </a:t>
            </a:r>
            <a:r>
              <a:rPr lang="en-US" sz="3600" i="1" dirty="0"/>
              <a:t>k </a:t>
            </a:r>
            <a:r>
              <a:rPr lang="en-US" sz="3600" dirty="0"/>
              <a:t>)</a:t>
            </a:r>
          </a:p>
        </p:txBody>
      </p:sp>
    </p:spTree>
    <p:extLst>
      <p:ext uri="{BB962C8B-B14F-4D97-AF65-F5344CB8AC3E}">
        <p14:creationId xmlns:p14="http://schemas.microsoft.com/office/powerpoint/2010/main" val="35312272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Handling of Large Fields in PO and PRO</a:t>
            </a:r>
            <a:br>
              <a:rPr lang="en-US" b="1" dirty="0"/>
            </a:br>
            <a:endParaRPr lang="en-US" dirty="0"/>
          </a:p>
        </p:txBody>
      </p:sp>
      <p:sp>
        <p:nvSpPr>
          <p:cNvPr id="3" name="Content Placeholder 2"/>
          <p:cNvSpPr>
            <a:spLocks noGrp="1"/>
          </p:cNvSpPr>
          <p:nvPr>
            <p:ph idx="1"/>
          </p:nvPr>
        </p:nvSpPr>
        <p:spPr>
          <a:xfrm>
            <a:off x="838200" y="1260909"/>
            <a:ext cx="10515600" cy="4916054"/>
          </a:xfrm>
        </p:spPr>
        <p:txBody>
          <a:bodyPr>
            <a:normAutofit lnSpcReduction="10000"/>
          </a:bodyPr>
          <a:lstStyle/>
          <a:p>
            <a:r>
              <a:rPr lang="en-US" dirty="0"/>
              <a:t>The maximum field size in x direction that can be treated with a single carriage group is based on the maximum leaf span for the MLC, reduced by 0.5 cm due to the need to park closed leaves under the jaws. </a:t>
            </a:r>
          </a:p>
          <a:p>
            <a:pPr lvl="1"/>
            <a:r>
              <a:rPr lang="en-US" dirty="0"/>
              <a:t>For example, if the maximum leaf span for an MLC is 15 cm, the maximum field size in x direction becomes 14.5 cm.</a:t>
            </a:r>
          </a:p>
          <a:p>
            <a:r>
              <a:rPr lang="en-US" dirty="0"/>
              <a:t>If the field size in x direction is larger than 14.5 cm, the field can contain unnecessary field openings. </a:t>
            </a:r>
          </a:p>
          <a:p>
            <a:r>
              <a:rPr lang="en-US" dirty="0"/>
              <a:t>In order for the PRO and PO to close these openings as much as possible within leaf speed limits, the underlying structure has to have dose objective (for example NTO) that minimizes extra radiation. </a:t>
            </a:r>
          </a:p>
          <a:p>
            <a:pPr lvl="1"/>
            <a:r>
              <a:rPr lang="en-US" dirty="0"/>
              <a:t>If no objective is defined that prevents radiating a non-target volume, PRO and PO might not close all the field openings.</a:t>
            </a:r>
          </a:p>
        </p:txBody>
      </p:sp>
    </p:spTree>
    <p:extLst>
      <p:ext uri="{BB962C8B-B14F-4D97-AF65-F5344CB8AC3E}">
        <p14:creationId xmlns:p14="http://schemas.microsoft.com/office/powerpoint/2010/main" val="30391565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Photon Optimization Algorithm (PO)</a:t>
            </a:r>
            <a:endParaRPr lang="en-US" dirty="0"/>
          </a:p>
        </p:txBody>
      </p:sp>
      <p:sp>
        <p:nvSpPr>
          <p:cNvPr id="3" name="Content Placeholder 2"/>
          <p:cNvSpPr>
            <a:spLocks noGrp="1"/>
          </p:cNvSpPr>
          <p:nvPr>
            <p:ph idx="1"/>
          </p:nvPr>
        </p:nvSpPr>
        <p:spPr>
          <a:xfrm>
            <a:off x="838200" y="1540042"/>
            <a:ext cx="10515600" cy="4636921"/>
          </a:xfrm>
        </p:spPr>
        <p:txBody>
          <a:bodyPr>
            <a:normAutofit/>
          </a:bodyPr>
          <a:lstStyle/>
          <a:p>
            <a:r>
              <a:rPr lang="en-US" sz="3200" dirty="0"/>
              <a:t>The PO combines the previous optimization methods used for static field IMRT and arc field IMRT with DVO and PRO.</a:t>
            </a:r>
          </a:p>
          <a:p>
            <a:r>
              <a:rPr lang="en-US" sz="3200" dirty="0"/>
              <a:t>The main difference of the PO algorithm from the earlier optimization algorithms (DVO and PRO) is that the earlier optimization algorithms used a point cloud model for defining structures. </a:t>
            </a:r>
          </a:p>
          <a:p>
            <a:pPr lvl="1"/>
            <a:r>
              <a:rPr lang="en-US" sz="2800" dirty="0"/>
              <a:t>The PO algorithm uses a new structure model, where structures, DVH calculation and dose sampling are defined spatially by using one single matrix over the image</a:t>
            </a:r>
          </a:p>
        </p:txBody>
      </p:sp>
    </p:spTree>
    <p:extLst>
      <p:ext uri="{BB962C8B-B14F-4D97-AF65-F5344CB8AC3E}">
        <p14:creationId xmlns:p14="http://schemas.microsoft.com/office/powerpoint/2010/main" val="11718018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696" y="0"/>
            <a:ext cx="10515600" cy="1325563"/>
          </a:xfrm>
        </p:spPr>
        <p:txBody>
          <a:bodyPr/>
          <a:lstStyle/>
          <a:p>
            <a:r>
              <a:rPr lang="en-US" b="1" dirty="0"/>
              <a:t>Structure Model</a:t>
            </a:r>
          </a:p>
        </p:txBody>
      </p:sp>
      <p:sp>
        <p:nvSpPr>
          <p:cNvPr id="3" name="Content Placeholder 2"/>
          <p:cNvSpPr>
            <a:spLocks noGrp="1"/>
          </p:cNvSpPr>
          <p:nvPr>
            <p:ph idx="1"/>
          </p:nvPr>
        </p:nvSpPr>
        <p:spPr>
          <a:xfrm>
            <a:off x="539816" y="1138933"/>
            <a:ext cx="7641657" cy="4623937"/>
          </a:xfrm>
        </p:spPr>
        <p:txBody>
          <a:bodyPr>
            <a:noAutofit/>
          </a:bodyPr>
          <a:lstStyle/>
          <a:p>
            <a:r>
              <a:rPr lang="en-US" sz="2600" dirty="0"/>
              <a:t>The DVH for the structure is evaluated using volume weights defined for each voxel.</a:t>
            </a:r>
          </a:p>
          <a:p>
            <a:r>
              <a:rPr lang="en-US" sz="2600" dirty="0"/>
              <a:t>The volume weight of the voxel defines the ratio of the original structure segment inside the voxel. </a:t>
            </a:r>
          </a:p>
          <a:p>
            <a:r>
              <a:rPr lang="en-US" sz="2600" dirty="0"/>
              <a:t>For small structures, the DVH is super-sampled from the dose matrix to make the DVH look smoother.</a:t>
            </a:r>
          </a:p>
          <a:p>
            <a:r>
              <a:rPr lang="en-US" sz="2600" dirty="0"/>
              <a:t>In order to minimize the run time memory consumption, the matrix size is first set to the size of body bounding box. </a:t>
            </a:r>
          </a:p>
          <a:p>
            <a:r>
              <a:rPr lang="en-US" sz="2600" dirty="0"/>
              <a:t>Then the field field-of-views are formed, and the final matrix size is set to contain only the part of the body bounding box that can receive radiation from the fields.</a:t>
            </a:r>
          </a:p>
        </p:txBody>
      </p:sp>
      <p:pic>
        <p:nvPicPr>
          <p:cNvPr id="4" name="Picture 3"/>
          <p:cNvPicPr>
            <a:picLocks noChangeAspect="1"/>
          </p:cNvPicPr>
          <p:nvPr/>
        </p:nvPicPr>
        <p:blipFill>
          <a:blip r:embed="rId2"/>
          <a:stretch>
            <a:fillRect/>
          </a:stretch>
        </p:blipFill>
        <p:spPr>
          <a:xfrm>
            <a:off x="8277115" y="1950753"/>
            <a:ext cx="3914885" cy="3000299"/>
          </a:xfrm>
          <a:prstGeom prst="rect">
            <a:avLst/>
          </a:prstGeom>
        </p:spPr>
      </p:pic>
    </p:spTree>
    <p:extLst>
      <p:ext uri="{BB962C8B-B14F-4D97-AF65-F5344CB8AC3E}">
        <p14:creationId xmlns:p14="http://schemas.microsoft.com/office/powerpoint/2010/main" val="15925083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Photon Optimization Algorithm and IMRT</a:t>
            </a:r>
            <a:endParaRPr lang="en-US" dirty="0"/>
          </a:p>
        </p:txBody>
      </p:sp>
      <p:sp>
        <p:nvSpPr>
          <p:cNvPr id="3" name="Content Placeholder 2"/>
          <p:cNvSpPr>
            <a:spLocks noGrp="1"/>
          </p:cNvSpPr>
          <p:nvPr>
            <p:ph idx="1"/>
          </p:nvPr>
        </p:nvSpPr>
        <p:spPr>
          <a:xfrm>
            <a:off x="838200" y="1530417"/>
            <a:ext cx="10515600" cy="5120640"/>
          </a:xfrm>
        </p:spPr>
        <p:txBody>
          <a:bodyPr>
            <a:normAutofit/>
          </a:bodyPr>
          <a:lstStyle/>
          <a:p>
            <a:r>
              <a:rPr lang="en-US" sz="3200" dirty="0"/>
              <a:t>For IMRT, the PO determines the optimal field shape and intensity by iteratively conforming the dose distribution to the desired objectives until an optimum solution is reached.</a:t>
            </a:r>
          </a:p>
          <a:p>
            <a:r>
              <a:rPr lang="en-US" sz="3200" dirty="0"/>
              <a:t>For each field, the PO fits the </a:t>
            </a:r>
            <a:r>
              <a:rPr lang="en-US" sz="3200" dirty="0" err="1"/>
              <a:t>fluence</a:t>
            </a:r>
            <a:r>
              <a:rPr lang="en-US" sz="3200" dirty="0"/>
              <a:t> to the target projection with 5 mm margin. Then the created </a:t>
            </a:r>
            <a:r>
              <a:rPr lang="en-US" sz="3200" dirty="0" err="1"/>
              <a:t>fluence</a:t>
            </a:r>
            <a:r>
              <a:rPr lang="en-US" sz="3200" dirty="0"/>
              <a:t> object is expanded symmetrical to the field </a:t>
            </a:r>
            <a:r>
              <a:rPr lang="en-US" sz="3200" dirty="0" err="1"/>
              <a:t>isocenter</a:t>
            </a:r>
            <a:r>
              <a:rPr lang="en-US" sz="3200" dirty="0"/>
              <a:t> (by adding </a:t>
            </a:r>
            <a:r>
              <a:rPr lang="en-US" sz="3200" dirty="0" err="1"/>
              <a:t>fluence</a:t>
            </a:r>
            <a:r>
              <a:rPr lang="en-US" sz="3200" dirty="0"/>
              <a:t> pixels with 0 value). The maximum size of the </a:t>
            </a:r>
            <a:r>
              <a:rPr lang="en-US" sz="3200" dirty="0" err="1"/>
              <a:t>fluence</a:t>
            </a:r>
            <a:r>
              <a:rPr lang="en-US" sz="3200" dirty="0"/>
              <a:t> object is 40×40 cm. </a:t>
            </a:r>
          </a:p>
          <a:p>
            <a:r>
              <a:rPr lang="en-US" sz="3200" dirty="0"/>
              <a:t>The size of the </a:t>
            </a:r>
            <a:r>
              <a:rPr lang="en-US" sz="3200" dirty="0" err="1"/>
              <a:t>fluence</a:t>
            </a:r>
            <a:r>
              <a:rPr lang="en-US" sz="3200" dirty="0"/>
              <a:t> object determines the region where the user can edit the </a:t>
            </a:r>
            <a:r>
              <a:rPr lang="en-US" sz="3200" dirty="0" err="1"/>
              <a:t>fluence</a:t>
            </a:r>
            <a:r>
              <a:rPr lang="en-US" sz="3200" dirty="0"/>
              <a:t>.</a:t>
            </a:r>
          </a:p>
        </p:txBody>
      </p:sp>
    </p:spTree>
    <p:extLst>
      <p:ext uri="{BB962C8B-B14F-4D97-AF65-F5344CB8AC3E}">
        <p14:creationId xmlns:p14="http://schemas.microsoft.com/office/powerpoint/2010/main" val="13266329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Photon Optimization Algorithm and IMRT (cont.)</a:t>
            </a:r>
            <a:endParaRPr lang="en-US" dirty="0"/>
          </a:p>
        </p:txBody>
      </p:sp>
      <p:sp>
        <p:nvSpPr>
          <p:cNvPr id="3" name="Content Placeholder 2"/>
          <p:cNvSpPr>
            <a:spLocks noGrp="1"/>
          </p:cNvSpPr>
          <p:nvPr>
            <p:ph idx="1"/>
          </p:nvPr>
        </p:nvSpPr>
        <p:spPr>
          <a:xfrm>
            <a:off x="838200" y="1825625"/>
            <a:ext cx="10515600" cy="4738804"/>
          </a:xfrm>
        </p:spPr>
        <p:txBody>
          <a:bodyPr>
            <a:normAutofit fontScale="92500" lnSpcReduction="10000"/>
          </a:bodyPr>
          <a:lstStyle/>
          <a:p>
            <a:r>
              <a:rPr lang="en-US" dirty="0"/>
              <a:t>The PO performs the optimization for an IMRT plan as a minimization problem using simple gradient optimization with line minimization. </a:t>
            </a:r>
          </a:p>
          <a:p>
            <a:r>
              <a:rPr lang="en-US" dirty="0"/>
              <a:t>Initially, all the </a:t>
            </a:r>
            <a:r>
              <a:rPr lang="en-US" dirty="0" err="1"/>
              <a:t>fluences</a:t>
            </a:r>
            <a:r>
              <a:rPr lang="en-US" dirty="0"/>
              <a:t> are zero, or, alternatively, the </a:t>
            </a:r>
            <a:r>
              <a:rPr lang="en-US" dirty="0" err="1"/>
              <a:t>fluences</a:t>
            </a:r>
            <a:r>
              <a:rPr lang="en-US" dirty="0"/>
              <a:t> from a previous optimization can be used as the initial guess. </a:t>
            </a:r>
          </a:p>
          <a:p>
            <a:r>
              <a:rPr lang="en-US" dirty="0"/>
              <a:t>The optimization modifies these </a:t>
            </a:r>
            <a:r>
              <a:rPr lang="en-US" dirty="0" err="1"/>
              <a:t>fluences</a:t>
            </a:r>
            <a:r>
              <a:rPr lang="en-US" dirty="0"/>
              <a:t> in each iteration and calculates the dose from the </a:t>
            </a:r>
            <a:r>
              <a:rPr lang="en-US" dirty="0" err="1"/>
              <a:t>fluences</a:t>
            </a:r>
            <a:r>
              <a:rPr lang="en-US" dirty="0"/>
              <a:t> after each modification</a:t>
            </a:r>
          </a:p>
          <a:p>
            <a:r>
              <a:rPr lang="en-US" dirty="0"/>
              <a:t>Once the doses at the points of the point clouds representing the patient volumes are evaluated, the objectives at the points and the derivatives of the point objectives can be calculated. </a:t>
            </a:r>
          </a:p>
          <a:p>
            <a:r>
              <a:rPr lang="en-US" dirty="0"/>
              <a:t>The cost functions are evaluated for each point in each volume. </a:t>
            </a:r>
          </a:p>
          <a:p>
            <a:r>
              <a:rPr lang="en-US" dirty="0"/>
              <a:t>The derivatives of the costs at each point are back-projected to the </a:t>
            </a:r>
            <a:r>
              <a:rPr lang="en-US" dirty="0" err="1"/>
              <a:t>fluences</a:t>
            </a:r>
            <a:r>
              <a:rPr lang="en-US" dirty="0"/>
              <a:t>, forming the gradient.</a:t>
            </a:r>
          </a:p>
        </p:txBody>
      </p:sp>
    </p:spTree>
    <p:extLst>
      <p:ext uri="{BB962C8B-B14F-4D97-AF65-F5344CB8AC3E}">
        <p14:creationId xmlns:p14="http://schemas.microsoft.com/office/powerpoint/2010/main" val="26802820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Photon Optimization Algorithm and IMRT (cont.)</a:t>
            </a:r>
            <a:endParaRPr lang="en-US" dirty="0"/>
          </a:p>
        </p:txBody>
      </p:sp>
      <p:sp>
        <p:nvSpPr>
          <p:cNvPr id="3" name="Content Placeholder 2"/>
          <p:cNvSpPr>
            <a:spLocks noGrp="1"/>
          </p:cNvSpPr>
          <p:nvPr>
            <p:ph idx="1"/>
          </p:nvPr>
        </p:nvSpPr>
        <p:spPr/>
        <p:txBody>
          <a:bodyPr>
            <a:normAutofit/>
          </a:bodyPr>
          <a:lstStyle/>
          <a:p>
            <a:r>
              <a:rPr lang="en-US" sz="3200" dirty="0"/>
              <a:t>The PO uses the gradient search method. The gradient search is divided into two phases; gradient evaluation and line search. </a:t>
            </a:r>
          </a:p>
          <a:p>
            <a:pPr lvl="1"/>
            <a:r>
              <a:rPr lang="en-US" sz="2800" dirty="0"/>
              <a:t>Gradient evaluation generates the gradient direction and the gradient length</a:t>
            </a:r>
          </a:p>
          <a:p>
            <a:pPr lvl="1"/>
            <a:r>
              <a:rPr lang="en-US" sz="2800" dirty="0"/>
              <a:t>Line search evaluates the objectives on a line segment along the gradient and finds the minimum along the line segment.</a:t>
            </a:r>
          </a:p>
        </p:txBody>
      </p:sp>
    </p:spTree>
    <p:extLst>
      <p:ext uri="{BB962C8B-B14F-4D97-AF65-F5344CB8AC3E}">
        <p14:creationId xmlns:p14="http://schemas.microsoft.com/office/powerpoint/2010/main" val="41278269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3369"/>
            <a:ext cx="10515600" cy="1325563"/>
          </a:xfrm>
        </p:spPr>
        <p:txBody>
          <a:bodyPr/>
          <a:lstStyle/>
          <a:p>
            <a:r>
              <a:rPr lang="en-US" b="1" dirty="0"/>
              <a:t>Intermediate Dose</a:t>
            </a:r>
          </a:p>
        </p:txBody>
      </p:sp>
      <p:sp>
        <p:nvSpPr>
          <p:cNvPr id="3" name="Content Placeholder 2"/>
          <p:cNvSpPr>
            <a:spLocks noGrp="1"/>
          </p:cNvSpPr>
          <p:nvPr>
            <p:ph idx="1"/>
          </p:nvPr>
        </p:nvSpPr>
        <p:spPr>
          <a:xfrm>
            <a:off x="838200" y="1280160"/>
            <a:ext cx="10515600" cy="5303520"/>
          </a:xfrm>
        </p:spPr>
        <p:txBody>
          <a:bodyPr>
            <a:normAutofit fontScale="92500" lnSpcReduction="10000"/>
          </a:bodyPr>
          <a:lstStyle/>
          <a:p>
            <a:r>
              <a:rPr lang="en-US" dirty="0"/>
              <a:t>The PO can use a calculated plan dose as an intermediate dose when optimizing an IMRT plan. </a:t>
            </a:r>
          </a:p>
          <a:p>
            <a:r>
              <a:rPr lang="en-US" dirty="0"/>
              <a:t>The algorithm calculates the difference between the intermediate dose and the first round optimization result and uses this difference to compensate the optimization result in the consequent iterations. </a:t>
            </a:r>
          </a:p>
          <a:p>
            <a:r>
              <a:rPr lang="en-US" dirty="0"/>
              <a:t>If a new intermediate dose is calculated after the first optimization iteration, the difference is calculated again and it will be used to compensate subsequent iterations. </a:t>
            </a:r>
          </a:p>
          <a:p>
            <a:r>
              <a:rPr lang="en-US" dirty="0"/>
              <a:t>Using an intermediate dose is particularly useful if the DVH calculated during optimization deviates from the DVH produced during dose calculation, for example when there is a lot of heterogeneity in the volume to be treated.</a:t>
            </a:r>
          </a:p>
          <a:p>
            <a:r>
              <a:rPr lang="en-US" dirty="0"/>
              <a:t>For VMAT, the second optimization round starts at the last multi-resolution level (level 4).</a:t>
            </a:r>
          </a:p>
        </p:txBody>
      </p:sp>
    </p:spTree>
    <p:extLst>
      <p:ext uri="{BB962C8B-B14F-4D97-AF65-F5344CB8AC3E}">
        <p14:creationId xmlns:p14="http://schemas.microsoft.com/office/powerpoint/2010/main" val="18316571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Photon Optimization Algorithm and VMAT</a:t>
            </a:r>
            <a:br>
              <a:rPr lang="en-US" b="1" dirty="0"/>
            </a:br>
            <a:endParaRPr lang="en-US" dirty="0"/>
          </a:p>
        </p:txBody>
      </p:sp>
      <p:sp>
        <p:nvSpPr>
          <p:cNvPr id="3" name="Content Placeholder 2"/>
          <p:cNvSpPr>
            <a:spLocks noGrp="1"/>
          </p:cNvSpPr>
          <p:nvPr>
            <p:ph idx="1"/>
          </p:nvPr>
        </p:nvSpPr>
        <p:spPr>
          <a:xfrm>
            <a:off x="838200" y="1155032"/>
            <a:ext cx="10515600" cy="5021931"/>
          </a:xfrm>
        </p:spPr>
        <p:txBody>
          <a:bodyPr>
            <a:normAutofit fontScale="92500" lnSpcReduction="10000"/>
          </a:bodyPr>
          <a:lstStyle/>
          <a:p>
            <a:r>
              <a:rPr lang="en-US" dirty="0"/>
              <a:t>The PO creates VMAT (</a:t>
            </a:r>
            <a:r>
              <a:rPr lang="en-US" dirty="0" err="1"/>
              <a:t>RapidArc</a:t>
            </a:r>
            <a:r>
              <a:rPr lang="en-US" dirty="0"/>
              <a:t>, </a:t>
            </a:r>
            <a:r>
              <a:rPr lang="en-US" dirty="0" err="1"/>
              <a:t>Elekta</a:t>
            </a:r>
            <a:r>
              <a:rPr lang="en-US" dirty="0"/>
              <a:t> VMAT, Siemens </a:t>
            </a:r>
            <a:r>
              <a:rPr lang="en-US" dirty="0" err="1"/>
              <a:t>mARC</a:t>
            </a:r>
            <a:r>
              <a:rPr lang="en-US" dirty="0"/>
              <a:t>) plans based on dose-volume objectives. VMAT fields use DMLC, variable dose rate and variable gantry speeds.</a:t>
            </a:r>
          </a:p>
          <a:p>
            <a:r>
              <a:rPr lang="en-US" dirty="0"/>
              <a:t>The PO algorithm generates a sequence of control points which define MLC leaf positions and MU/</a:t>
            </a:r>
            <a:r>
              <a:rPr lang="en-US" dirty="0" err="1"/>
              <a:t>deg</a:t>
            </a:r>
            <a:r>
              <a:rPr lang="en-US" dirty="0"/>
              <a:t> as a function of gantry angle. MU/</a:t>
            </a:r>
            <a:r>
              <a:rPr lang="en-US" dirty="0" err="1"/>
              <a:t>deg</a:t>
            </a:r>
            <a:r>
              <a:rPr lang="en-US" dirty="0"/>
              <a:t> is encoded in DICOM and the Varian system database with the cumulative </a:t>
            </a:r>
            <a:r>
              <a:rPr lang="en-US" dirty="0" err="1"/>
              <a:t>meterset</a:t>
            </a:r>
            <a:r>
              <a:rPr lang="en-US" dirty="0"/>
              <a:t> weight, which defines the increase in MU between control points relative to the total MU in the field. </a:t>
            </a:r>
          </a:p>
          <a:p>
            <a:r>
              <a:rPr lang="en-US" dirty="0"/>
              <a:t>This information is transferred to the treatment machine as such, and the machine control system determines how dose rate and gantry speed will be modulated to deliver the plan.</a:t>
            </a:r>
          </a:p>
          <a:p>
            <a:r>
              <a:rPr lang="en-US" dirty="0"/>
              <a:t>The PO algorithm uses an objective function to optimize the plan and to evaluate its quality. The objective function is the sum of the dose-volume and other user-defined objectives.</a:t>
            </a:r>
          </a:p>
        </p:txBody>
      </p:sp>
    </p:spTree>
    <p:extLst>
      <p:ext uri="{BB962C8B-B14F-4D97-AF65-F5344CB8AC3E}">
        <p14:creationId xmlns:p14="http://schemas.microsoft.com/office/powerpoint/2010/main" val="23657149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821" y="137477"/>
            <a:ext cx="10515600" cy="1325563"/>
          </a:xfrm>
        </p:spPr>
        <p:txBody>
          <a:bodyPr/>
          <a:lstStyle/>
          <a:p>
            <a:r>
              <a:rPr lang="en-US" b="1" dirty="0"/>
              <a:t>MR Levels</a:t>
            </a:r>
          </a:p>
        </p:txBody>
      </p:sp>
      <p:sp>
        <p:nvSpPr>
          <p:cNvPr id="3" name="Content Placeholder 2"/>
          <p:cNvSpPr>
            <a:spLocks noGrp="1"/>
          </p:cNvSpPr>
          <p:nvPr>
            <p:ph idx="1"/>
          </p:nvPr>
        </p:nvSpPr>
        <p:spPr>
          <a:xfrm>
            <a:off x="838200" y="1463040"/>
            <a:ext cx="10515600" cy="5043638"/>
          </a:xfrm>
        </p:spPr>
        <p:txBody>
          <a:bodyPr>
            <a:normAutofit fontScale="92500" lnSpcReduction="10000"/>
          </a:bodyPr>
          <a:lstStyle/>
          <a:p>
            <a:r>
              <a:rPr lang="en-US" dirty="0"/>
              <a:t>Inside each multi-resolution level there are several steps. Each step has its own internal calculation parameter set. </a:t>
            </a:r>
          </a:p>
          <a:p>
            <a:r>
              <a:rPr lang="en-US" dirty="0"/>
              <a:t>The optimization allows some discontinuities in the delivery during early phases of the optimization, and decreases the size of the discontinuities stepwise as the optimization progresses. </a:t>
            </a:r>
          </a:p>
          <a:p>
            <a:r>
              <a:rPr lang="en-US" dirty="0"/>
              <a:t>At the step borders, the delivery is forced to be within specified discontinuity levels. This may increase the objective function values when moving from one step to the next, and a peak in the objective function curve may be seen. </a:t>
            </a:r>
          </a:p>
          <a:p>
            <a:r>
              <a:rPr lang="en-US" dirty="0"/>
              <a:t>The number of steps in different multi-resolution levels varies. </a:t>
            </a:r>
          </a:p>
          <a:p>
            <a:r>
              <a:rPr lang="en-US" dirty="0"/>
              <a:t>Due to the nature of the optimization process, the PO algorithm is not fully deterministic. Therefore </a:t>
            </a:r>
            <a:r>
              <a:rPr lang="en-US" b="1" dirty="0"/>
              <a:t>successive optimizations with the same constraints may yield different results</a:t>
            </a:r>
          </a:p>
        </p:txBody>
      </p:sp>
    </p:spTree>
    <p:extLst>
      <p:ext uri="{BB962C8B-B14F-4D97-AF65-F5344CB8AC3E}">
        <p14:creationId xmlns:p14="http://schemas.microsoft.com/office/powerpoint/2010/main" val="1277091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Avoidance Sectors</a:t>
            </a:r>
          </a:p>
        </p:txBody>
      </p:sp>
      <p:sp>
        <p:nvSpPr>
          <p:cNvPr id="3" name="Content Placeholder 2"/>
          <p:cNvSpPr>
            <a:spLocks noGrp="1"/>
          </p:cNvSpPr>
          <p:nvPr>
            <p:ph idx="1"/>
          </p:nvPr>
        </p:nvSpPr>
        <p:spPr>
          <a:xfrm>
            <a:off x="838200" y="1559293"/>
            <a:ext cx="10515600" cy="5005136"/>
          </a:xfrm>
        </p:spPr>
        <p:txBody>
          <a:bodyPr>
            <a:normAutofit/>
          </a:bodyPr>
          <a:lstStyle/>
          <a:p>
            <a:r>
              <a:rPr lang="en-US" sz="3200" dirty="0"/>
              <a:t>Ranges of gantry rotation with a zero delivered dose rate.</a:t>
            </a:r>
          </a:p>
          <a:p>
            <a:r>
              <a:rPr lang="en-US" sz="3200" dirty="0"/>
              <a:t>Can define up to two avoidance sectors for each arc field in the optimization. </a:t>
            </a:r>
          </a:p>
          <a:p>
            <a:r>
              <a:rPr lang="en-US" sz="3200" dirty="0"/>
              <a:t>The minimum length for an avoidance sector is 15 degrees. </a:t>
            </a:r>
          </a:p>
          <a:p>
            <a:pPr lvl="1"/>
            <a:r>
              <a:rPr lang="en-US" sz="2800" dirty="0"/>
              <a:t>Similarly, the minimum length for the beam-on sector between two avoidance sectors, or between gantry start/stop angles and an avoidance sector is 15 degrees.</a:t>
            </a:r>
          </a:p>
        </p:txBody>
      </p:sp>
    </p:spTree>
    <p:extLst>
      <p:ext uri="{BB962C8B-B14F-4D97-AF65-F5344CB8AC3E}">
        <p14:creationId xmlns:p14="http://schemas.microsoft.com/office/powerpoint/2010/main" val="26690371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Jaw Tracking for VMAT</a:t>
            </a:r>
            <a:br>
              <a:rPr lang="en-US" b="1" dirty="0"/>
            </a:br>
            <a:endParaRPr lang="en-US" dirty="0"/>
          </a:p>
        </p:txBody>
      </p:sp>
      <p:sp>
        <p:nvSpPr>
          <p:cNvPr id="3" name="Content Placeholder 2"/>
          <p:cNvSpPr>
            <a:spLocks noGrp="1"/>
          </p:cNvSpPr>
          <p:nvPr>
            <p:ph idx="1"/>
          </p:nvPr>
        </p:nvSpPr>
        <p:spPr>
          <a:xfrm>
            <a:off x="838200" y="1347537"/>
            <a:ext cx="10515600" cy="4829426"/>
          </a:xfrm>
        </p:spPr>
        <p:txBody>
          <a:bodyPr>
            <a:normAutofit/>
          </a:bodyPr>
          <a:lstStyle/>
          <a:p>
            <a:r>
              <a:rPr lang="en-US" sz="3600" dirty="0"/>
              <a:t>Jaw tracking dynamically moves the collimator jaws during beam-on to keep them as close to the actual MLC aperture as possible. </a:t>
            </a:r>
          </a:p>
          <a:p>
            <a:pPr lvl="1"/>
            <a:r>
              <a:rPr lang="en-US" sz="3200" dirty="0"/>
              <a:t>This reduces leakage between the MLC leaves.</a:t>
            </a:r>
          </a:p>
          <a:p>
            <a:r>
              <a:rPr lang="en-US" sz="3600" dirty="0"/>
              <a:t>The initial user-defined collimator jaw positions for the plan are used as the maximum limit for the jaws. </a:t>
            </a:r>
          </a:p>
          <a:p>
            <a:r>
              <a:rPr lang="en-US" sz="3600" dirty="0"/>
              <a:t>Jaw tracking does not move the collimator jaws outside this maximum limit.</a:t>
            </a:r>
          </a:p>
        </p:txBody>
      </p:sp>
    </p:spTree>
    <p:extLst>
      <p:ext uri="{BB962C8B-B14F-4D97-AF65-F5344CB8AC3E}">
        <p14:creationId xmlns:p14="http://schemas.microsoft.com/office/powerpoint/2010/main" val="42197558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Collimation Mode</a:t>
            </a:r>
          </a:p>
        </p:txBody>
      </p:sp>
      <p:sp>
        <p:nvSpPr>
          <p:cNvPr id="3" name="Content Placeholder 2"/>
          <p:cNvSpPr>
            <a:spLocks noGrp="1"/>
          </p:cNvSpPr>
          <p:nvPr>
            <p:ph idx="1"/>
          </p:nvPr>
        </p:nvSpPr>
        <p:spPr>
          <a:xfrm>
            <a:off x="838200" y="1463040"/>
            <a:ext cx="10515600" cy="4713923"/>
          </a:xfrm>
        </p:spPr>
        <p:txBody>
          <a:bodyPr>
            <a:normAutofit/>
          </a:bodyPr>
          <a:lstStyle/>
          <a:p>
            <a:r>
              <a:rPr lang="en-US" dirty="0"/>
              <a:t>The collimator motion mode in RT Administration can have the following values:</a:t>
            </a:r>
          </a:p>
          <a:p>
            <a:pPr marL="0" indent="0">
              <a:buNone/>
            </a:pPr>
            <a:r>
              <a:rPr lang="en-US" dirty="0"/>
              <a:t>	■ Empty: Not allowed if jaw tracking is requested.</a:t>
            </a:r>
          </a:p>
          <a:p>
            <a:pPr marL="0" indent="0">
              <a:buNone/>
            </a:pPr>
            <a:r>
              <a:rPr lang="en-US" dirty="0"/>
              <a:t>	■ Static: Collimator does not move during the arc delivery.</a:t>
            </a:r>
          </a:p>
          <a:p>
            <a:pPr marL="0" indent="0">
              <a:buNone/>
            </a:pPr>
            <a:r>
              <a:rPr lang="en-US" dirty="0"/>
              <a:t>	■ Dynamic: Collimator moves within the set maximum speed 	limit during the arc delivery.</a:t>
            </a:r>
          </a:p>
          <a:p>
            <a:r>
              <a:rPr lang="en-US" dirty="0"/>
              <a:t>Motion modes must be the same for both jaws on the axis. </a:t>
            </a:r>
          </a:p>
          <a:p>
            <a:r>
              <a:rPr lang="en-US" dirty="0"/>
              <a:t>Collimator motion modes override the Field X setting earlier used for jaw tracking.</a:t>
            </a:r>
          </a:p>
        </p:txBody>
      </p:sp>
    </p:spTree>
    <p:extLst>
      <p:ext uri="{BB962C8B-B14F-4D97-AF65-F5344CB8AC3E}">
        <p14:creationId xmlns:p14="http://schemas.microsoft.com/office/powerpoint/2010/main" val="19335170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b="1" dirty="0"/>
              <a:t>Dose Volume Optimizer (DVO) Algorithm</a:t>
            </a:r>
            <a:endParaRPr lang="en-US" dirty="0"/>
          </a:p>
        </p:txBody>
      </p:sp>
      <p:sp>
        <p:nvSpPr>
          <p:cNvPr id="3" name="Content Placeholder 2"/>
          <p:cNvSpPr>
            <a:spLocks noGrp="1"/>
          </p:cNvSpPr>
          <p:nvPr>
            <p:ph idx="1"/>
          </p:nvPr>
        </p:nvSpPr>
        <p:spPr/>
        <p:txBody>
          <a:bodyPr>
            <a:normAutofit/>
          </a:bodyPr>
          <a:lstStyle/>
          <a:p>
            <a:r>
              <a:rPr lang="en-US" sz="3600" dirty="0"/>
              <a:t>Determines the optimal field shape and intensity by iteratively conforming the dose distribution to the desired objectives until an optimum solution is reached</a:t>
            </a:r>
          </a:p>
          <a:p>
            <a:r>
              <a:rPr lang="en-US" sz="3600" dirty="0"/>
              <a:t>For each field, the DVO fits the </a:t>
            </a:r>
            <a:r>
              <a:rPr lang="en-US" sz="3600" dirty="0" err="1"/>
              <a:t>fluence</a:t>
            </a:r>
            <a:r>
              <a:rPr lang="en-US" sz="3600" dirty="0"/>
              <a:t> to the target projection with 5 mm margin.</a:t>
            </a:r>
          </a:p>
          <a:p>
            <a:endParaRPr lang="en-US" sz="3600" dirty="0"/>
          </a:p>
        </p:txBody>
      </p:sp>
    </p:spTree>
    <p:extLst>
      <p:ext uri="{BB962C8B-B14F-4D97-AF65-F5344CB8AC3E}">
        <p14:creationId xmlns:p14="http://schemas.microsoft.com/office/powerpoint/2010/main" val="1485896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General Features of </a:t>
            </a:r>
            <a:r>
              <a:rPr lang="en-US" b="1" dirty="0" err="1"/>
              <a:t>Fluence</a:t>
            </a:r>
            <a:r>
              <a:rPr lang="en-US" b="1" dirty="0"/>
              <a:t> Delivery Modeling</a:t>
            </a:r>
            <a:br>
              <a:rPr lang="en-US" b="1" dirty="0"/>
            </a:br>
            <a:r>
              <a:rPr lang="en-US" b="1" dirty="0"/>
              <a:t>Algorithms</a:t>
            </a:r>
            <a:endParaRPr lang="en-US" dirty="0"/>
          </a:p>
        </p:txBody>
      </p:sp>
      <p:sp>
        <p:nvSpPr>
          <p:cNvPr id="3" name="Content Placeholder 2"/>
          <p:cNvSpPr>
            <a:spLocks noGrp="1"/>
          </p:cNvSpPr>
          <p:nvPr>
            <p:ph idx="1"/>
          </p:nvPr>
        </p:nvSpPr>
        <p:spPr/>
        <p:txBody>
          <a:bodyPr>
            <a:normAutofit/>
          </a:bodyPr>
          <a:lstStyle/>
          <a:p>
            <a:r>
              <a:rPr lang="en-US" sz="3200" dirty="0"/>
              <a:t>In Eclipse, the final dose calculation for all MLC fields is based on </a:t>
            </a:r>
            <a:r>
              <a:rPr lang="en-US" sz="3200" dirty="0" err="1"/>
              <a:t>fluences</a:t>
            </a:r>
            <a:r>
              <a:rPr lang="en-US" sz="3200" dirty="0"/>
              <a:t>.</a:t>
            </a:r>
          </a:p>
          <a:p>
            <a:r>
              <a:rPr lang="en-US" sz="3200" dirty="0"/>
              <a:t>Features that are taken into account in all </a:t>
            </a:r>
            <a:r>
              <a:rPr lang="en-US" sz="3200" dirty="0" err="1"/>
              <a:t>fluence</a:t>
            </a:r>
            <a:r>
              <a:rPr lang="en-US" sz="3200" dirty="0"/>
              <a:t> delivery modeling algorithms include leaf transmission, </a:t>
            </a:r>
            <a:r>
              <a:rPr lang="en-US" sz="3200" dirty="0" err="1"/>
              <a:t>dosimetric</a:t>
            </a:r>
            <a:r>
              <a:rPr lang="en-US" sz="3200" dirty="0"/>
              <a:t> leaf gap, and tongue-and-groove modeling.</a:t>
            </a:r>
          </a:p>
          <a:p>
            <a:r>
              <a:rPr lang="en-US" sz="3200" dirty="0"/>
              <a:t>They are used in the final </a:t>
            </a:r>
            <a:r>
              <a:rPr lang="en-US" sz="3200" dirty="0" err="1"/>
              <a:t>fluence</a:t>
            </a:r>
            <a:r>
              <a:rPr lang="en-US" sz="3200" dirty="0"/>
              <a:t> calculation for all fields that contain an MLC, such as static MLC fields, IMRT fields and all arc fields</a:t>
            </a:r>
          </a:p>
        </p:txBody>
      </p:sp>
    </p:spTree>
    <p:extLst>
      <p:ext uri="{BB962C8B-B14F-4D97-AF65-F5344CB8AC3E}">
        <p14:creationId xmlns:p14="http://schemas.microsoft.com/office/powerpoint/2010/main" val="29326173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Dosimetric</a:t>
            </a:r>
            <a:r>
              <a:rPr lang="en-US" b="1" dirty="0"/>
              <a:t> Leaf Gap in </a:t>
            </a:r>
            <a:r>
              <a:rPr lang="en-US" b="1" dirty="0" err="1"/>
              <a:t>Fluence</a:t>
            </a:r>
            <a:r>
              <a:rPr lang="en-US" b="1" dirty="0"/>
              <a:t> Delivery Modeling Algorithms</a:t>
            </a:r>
            <a:endParaRPr lang="en-US" dirty="0"/>
          </a:p>
        </p:txBody>
      </p:sp>
      <p:sp>
        <p:nvSpPr>
          <p:cNvPr id="3" name="Content Placeholder 2"/>
          <p:cNvSpPr>
            <a:spLocks noGrp="1"/>
          </p:cNvSpPr>
          <p:nvPr>
            <p:ph idx="1"/>
          </p:nvPr>
        </p:nvSpPr>
        <p:spPr/>
        <p:txBody>
          <a:bodyPr>
            <a:normAutofit/>
          </a:bodyPr>
          <a:lstStyle/>
          <a:p>
            <a:r>
              <a:rPr lang="en-US" dirty="0"/>
              <a:t>The </a:t>
            </a:r>
            <a:r>
              <a:rPr lang="en-US" dirty="0" err="1"/>
              <a:t>fluence</a:t>
            </a:r>
            <a:r>
              <a:rPr lang="en-US" dirty="0"/>
              <a:t> delivery algorithms deal with the rounded leaf end transmission by means of the </a:t>
            </a:r>
            <a:r>
              <a:rPr lang="en-US" i="1" dirty="0" err="1"/>
              <a:t>dosimetric</a:t>
            </a:r>
            <a:r>
              <a:rPr lang="en-US" i="1" dirty="0"/>
              <a:t> leaf gap </a:t>
            </a:r>
            <a:r>
              <a:rPr lang="en-US" dirty="0"/>
              <a:t>configuration parameter. </a:t>
            </a:r>
          </a:p>
          <a:p>
            <a:r>
              <a:rPr lang="en-US" dirty="0"/>
              <a:t>The algorithms model the shape of the leaf edges as sharp (as opposed to rounded) and take the rounded leaf transmission into account by shifting the leaf tip positions in the actual </a:t>
            </a:r>
            <a:r>
              <a:rPr lang="en-US" dirty="0" err="1"/>
              <a:t>fluence</a:t>
            </a:r>
            <a:r>
              <a:rPr lang="en-US" dirty="0"/>
              <a:t> calculation. </a:t>
            </a:r>
          </a:p>
          <a:p>
            <a:r>
              <a:rPr lang="en-US" dirty="0"/>
              <a:t>Leaf tips are shifted by pulling each of them back by half the value of the </a:t>
            </a:r>
            <a:r>
              <a:rPr lang="en-US" dirty="0" err="1"/>
              <a:t>dosimetric</a:t>
            </a:r>
            <a:r>
              <a:rPr lang="en-US" dirty="0"/>
              <a:t> leaf gap parameter so that the gap between a fully closed leaf pair equals the </a:t>
            </a:r>
            <a:r>
              <a:rPr lang="en-US" dirty="0" err="1"/>
              <a:t>dosimetric</a:t>
            </a:r>
            <a:r>
              <a:rPr lang="en-US" dirty="0"/>
              <a:t> leaf gap parameter</a:t>
            </a:r>
          </a:p>
        </p:txBody>
      </p:sp>
    </p:spTree>
    <p:extLst>
      <p:ext uri="{BB962C8B-B14F-4D97-AF65-F5344CB8AC3E}">
        <p14:creationId xmlns:p14="http://schemas.microsoft.com/office/powerpoint/2010/main" val="34338919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Tongue-and-Groove Modeling in </a:t>
            </a:r>
            <a:r>
              <a:rPr lang="en-US" b="1" dirty="0" err="1"/>
              <a:t>Fluence</a:t>
            </a:r>
            <a:r>
              <a:rPr lang="en-US" b="1" dirty="0"/>
              <a:t> Delivery Modeling Algorithms</a:t>
            </a:r>
            <a:endParaRPr lang="en-US" dirty="0"/>
          </a:p>
        </p:txBody>
      </p:sp>
      <p:sp>
        <p:nvSpPr>
          <p:cNvPr id="3" name="Content Placeholder 2"/>
          <p:cNvSpPr>
            <a:spLocks noGrp="1"/>
          </p:cNvSpPr>
          <p:nvPr>
            <p:ph idx="1"/>
          </p:nvPr>
        </p:nvSpPr>
        <p:spPr/>
        <p:txBody>
          <a:bodyPr>
            <a:normAutofit fontScale="85000" lnSpcReduction="20000"/>
          </a:bodyPr>
          <a:lstStyle/>
          <a:p>
            <a:r>
              <a:rPr lang="en-US" dirty="0"/>
              <a:t>An exposed tongue in a field modifies the delivered </a:t>
            </a:r>
            <a:r>
              <a:rPr lang="en-US" dirty="0" err="1"/>
              <a:t>fluence</a:t>
            </a:r>
            <a:r>
              <a:rPr lang="en-US" dirty="0"/>
              <a:t> by blocking some of the additional radiation. </a:t>
            </a:r>
          </a:p>
          <a:p>
            <a:r>
              <a:rPr lang="en-US" dirty="0"/>
              <a:t>The amount of blocking is proportional to the ratio between the tongue and leaf widths. (The groove also modifies the </a:t>
            </a:r>
            <a:r>
              <a:rPr lang="en-US" dirty="0" err="1"/>
              <a:t>fluence</a:t>
            </a:r>
            <a:r>
              <a:rPr lang="en-US" dirty="0"/>
              <a:t>, but that effect is smaller and is not modeled in the algorithms.)</a:t>
            </a:r>
          </a:p>
          <a:p>
            <a:r>
              <a:rPr lang="en-US" dirty="0"/>
              <a:t>The tongue-and-groove effect is modeled in the </a:t>
            </a:r>
            <a:r>
              <a:rPr lang="en-US" dirty="0" err="1"/>
              <a:t>fluence</a:t>
            </a:r>
            <a:r>
              <a:rPr lang="en-US" dirty="0"/>
              <a:t> delivery algorithms by extending the leaf projections in the direction perpendicular to the leaf motion with an approximate extension parameter, which is slightly smaller than the real tongue width. This parameter is not user-configurable, and it depends on the MLC model and algorithm version.</a:t>
            </a:r>
          </a:p>
          <a:p>
            <a:r>
              <a:rPr lang="en-US" dirty="0"/>
              <a:t>The tongue-and-groove effect is taken into account in all </a:t>
            </a:r>
            <a:r>
              <a:rPr lang="en-US" dirty="0" err="1"/>
              <a:t>fluences</a:t>
            </a:r>
            <a:r>
              <a:rPr lang="en-US" dirty="0"/>
              <a:t> used in dose calculation and is visible in the actual </a:t>
            </a:r>
            <a:r>
              <a:rPr lang="en-US" dirty="0" err="1"/>
              <a:t>fluence</a:t>
            </a:r>
            <a:r>
              <a:rPr lang="en-US" dirty="0"/>
              <a:t> shown for IMRT fields. </a:t>
            </a:r>
          </a:p>
          <a:p>
            <a:r>
              <a:rPr lang="en-US" dirty="0"/>
              <a:t>The effect is more significant in DMLC and arc treatments than static MLC delivery techniques.</a:t>
            </a:r>
          </a:p>
        </p:txBody>
      </p:sp>
    </p:spTree>
    <p:extLst>
      <p:ext uri="{BB962C8B-B14F-4D97-AF65-F5344CB8AC3E}">
        <p14:creationId xmlns:p14="http://schemas.microsoft.com/office/powerpoint/2010/main" val="36134928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Sliding Window Method</a:t>
            </a:r>
            <a:endParaRPr lang="en-US" dirty="0"/>
          </a:p>
        </p:txBody>
      </p:sp>
      <p:sp>
        <p:nvSpPr>
          <p:cNvPr id="3" name="Content Placeholder 2"/>
          <p:cNvSpPr>
            <a:spLocks noGrp="1"/>
          </p:cNvSpPr>
          <p:nvPr>
            <p:ph idx="1"/>
          </p:nvPr>
        </p:nvSpPr>
        <p:spPr>
          <a:xfrm>
            <a:off x="838200" y="1453415"/>
            <a:ext cx="10515600" cy="4723548"/>
          </a:xfrm>
        </p:spPr>
        <p:txBody>
          <a:bodyPr>
            <a:normAutofit fontScale="85000" lnSpcReduction="20000"/>
          </a:bodyPr>
          <a:lstStyle/>
          <a:p>
            <a:r>
              <a:rPr lang="en-US" dirty="0"/>
              <a:t>The main idea of the Sliding Window method is to sweep MLC leaf pairs of varying aperture sizes and speed over a field during the beam-on.</a:t>
            </a:r>
          </a:p>
          <a:p>
            <a:r>
              <a:rPr lang="en-US" dirty="0"/>
              <a:t>Implementations of the Sliding Window method for field widths under the Effective Leaf Out of Carriage Distance (ELOC) use the following strategy:</a:t>
            </a:r>
          </a:p>
          <a:p>
            <a:pPr marL="0" indent="0">
              <a:buNone/>
            </a:pPr>
            <a:r>
              <a:rPr lang="en-US" dirty="0"/>
              <a:t>	■ Start of delivery : Leaf pairs are at the left border of the target. Leaf pairs 	exposing the target to a normal or large amount of radiation are open and 	inside the target. Leaf pairs giving a very low dose remain behind the left 	collimator for some time at the beginning of the treatment. These leaf 	pairs start moving at the maximum speed once it is safe to include 	them in 	the treatment. This minimizes leaf gap effects.</a:t>
            </a:r>
          </a:p>
          <a:p>
            <a:pPr marL="0" indent="0">
              <a:buNone/>
            </a:pPr>
            <a:r>
              <a:rPr lang="en-US" dirty="0"/>
              <a:t>	■ End of delivery: All leaf pairs are at the right edge of the target.</a:t>
            </a:r>
          </a:p>
          <a:p>
            <a:pPr marL="0" indent="0">
              <a:buNone/>
            </a:pPr>
            <a:r>
              <a:rPr lang="en-US" dirty="0"/>
              <a:t>	■ At least one leaf of a pair always moves at the maximum speed to 	minimize the delivery time. Because of the requirements for the beginning 	and the end of the delivery presented above, and the differences in the 	complexity of the image planes, the maximum speed is individual for each 	leaf pair.</a:t>
            </a:r>
          </a:p>
        </p:txBody>
      </p:sp>
    </p:spTree>
    <p:extLst>
      <p:ext uri="{BB962C8B-B14F-4D97-AF65-F5344CB8AC3E}">
        <p14:creationId xmlns:p14="http://schemas.microsoft.com/office/powerpoint/2010/main" val="16658977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Sliding Window</a:t>
            </a:r>
          </a:p>
        </p:txBody>
      </p:sp>
      <p:pic>
        <p:nvPicPr>
          <p:cNvPr id="4" name="Picture 3"/>
          <p:cNvPicPr>
            <a:picLocks noChangeAspect="1"/>
          </p:cNvPicPr>
          <p:nvPr/>
        </p:nvPicPr>
        <p:blipFill>
          <a:blip r:embed="rId2"/>
          <a:stretch>
            <a:fillRect/>
          </a:stretch>
        </p:blipFill>
        <p:spPr>
          <a:xfrm>
            <a:off x="2614242" y="1825625"/>
            <a:ext cx="6963515" cy="4072115"/>
          </a:xfrm>
          <a:prstGeom prst="rect">
            <a:avLst/>
          </a:prstGeom>
        </p:spPr>
      </p:pic>
    </p:spTree>
    <p:extLst>
      <p:ext uri="{BB962C8B-B14F-4D97-AF65-F5344CB8AC3E}">
        <p14:creationId xmlns:p14="http://schemas.microsoft.com/office/powerpoint/2010/main" val="39291231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Fluence</a:t>
            </a:r>
            <a:r>
              <a:rPr lang="en-US" b="1" dirty="0"/>
              <a:t> Normalization</a:t>
            </a:r>
            <a:br>
              <a:rPr lang="en-US" b="1" dirty="0"/>
            </a:br>
            <a:endParaRPr lang="en-US" dirty="0"/>
          </a:p>
        </p:txBody>
      </p:sp>
      <p:sp>
        <p:nvSpPr>
          <p:cNvPr id="3" name="Content Placeholder 2"/>
          <p:cNvSpPr>
            <a:spLocks noGrp="1"/>
          </p:cNvSpPr>
          <p:nvPr>
            <p:ph idx="1"/>
          </p:nvPr>
        </p:nvSpPr>
        <p:spPr>
          <a:xfrm>
            <a:off x="838200" y="1289785"/>
            <a:ext cx="10515600" cy="4887178"/>
          </a:xfrm>
        </p:spPr>
        <p:txBody>
          <a:bodyPr>
            <a:normAutofit fontScale="92500"/>
          </a:bodyPr>
          <a:lstStyle/>
          <a:p>
            <a:r>
              <a:rPr lang="en-US" dirty="0"/>
              <a:t>The </a:t>
            </a:r>
            <a:r>
              <a:rPr lang="en-US" dirty="0" err="1"/>
              <a:t>fluence</a:t>
            </a:r>
            <a:r>
              <a:rPr lang="en-US" dirty="0"/>
              <a:t> normalization is such that constant 10×10 cm</a:t>
            </a:r>
            <a:r>
              <a:rPr lang="en-US" baseline="30000" dirty="0"/>
              <a:t>2</a:t>
            </a:r>
            <a:r>
              <a:rPr lang="en-US" dirty="0"/>
              <a:t> </a:t>
            </a:r>
            <a:r>
              <a:rPr lang="en-US" dirty="0" err="1"/>
              <a:t>fluence</a:t>
            </a:r>
            <a:r>
              <a:rPr lang="en-US" dirty="0"/>
              <a:t> with value 1.0 provides the measured dose at 10 cm depth with the specified SPD for semi-infinite water phantom for the given amount of MU. </a:t>
            </a:r>
          </a:p>
          <a:p>
            <a:r>
              <a:rPr lang="en-US" dirty="0"/>
              <a:t>The SPD for the normalization geometry is the same that is used in the configuration of the treatment unit. </a:t>
            </a:r>
          </a:p>
          <a:p>
            <a:r>
              <a:rPr lang="en-US" dirty="0"/>
              <a:t>The normalization is based on superposition, that is, a 20×20 cm</a:t>
            </a:r>
            <a:r>
              <a:rPr lang="en-US" baseline="30000" dirty="0"/>
              <a:t>2</a:t>
            </a:r>
            <a:r>
              <a:rPr lang="en-US" dirty="0"/>
              <a:t> field with a constant </a:t>
            </a:r>
            <a:r>
              <a:rPr lang="en-US" dirty="0" err="1"/>
              <a:t>fluence</a:t>
            </a:r>
            <a:r>
              <a:rPr lang="en-US" dirty="0"/>
              <a:t> of 1.0 leads to roughly 1.1 times the dose (+10% of the dose) at the depth of 10 cm, while a 5×5 cm</a:t>
            </a:r>
            <a:r>
              <a:rPr lang="en-US" baseline="30000" dirty="0"/>
              <a:t>2</a:t>
            </a:r>
            <a:r>
              <a:rPr lang="en-US" dirty="0"/>
              <a:t> field gives only around 0.9. The dose values are obtained by multiplying the values by NF.</a:t>
            </a:r>
          </a:p>
          <a:p>
            <a:r>
              <a:rPr lang="en-US" dirty="0"/>
              <a:t>The </a:t>
            </a:r>
            <a:r>
              <a:rPr lang="en-US" dirty="0" err="1"/>
              <a:t>fluence</a:t>
            </a:r>
            <a:r>
              <a:rPr lang="en-US" dirty="0"/>
              <a:t> values do not compensate for the CBSF effect. CBSF is only compensated for in the MU calculation.</a:t>
            </a:r>
          </a:p>
        </p:txBody>
      </p:sp>
    </p:spTree>
    <p:extLst>
      <p:ext uri="{BB962C8B-B14F-4D97-AF65-F5344CB8AC3E}">
        <p14:creationId xmlns:p14="http://schemas.microsoft.com/office/powerpoint/2010/main" val="5115188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728"/>
            <a:ext cx="10515600" cy="1325563"/>
          </a:xfrm>
        </p:spPr>
        <p:txBody>
          <a:bodyPr/>
          <a:lstStyle/>
          <a:p>
            <a:r>
              <a:rPr lang="en-US" b="1" dirty="0"/>
              <a:t>Arc Fields in </a:t>
            </a:r>
            <a:r>
              <a:rPr lang="en-US" b="1" dirty="0" err="1"/>
              <a:t>Fluence</a:t>
            </a:r>
            <a:r>
              <a:rPr lang="en-US" b="1" dirty="0"/>
              <a:t> Delivery</a:t>
            </a:r>
            <a:endParaRPr lang="en-US" dirty="0"/>
          </a:p>
        </p:txBody>
      </p:sp>
      <p:sp>
        <p:nvSpPr>
          <p:cNvPr id="3" name="Content Placeholder 2"/>
          <p:cNvSpPr>
            <a:spLocks noGrp="1"/>
          </p:cNvSpPr>
          <p:nvPr>
            <p:ph idx="1"/>
          </p:nvPr>
        </p:nvSpPr>
        <p:spPr>
          <a:xfrm>
            <a:off x="838200" y="1357162"/>
            <a:ext cx="10515600" cy="5159141"/>
          </a:xfrm>
        </p:spPr>
        <p:txBody>
          <a:bodyPr>
            <a:normAutofit/>
          </a:bodyPr>
          <a:lstStyle/>
          <a:p>
            <a:r>
              <a:rPr lang="en-US" sz="3200" dirty="0"/>
              <a:t>The arc fields are modeled as a sum of individual sub-fields with a static gantry angle. </a:t>
            </a:r>
          </a:p>
          <a:p>
            <a:r>
              <a:rPr lang="en-US" sz="3200" dirty="0"/>
              <a:t>Each of these sub-fields represents a range of gantry angles in arc field. </a:t>
            </a:r>
          </a:p>
          <a:p>
            <a:r>
              <a:rPr lang="en-US" sz="3200" dirty="0"/>
              <a:t>The leaf positions and dose rate within the angular range are interpolated and the average </a:t>
            </a:r>
            <a:r>
              <a:rPr lang="en-US" sz="3200" dirty="0" err="1"/>
              <a:t>fluence</a:t>
            </a:r>
            <a:r>
              <a:rPr lang="en-US" sz="3200" dirty="0"/>
              <a:t> is calculated. This average </a:t>
            </a:r>
            <a:r>
              <a:rPr lang="en-US" sz="3200" dirty="0" err="1"/>
              <a:t>fluence</a:t>
            </a:r>
            <a:r>
              <a:rPr lang="en-US" sz="3200" dirty="0"/>
              <a:t> is then assumed to be delivered from the static gantry angle for each contributing sub-field. </a:t>
            </a:r>
          </a:p>
          <a:p>
            <a:r>
              <a:rPr lang="en-US" sz="3200" dirty="0"/>
              <a:t>The dose for the whole arc field is the sum of the doses of the static gantry angle sub-fields.</a:t>
            </a:r>
          </a:p>
        </p:txBody>
      </p:sp>
    </p:spTree>
    <p:extLst>
      <p:ext uri="{BB962C8B-B14F-4D97-AF65-F5344CB8AC3E}">
        <p14:creationId xmlns:p14="http://schemas.microsoft.com/office/powerpoint/2010/main" val="35357251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9216</TotalTime>
  <Words>5416</Words>
  <Application>Microsoft Office PowerPoint</Application>
  <PresentationFormat>Widescreen</PresentationFormat>
  <Paragraphs>272</Paragraphs>
  <Slides>61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Arial</vt:lpstr>
      <vt:lpstr>Calibri</vt:lpstr>
      <vt:lpstr>Calibri Light</vt:lpstr>
      <vt:lpstr>Office Theme</vt:lpstr>
      <vt:lpstr>Eclipse Algorithm Notes</vt:lpstr>
      <vt:lpstr>CT data</vt:lpstr>
      <vt:lpstr>CT Data Scanner</vt:lpstr>
      <vt:lpstr>AAA handles CT data</vt:lpstr>
      <vt:lpstr>Accuracy</vt:lpstr>
      <vt:lpstr>Accuracy (cont.)</vt:lpstr>
      <vt:lpstr>MU Calcs</vt:lpstr>
      <vt:lpstr>MU Calcs (cont.)</vt:lpstr>
      <vt:lpstr>MU Calcs (cont.)</vt:lpstr>
      <vt:lpstr>Normalization</vt:lpstr>
      <vt:lpstr>Calculation grid</vt:lpstr>
      <vt:lpstr>Calculation grid</vt:lpstr>
      <vt:lpstr>Angular Resolution in Conformal Arc and VMAT Calculations </vt:lpstr>
      <vt:lpstr>Progressive Resolution</vt:lpstr>
      <vt:lpstr>Progressive Resolution</vt:lpstr>
      <vt:lpstr>Primary Source Model (photon beam)</vt:lpstr>
      <vt:lpstr>Second Source</vt:lpstr>
      <vt:lpstr>Electron Contamination</vt:lpstr>
      <vt:lpstr>Phase Space Model</vt:lpstr>
      <vt:lpstr>Modeling Primary Source</vt:lpstr>
      <vt:lpstr>Second Source Parameters</vt:lpstr>
      <vt:lpstr>Mean Energy</vt:lpstr>
      <vt:lpstr>Beam Modifiers in the Treatment Beam Model</vt:lpstr>
      <vt:lpstr>AAA Accuracy in Lung </vt:lpstr>
      <vt:lpstr>Accuracy of AAA and Acuros XB for static MLC fields </vt:lpstr>
      <vt:lpstr>AAA</vt:lpstr>
      <vt:lpstr>AAA</vt:lpstr>
      <vt:lpstr>Scatter Kernels </vt:lpstr>
      <vt:lpstr>Beamlets</vt:lpstr>
      <vt:lpstr>Beamlets</vt:lpstr>
      <vt:lpstr>Volumetric Dose Calculation </vt:lpstr>
      <vt:lpstr>Photon Dose Calculation – Energy Based</vt:lpstr>
      <vt:lpstr>Lateral Density Scaling of the Photon Scatter Kernels</vt:lpstr>
      <vt:lpstr>Dose Optimization Algorithms</vt:lpstr>
      <vt:lpstr>Dose Optimization Algorithms</vt:lpstr>
      <vt:lpstr>Dose Calculation </vt:lpstr>
      <vt:lpstr>Cost Function</vt:lpstr>
      <vt:lpstr>Smoothing Objectives </vt:lpstr>
      <vt:lpstr>MU Objective </vt:lpstr>
      <vt:lpstr>Normal Tissue Objective </vt:lpstr>
      <vt:lpstr>Normal Tissue Objective Shape </vt:lpstr>
      <vt:lpstr>Handling of Large Fields in PO and PRO </vt:lpstr>
      <vt:lpstr>Photon Optimization Algorithm (PO)</vt:lpstr>
      <vt:lpstr>Structure Model</vt:lpstr>
      <vt:lpstr>Photon Optimization Algorithm and IMRT</vt:lpstr>
      <vt:lpstr>Photon Optimization Algorithm and IMRT (cont.)</vt:lpstr>
      <vt:lpstr>Photon Optimization Algorithm and IMRT (cont.)</vt:lpstr>
      <vt:lpstr>Intermediate Dose</vt:lpstr>
      <vt:lpstr>Photon Optimization Algorithm and VMAT </vt:lpstr>
      <vt:lpstr>MR Levels</vt:lpstr>
      <vt:lpstr>Avoidance Sectors</vt:lpstr>
      <vt:lpstr>Jaw Tracking for VMAT </vt:lpstr>
      <vt:lpstr>Collimation Mode</vt:lpstr>
      <vt:lpstr>Dose Volume Optimizer (DVO) Algorithm</vt:lpstr>
      <vt:lpstr>General Features of Fluence Delivery Modeling Algorithms</vt:lpstr>
      <vt:lpstr>Dosimetric Leaf Gap in Fluence Delivery Modeling Algorithms</vt:lpstr>
      <vt:lpstr>Tongue-and-Groove Modeling in Fluence Delivery Modeling Algorithms</vt:lpstr>
      <vt:lpstr>Sliding Window Method</vt:lpstr>
      <vt:lpstr>Sliding Window</vt:lpstr>
      <vt:lpstr>Fluence Normalization </vt:lpstr>
      <vt:lpstr>Arc Fields in Fluence Delivery</vt:lpstr>
    </vt:vector>
  </TitlesOfParts>
  <Company>Penn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O'Reilly, Shannon</dc:creator>
  <cp:lastModifiedBy>Byrd, Brook</cp:lastModifiedBy>
  <cp:revision>77</cp:revision>
  <cp:lastPrinted>2016-11-02T17:44:20Z</cp:lastPrinted>
  <dcterms:created xsi:type="dcterms:W3CDTF">2016-10-27T13:07:17Z</dcterms:created>
  <dcterms:modified xsi:type="dcterms:W3CDTF">2024-08-27T13:52:33Z</dcterms:modified>
</cp:coreProperties>
</file>